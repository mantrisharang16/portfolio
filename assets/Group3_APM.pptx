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3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233" y="57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1e45b98b2_0_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g331e45b98b2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31e45b98b2_0_1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g331e45b98b2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31e45b98b2_0_1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g331e45b98b2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31e45b98b2_0_3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g331e45b98b2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31e968123c_2_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g331e968123c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31e968123c_2_1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331e968123c_2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31e968123c_2_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g331e968123c_2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31e45b98b2_8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31e45b98b2_8_2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obj">
  <p:cSld name="OBJECT">
    <p:bg>
      <p:bgPr>
        <a:solidFill>
          <a:schemeClr val="lt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1420526" y="271081"/>
            <a:ext cx="6302946" cy="696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>
                <a:solidFill>
                  <a:srgbClr val="131F3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body" idx="1"/>
          </p:nvPr>
        </p:nvSpPr>
        <p:spPr>
          <a:xfrm>
            <a:off x="3659159" y="1929836"/>
            <a:ext cx="4547234" cy="1488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>
                <a:solidFill>
                  <a:srgbClr val="131F33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>
                <a:solidFill>
                  <a:srgbClr val="131F3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ubTitle" idx="1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>
                <a:solidFill>
                  <a:srgbClr val="131F33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1420526" y="271081"/>
            <a:ext cx="6302946" cy="696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>
                <a:solidFill>
                  <a:srgbClr val="131F3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2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1420526" y="271081"/>
            <a:ext cx="6302946" cy="696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>
                <a:solidFill>
                  <a:srgbClr val="131F3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0" y="5924896"/>
            <a:ext cx="9143999" cy="93310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1420526" y="271081"/>
            <a:ext cx="6302946" cy="696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131F3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3659159" y="1929836"/>
            <a:ext cx="4547234" cy="1488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131F33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 txBox="1"/>
          <p:nvPr/>
        </p:nvSpPr>
        <p:spPr>
          <a:xfrm>
            <a:off x="3402150" y="4187700"/>
            <a:ext cx="3981000" cy="6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 b="1">
                <a:solidFill>
                  <a:srgbClr val="F6F5EC"/>
                </a:solidFill>
                <a:latin typeface="Calibri"/>
                <a:ea typeface="Calibri"/>
                <a:cs typeface="Calibri"/>
                <a:sym typeface="Calibri"/>
              </a:rPr>
              <a:t>Economic Forecasting</a:t>
            </a:r>
            <a:endParaRPr sz="3400" b="1">
              <a:solidFill>
                <a:srgbClr val="F6F5E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6045" marR="5080" lvl="0" indent="-136398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7"/>
          <p:cNvSpPr txBox="1"/>
          <p:nvPr/>
        </p:nvSpPr>
        <p:spPr>
          <a:xfrm>
            <a:off x="3429000" y="3834025"/>
            <a:ext cx="4660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700" b="1">
                <a:solidFill>
                  <a:srgbClr val="F6F5EC"/>
                </a:solidFill>
                <a:latin typeface="Calibri"/>
                <a:ea typeface="Calibri"/>
                <a:cs typeface="Calibri"/>
                <a:sym typeface="Calibri"/>
              </a:rPr>
              <a:t>Applied Portfolio Management, Prof. Richard Excell</a:t>
            </a:r>
            <a:endParaRPr sz="16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7" name="Google Shape;47;p7"/>
          <p:cNvSpPr txBox="1"/>
          <p:nvPr/>
        </p:nvSpPr>
        <p:spPr>
          <a:xfrm>
            <a:off x="3402150" y="4733125"/>
            <a:ext cx="3701400" cy="13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Group 3</a:t>
            </a:r>
            <a:r>
              <a:rPr lang="en-US" sz="17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-US" sz="1700" b="1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02/25/2025</a:t>
            </a:r>
            <a:endParaRPr sz="1700" b="1" u="sng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Abhinn Tejpal Sharma     Aakash Bansal</a:t>
            </a:r>
            <a:endParaRPr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Aastha Shah                      Chenghao Zhu</a:t>
            </a:r>
            <a:endParaRPr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Sharang Mantri                 Nick Sommer</a:t>
            </a:r>
            <a:endParaRPr sz="1700" b="1" u="sng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>
            <a:spLocks noGrp="1"/>
          </p:cNvSpPr>
          <p:nvPr>
            <p:ph type="title"/>
          </p:nvPr>
        </p:nvSpPr>
        <p:spPr>
          <a:xfrm>
            <a:off x="854225" y="499675"/>
            <a:ext cx="1585200" cy="6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1D1D1D"/>
                </a:solidFill>
              </a:rPr>
              <a:t>Outline</a:t>
            </a:r>
            <a:endParaRPr sz="4000"/>
          </a:p>
        </p:txBody>
      </p:sp>
      <p:sp>
        <p:nvSpPr>
          <p:cNvPr id="54" name="Google Shape;54;p8"/>
          <p:cNvSpPr txBox="1"/>
          <p:nvPr/>
        </p:nvSpPr>
        <p:spPr>
          <a:xfrm>
            <a:off x="810925" y="1384575"/>
            <a:ext cx="7415100" cy="37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683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AutoNum type="arabicPeriod"/>
            </a:pPr>
            <a:r>
              <a:rPr lang="en-US" sz="2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AutoNum type="arabicPeriod"/>
            </a:pPr>
            <a:r>
              <a:rPr lang="en-US" sz="2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Approach</a:t>
            </a:r>
            <a:endParaRPr sz="2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74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AutoNum type="arabicPeriod"/>
            </a:pPr>
            <a:r>
              <a:rPr lang="en-US" sz="2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and Methodology</a:t>
            </a:r>
            <a:endParaRPr sz="2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AutoNum type="arabicPeriod"/>
            </a:pPr>
            <a:r>
              <a:rPr lang="en-US" sz="2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Results &amp; Forecasting</a:t>
            </a:r>
            <a:endParaRPr sz="2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AutoNum type="arabicPeriod"/>
            </a:pPr>
            <a:r>
              <a:rPr lang="en-US" sz="2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 sz="2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AutoNum type="arabicPeriod"/>
            </a:pPr>
            <a:r>
              <a:rPr lang="en-US" sz="2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200">
              <a:solidFill>
                <a:srgbClr val="1D1D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8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>
            <a:spLocks noGrp="1"/>
          </p:cNvSpPr>
          <p:nvPr>
            <p:ph type="title"/>
          </p:nvPr>
        </p:nvSpPr>
        <p:spPr>
          <a:xfrm>
            <a:off x="854225" y="499675"/>
            <a:ext cx="2674500" cy="6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4000" b="1">
                <a:solidFill>
                  <a:srgbClr val="1D1D1D"/>
                </a:solidFill>
              </a:rPr>
              <a:t>Introduction</a:t>
            </a:r>
            <a:endParaRPr sz="4000"/>
          </a:p>
        </p:txBody>
      </p:sp>
      <p:sp>
        <p:nvSpPr>
          <p:cNvPr id="61" name="Google Shape;61;p9"/>
          <p:cNvSpPr txBox="1"/>
          <p:nvPr/>
        </p:nvSpPr>
        <p:spPr>
          <a:xfrm>
            <a:off x="691250" y="1329275"/>
            <a:ext cx="8065200" cy="42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683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Understanding economic trends is </a:t>
            </a:r>
            <a:r>
              <a:rPr lang="en-US" sz="2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crucial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businesses, policymakers, and investors.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Our approach predicts the </a:t>
            </a:r>
            <a:r>
              <a:rPr lang="en-US" sz="2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Coincident Economic Indicator (CEI)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 key measure of </a:t>
            </a:r>
            <a:r>
              <a:rPr lang="en-US" sz="2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overall economic activity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2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Consumer Price Index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(CPI) as a measure for Inflation using robust regression methods</a:t>
            </a:r>
            <a:endParaRPr sz="2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Objective: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Develop a </a:t>
            </a:r>
            <a:r>
              <a:rPr lang="en-US" sz="2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regression-based model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leveraging </a:t>
            </a:r>
            <a:r>
              <a:rPr lang="en-US" sz="2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leading economic indicators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forecast growth and Inflation for </a:t>
            </a:r>
            <a:r>
              <a:rPr lang="en-US" sz="2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 to 9 months ahead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provides </a:t>
            </a:r>
            <a:r>
              <a:rPr lang="en-US" sz="2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holistic economic insights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better decision-making.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9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>
            <a:spLocks noGrp="1"/>
          </p:cNvSpPr>
          <p:nvPr>
            <p:ph type="title"/>
          </p:nvPr>
        </p:nvSpPr>
        <p:spPr>
          <a:xfrm>
            <a:off x="854225" y="499675"/>
            <a:ext cx="2154900" cy="6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4000" b="1">
                <a:solidFill>
                  <a:srgbClr val="1D1D1D"/>
                </a:solidFill>
              </a:rPr>
              <a:t>Approach</a:t>
            </a:r>
            <a:endParaRPr sz="4000"/>
          </a:p>
        </p:txBody>
      </p:sp>
      <p:sp>
        <p:nvSpPr>
          <p:cNvPr id="68" name="Google Shape;68;p10"/>
          <p:cNvSpPr txBox="1"/>
          <p:nvPr/>
        </p:nvSpPr>
        <p:spPr>
          <a:xfrm>
            <a:off x="854225" y="1374150"/>
            <a:ext cx="7296300" cy="4268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achieve this, we utilize the </a:t>
            </a:r>
            <a:r>
              <a:rPr lang="en-US" sz="2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Coincident Economic Activity Index for the United States (CEI)</a:t>
            </a:r>
            <a:r>
              <a:rPr lang="en-US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 widely recognized composite index which is a coincident indicator of the economy</a:t>
            </a:r>
            <a:endParaRPr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Nonfarm Payroll Employment</a:t>
            </a:r>
            <a:endParaRPr sz="22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Unemployment Rate</a:t>
            </a:r>
            <a:endParaRPr sz="22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Average hours worked in Manufacturing</a:t>
            </a:r>
            <a:endParaRPr sz="22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Wages and Salaries</a:t>
            </a:r>
            <a:endParaRPr sz="22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0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>
            <a:spLocks noGrp="1"/>
          </p:cNvSpPr>
          <p:nvPr>
            <p:ph type="title"/>
          </p:nvPr>
        </p:nvSpPr>
        <p:spPr>
          <a:xfrm>
            <a:off x="897525" y="510500"/>
            <a:ext cx="5250300" cy="6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4000" b="1">
                <a:solidFill>
                  <a:srgbClr val="1D1D1D"/>
                </a:solidFill>
              </a:rPr>
              <a:t>Model and Methodology</a:t>
            </a:r>
            <a:endParaRPr sz="4000"/>
          </a:p>
        </p:txBody>
      </p:sp>
      <p:sp>
        <p:nvSpPr>
          <p:cNvPr id="75" name="Google Shape;75;p11"/>
          <p:cNvSpPr txBox="1"/>
          <p:nvPr/>
        </p:nvSpPr>
        <p:spPr>
          <a:xfrm>
            <a:off x="853775" y="1351450"/>
            <a:ext cx="7002900" cy="43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131F33"/>
                </a:solidFill>
                <a:latin typeface="Calibri"/>
                <a:ea typeface="Calibri"/>
                <a:cs typeface="Calibri"/>
                <a:sym typeface="Calibri"/>
              </a:rPr>
              <a:t>Performed a polynomial linear regression with variables:</a:t>
            </a:r>
            <a:endParaRPr sz="2200">
              <a:solidFill>
                <a:srgbClr val="131F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1F33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rgbClr val="131F33"/>
                </a:solidFill>
                <a:latin typeface="Calibri"/>
                <a:ea typeface="Calibri"/>
                <a:cs typeface="Calibri"/>
                <a:sym typeface="Calibri"/>
              </a:rPr>
              <a:t>PMI - Manufacturing</a:t>
            </a:r>
            <a:endParaRPr sz="2200">
              <a:solidFill>
                <a:srgbClr val="131F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31F33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rgbClr val="131F33"/>
                </a:solidFill>
                <a:latin typeface="Calibri"/>
                <a:ea typeface="Calibri"/>
                <a:cs typeface="Calibri"/>
                <a:sym typeface="Calibri"/>
              </a:rPr>
              <a:t>University of Michigan: Consumer Sentiment Report (UMSCENT)</a:t>
            </a:r>
            <a:endParaRPr sz="2200">
              <a:solidFill>
                <a:srgbClr val="131F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31F33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rgbClr val="131F33"/>
                </a:solidFill>
                <a:latin typeface="Calibri"/>
                <a:ea typeface="Calibri"/>
                <a:cs typeface="Calibri"/>
                <a:sym typeface="Calibri"/>
              </a:rPr>
              <a:t>New Orders Manufacturing Excluding Transport</a:t>
            </a:r>
            <a:endParaRPr sz="2200">
              <a:solidFill>
                <a:srgbClr val="131F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31F33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rgbClr val="131F33"/>
                </a:solidFill>
                <a:latin typeface="Calibri"/>
                <a:ea typeface="Calibri"/>
                <a:cs typeface="Calibri"/>
                <a:sym typeface="Calibri"/>
              </a:rPr>
              <a:t>S&amp;P500</a:t>
            </a:r>
            <a:endParaRPr sz="2200">
              <a:solidFill>
                <a:srgbClr val="131F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131F33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rgbClr val="131F33"/>
                </a:solidFill>
                <a:latin typeface="Calibri"/>
                <a:ea typeface="Calibri"/>
                <a:cs typeface="Calibri"/>
                <a:sym typeface="Calibri"/>
              </a:rPr>
              <a:t>Building Permits</a:t>
            </a:r>
            <a:endParaRPr sz="2200">
              <a:solidFill>
                <a:srgbClr val="131F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/>
        </p:nvSpPr>
        <p:spPr>
          <a:xfrm>
            <a:off x="238000" y="178500"/>
            <a:ext cx="8643000" cy="54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131F33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2" name="Google Shape;82;p12"/>
          <p:cNvSpPr txBox="1"/>
          <p:nvPr/>
        </p:nvSpPr>
        <p:spPr>
          <a:xfrm>
            <a:off x="284975" y="225475"/>
            <a:ext cx="8658600" cy="54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131F33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3" name="Google Shape;83;p12"/>
          <p:cNvSpPr txBox="1"/>
          <p:nvPr/>
        </p:nvSpPr>
        <p:spPr>
          <a:xfrm>
            <a:off x="284975" y="241125"/>
            <a:ext cx="8627400" cy="54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rgbClr val="131F33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4" name="Google Shape;84;p12"/>
          <p:cNvSpPr txBox="1"/>
          <p:nvPr/>
        </p:nvSpPr>
        <p:spPr>
          <a:xfrm>
            <a:off x="269300" y="194150"/>
            <a:ext cx="8595900" cy="55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rgbClr val="131F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86" name="Google Shape;86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549650"/>
            <a:ext cx="8998749" cy="4915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>
            <a:spLocks noGrp="1"/>
          </p:cNvSpPr>
          <p:nvPr>
            <p:ph type="title"/>
          </p:nvPr>
        </p:nvSpPr>
        <p:spPr>
          <a:xfrm>
            <a:off x="897525" y="510500"/>
            <a:ext cx="5250300" cy="6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4000" b="1">
                <a:solidFill>
                  <a:srgbClr val="1D1D1D"/>
                </a:solidFill>
              </a:rPr>
              <a:t>Model and Methodology</a:t>
            </a:r>
            <a:endParaRPr sz="4000"/>
          </a:p>
        </p:txBody>
      </p:sp>
      <p:sp>
        <p:nvSpPr>
          <p:cNvPr id="92" name="Google Shape;92;p13"/>
          <p:cNvSpPr txBox="1"/>
          <p:nvPr/>
        </p:nvSpPr>
        <p:spPr>
          <a:xfrm>
            <a:off x="853775" y="1351450"/>
            <a:ext cx="7002900" cy="43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131F33"/>
                </a:solidFill>
                <a:latin typeface="Calibri"/>
                <a:ea typeface="Calibri"/>
                <a:cs typeface="Calibri"/>
                <a:sym typeface="Calibri"/>
              </a:rPr>
              <a:t>For inflation we regressed the Consumer Price Index (CPI) to estimate the inflation direction for the next 6-9 months using following variables:</a:t>
            </a:r>
            <a:endParaRPr sz="2200">
              <a:solidFill>
                <a:srgbClr val="131F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131F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1F33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rgbClr val="131F33"/>
                </a:solidFill>
                <a:latin typeface="Calibri"/>
                <a:ea typeface="Calibri"/>
                <a:cs typeface="Calibri"/>
                <a:sym typeface="Calibri"/>
              </a:rPr>
              <a:t>10Y - 2Y Treasury Yield </a:t>
            </a:r>
            <a:endParaRPr sz="2200">
              <a:solidFill>
                <a:srgbClr val="131F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1F33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rgbClr val="131F33"/>
                </a:solidFill>
                <a:latin typeface="Calibri"/>
                <a:ea typeface="Calibri"/>
                <a:cs typeface="Calibri"/>
                <a:sym typeface="Calibri"/>
              </a:rPr>
              <a:t>% change M2 YoY</a:t>
            </a:r>
            <a:endParaRPr sz="2200">
              <a:solidFill>
                <a:srgbClr val="131F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1F33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rgbClr val="131F33"/>
                </a:solidFill>
                <a:latin typeface="Calibri"/>
                <a:ea typeface="Calibri"/>
                <a:cs typeface="Calibri"/>
                <a:sym typeface="Calibri"/>
              </a:rPr>
              <a:t>Producer Price Index (PPI)</a:t>
            </a:r>
            <a:endParaRPr sz="2200">
              <a:solidFill>
                <a:srgbClr val="131F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1F33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rgbClr val="131F33"/>
                </a:solidFill>
                <a:latin typeface="Calibri"/>
                <a:ea typeface="Calibri"/>
                <a:cs typeface="Calibri"/>
                <a:sym typeface="Calibri"/>
              </a:rPr>
              <a:t>Leading Credit Index (LCI)</a:t>
            </a:r>
            <a:endParaRPr sz="2200">
              <a:solidFill>
                <a:srgbClr val="131F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>
                <a:srgbClr val="131F33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rgbClr val="131F33"/>
                </a:solidFill>
                <a:latin typeface="Calibri"/>
                <a:ea typeface="Calibri"/>
                <a:cs typeface="Calibri"/>
                <a:sym typeface="Calibri"/>
              </a:rPr>
              <a:t>Credit Managers Index (CMI)</a:t>
            </a:r>
            <a:br>
              <a:rPr lang="en-US" sz="2200">
                <a:solidFill>
                  <a:srgbClr val="131F33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200">
              <a:solidFill>
                <a:srgbClr val="131F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sldNum" idx="12"/>
          </p:nvPr>
        </p:nvSpPr>
        <p:spPr>
          <a:xfrm>
            <a:off x="6594480" y="6366628"/>
            <a:ext cx="21030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280100" y="214163"/>
            <a:ext cx="8705700" cy="54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rgbClr val="131F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rgbClr val="131F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611875"/>
            <a:ext cx="8985801" cy="4605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"/>
          <p:cNvSpPr txBox="1">
            <a:spLocks noGrp="1"/>
          </p:cNvSpPr>
          <p:nvPr>
            <p:ph type="title"/>
          </p:nvPr>
        </p:nvSpPr>
        <p:spPr>
          <a:xfrm>
            <a:off x="897525" y="510500"/>
            <a:ext cx="2650800" cy="6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/>
              <a:t>Limitations</a:t>
            </a:r>
            <a:endParaRPr sz="4000"/>
          </a:p>
        </p:txBody>
      </p:sp>
      <p:sp>
        <p:nvSpPr>
          <p:cNvPr id="106" name="Google Shape;106;p15"/>
          <p:cNvSpPr txBox="1"/>
          <p:nvPr/>
        </p:nvSpPr>
        <p:spPr>
          <a:xfrm>
            <a:off x="843025" y="1351450"/>
            <a:ext cx="7635600" cy="43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rgbClr val="131F33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rgbClr val="131F33"/>
                </a:solidFill>
                <a:latin typeface="Calibri"/>
                <a:ea typeface="Calibri"/>
                <a:cs typeface="Calibri"/>
                <a:sym typeface="Calibri"/>
              </a:rPr>
              <a:t>The models based on our regression can be used to predict the direction of growth and inflation but can not be used for more precise prediction of these variables.</a:t>
            </a:r>
            <a:endParaRPr sz="2200">
              <a:solidFill>
                <a:srgbClr val="131F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spcBef>
                <a:spcPts val="1000"/>
              </a:spcBef>
              <a:spcAft>
                <a:spcPts val="0"/>
              </a:spcAft>
              <a:buClr>
                <a:srgbClr val="131F33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rgbClr val="131F33"/>
                </a:solidFill>
                <a:latin typeface="Calibri"/>
                <a:ea typeface="Calibri"/>
                <a:cs typeface="Calibri"/>
                <a:sym typeface="Calibri"/>
              </a:rPr>
              <a:t>For more precise calculation, we will need to do time series analysis via ADF test, cointegration test, followed by a VECM/VAR model.</a:t>
            </a:r>
            <a:endParaRPr sz="2200">
              <a:solidFill>
                <a:srgbClr val="131F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spcBef>
                <a:spcPts val="1000"/>
              </a:spcBef>
              <a:spcAft>
                <a:spcPts val="0"/>
              </a:spcAft>
              <a:buClr>
                <a:srgbClr val="131F33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rgbClr val="131F33"/>
                </a:solidFill>
                <a:latin typeface="Calibri"/>
                <a:ea typeface="Calibri"/>
                <a:cs typeface="Calibri"/>
                <a:sym typeface="Calibri"/>
              </a:rPr>
              <a:t>The models although powerful are unable to predict outlier events due to a 95% confidence interval so about 5% of the time the model will not capture the true inflation and growth.</a:t>
            </a:r>
            <a:endParaRPr sz="2200">
              <a:solidFill>
                <a:srgbClr val="131F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200">
              <a:solidFill>
                <a:srgbClr val="131F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>
            <a:spLocks noGrp="1"/>
          </p:cNvSpPr>
          <p:nvPr>
            <p:ph type="title"/>
          </p:nvPr>
        </p:nvSpPr>
        <p:spPr>
          <a:xfrm>
            <a:off x="897525" y="510500"/>
            <a:ext cx="2397300" cy="6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4000" b="1"/>
              <a:t>Conclusion</a:t>
            </a:r>
            <a:endParaRPr sz="4000"/>
          </a:p>
        </p:txBody>
      </p:sp>
      <p:sp>
        <p:nvSpPr>
          <p:cNvPr id="113" name="Google Shape;113;p16"/>
          <p:cNvSpPr txBox="1"/>
          <p:nvPr/>
        </p:nvSpPr>
        <p:spPr>
          <a:xfrm>
            <a:off x="843025" y="1351450"/>
            <a:ext cx="7635600" cy="43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131F33"/>
                </a:solidFill>
                <a:latin typeface="Calibri"/>
                <a:ea typeface="Calibri"/>
                <a:cs typeface="Calibri"/>
                <a:sym typeface="Calibri"/>
              </a:rPr>
              <a:t>Based on our robust approach using regression we can conclude the following major points about the economic forecast:</a:t>
            </a:r>
            <a:endParaRPr sz="2200" dirty="0">
              <a:solidFill>
                <a:srgbClr val="131F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spcBef>
                <a:spcPts val="1000"/>
              </a:spcBef>
              <a:spcAft>
                <a:spcPts val="0"/>
              </a:spcAft>
              <a:buClr>
                <a:srgbClr val="131F33"/>
              </a:buClr>
              <a:buSzPts val="2200"/>
              <a:buFont typeface="Calibri"/>
              <a:buChar char="●"/>
            </a:pPr>
            <a:r>
              <a:rPr lang="en-US" sz="2200" dirty="0">
                <a:solidFill>
                  <a:srgbClr val="131F33"/>
                </a:solidFill>
                <a:latin typeface="Calibri"/>
                <a:ea typeface="Calibri"/>
                <a:cs typeface="Calibri"/>
                <a:sym typeface="Calibri"/>
              </a:rPr>
              <a:t>Our variables for the prediction of CEI lead us to the conclusion that our model is leading the CEI by 6 months</a:t>
            </a:r>
            <a:endParaRPr sz="2200" dirty="0">
              <a:solidFill>
                <a:srgbClr val="131F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31F33"/>
              </a:buClr>
              <a:buSzPts val="2200"/>
              <a:buFont typeface="Calibri"/>
              <a:buChar char="●"/>
            </a:pPr>
            <a:r>
              <a:rPr lang="en-US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Based on that, we conclude that growth will experience a </a:t>
            </a:r>
            <a:r>
              <a:rPr lang="en-US" sz="2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slowdown*</a:t>
            </a:r>
            <a:r>
              <a:rPr lang="en-US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economic activity</a:t>
            </a:r>
            <a:endParaRPr sz="2200" dirty="0">
              <a:solidFill>
                <a:srgbClr val="131F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200" dirty="0">
              <a:solidFill>
                <a:srgbClr val="131F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131F33"/>
                </a:solidFill>
                <a:latin typeface="Calibri"/>
                <a:ea typeface="Calibri"/>
                <a:cs typeface="Calibri"/>
                <a:sym typeface="Calibri"/>
              </a:rPr>
              <a:t>*Initially we predict a constant growth with a slowdown in later months of prediction</a:t>
            </a:r>
            <a:endParaRPr sz="2000" dirty="0">
              <a:solidFill>
                <a:srgbClr val="131F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6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 txBox="1">
            <a:spLocks noGrp="1"/>
          </p:cNvSpPr>
          <p:nvPr>
            <p:ph type="title"/>
          </p:nvPr>
        </p:nvSpPr>
        <p:spPr>
          <a:xfrm>
            <a:off x="897525" y="510500"/>
            <a:ext cx="2397300" cy="6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4000" b="1"/>
              <a:t>Conclusion</a:t>
            </a:r>
            <a:endParaRPr sz="4000"/>
          </a:p>
        </p:txBody>
      </p:sp>
      <p:sp>
        <p:nvSpPr>
          <p:cNvPr id="120" name="Google Shape;120;p17"/>
          <p:cNvSpPr txBox="1"/>
          <p:nvPr/>
        </p:nvSpPr>
        <p:spPr>
          <a:xfrm>
            <a:off x="843025" y="1351450"/>
            <a:ext cx="7635600" cy="43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8900" lvl="0" algn="l" rtl="0">
              <a:spcBef>
                <a:spcPts val="0"/>
              </a:spcBef>
              <a:spcAft>
                <a:spcPts val="0"/>
              </a:spcAft>
              <a:buClr>
                <a:srgbClr val="131F33"/>
              </a:buClr>
              <a:buSzPts val="2200"/>
            </a:pPr>
            <a:r>
              <a:rPr lang="en-US" sz="2200" dirty="0">
                <a:solidFill>
                  <a:srgbClr val="131F33"/>
                </a:solidFill>
                <a:latin typeface="Calibri"/>
                <a:ea typeface="Calibri"/>
                <a:cs typeface="Calibri"/>
                <a:sym typeface="Calibri"/>
              </a:rPr>
              <a:t>Following our methodology for inflation we found:</a:t>
            </a:r>
          </a:p>
          <a:p>
            <a:pPr marL="88900" lvl="0" algn="l" rtl="0">
              <a:spcBef>
                <a:spcPts val="0"/>
              </a:spcBef>
              <a:spcAft>
                <a:spcPts val="0"/>
              </a:spcAft>
              <a:buClr>
                <a:srgbClr val="131F33"/>
              </a:buClr>
              <a:buSzPts val="2200"/>
            </a:pPr>
            <a:endParaRPr lang="en-US" sz="2200" dirty="0">
              <a:solidFill>
                <a:srgbClr val="131F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rgbClr val="131F33"/>
              </a:buClr>
              <a:buSzPts val="2200"/>
              <a:buFont typeface="Calibri"/>
              <a:buChar char="●"/>
            </a:pPr>
            <a:r>
              <a:rPr lang="en-US" sz="2200" dirty="0">
                <a:solidFill>
                  <a:srgbClr val="131F33"/>
                </a:solidFill>
                <a:latin typeface="Calibri"/>
                <a:ea typeface="Calibri"/>
                <a:cs typeface="Calibri"/>
                <a:sym typeface="Calibri"/>
              </a:rPr>
              <a:t>Through regression for inflation on CPI, we concluded that our model is leading inflation rate by 6 months</a:t>
            </a:r>
            <a:endParaRPr sz="2200" dirty="0">
              <a:solidFill>
                <a:srgbClr val="131F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rgbClr val="131F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rgbClr val="131F33"/>
              </a:buClr>
              <a:buSzPts val="2200"/>
              <a:buFont typeface="Calibri"/>
              <a:buChar char="●"/>
            </a:pPr>
            <a:r>
              <a:rPr lang="en-US" sz="2200" dirty="0">
                <a:solidFill>
                  <a:srgbClr val="131F33"/>
                </a:solidFill>
                <a:latin typeface="Calibri"/>
                <a:ea typeface="Calibri"/>
                <a:cs typeface="Calibri"/>
                <a:sym typeface="Calibri"/>
              </a:rPr>
              <a:t>Based on that we conclude we will be in an increasing* inflation period</a:t>
            </a:r>
            <a:endParaRPr sz="2200" dirty="0">
              <a:solidFill>
                <a:srgbClr val="131F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rgbClr val="131F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131F33"/>
                </a:solidFill>
                <a:latin typeface="Calibri"/>
                <a:ea typeface="Calibri"/>
                <a:cs typeface="Calibri"/>
                <a:sym typeface="Calibri"/>
              </a:rPr>
              <a:t>*Based on that we predict that there will be a sticky inflation to rising inflation</a:t>
            </a:r>
            <a:endParaRPr sz="2200" dirty="0">
              <a:solidFill>
                <a:srgbClr val="131F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7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127" name="Google Shape;127;p18"/>
          <p:cNvSpPr txBox="1"/>
          <p:nvPr/>
        </p:nvSpPr>
        <p:spPr>
          <a:xfrm>
            <a:off x="2822700" y="2060625"/>
            <a:ext cx="3498600" cy="22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 b="1">
                <a:solidFill>
                  <a:srgbClr val="131F33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7000" b="1">
              <a:solidFill>
                <a:srgbClr val="131F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666666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490</Words>
  <Application>Microsoft Office PowerPoint</Application>
  <PresentationFormat>On-screen Show (4:3)</PresentationFormat>
  <Paragraphs>70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PowerPoint Presentation</vt:lpstr>
      <vt:lpstr>Outline</vt:lpstr>
      <vt:lpstr>Introduction</vt:lpstr>
      <vt:lpstr>Approach</vt:lpstr>
      <vt:lpstr>Model and Methodology</vt:lpstr>
      <vt:lpstr>PowerPoint Presentation</vt:lpstr>
      <vt:lpstr>Model and Methodology</vt:lpstr>
      <vt:lpstr>PowerPoint Presentation</vt:lpstr>
      <vt:lpstr>Limitations</vt:lpstr>
      <vt:lpstr>Conclusion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Nick Sommer</cp:lastModifiedBy>
  <cp:revision>2</cp:revision>
  <dcterms:modified xsi:type="dcterms:W3CDTF">2025-02-25T05:46:33Z</dcterms:modified>
</cp:coreProperties>
</file>