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75" r:id="rId2"/>
    <p:sldId id="369" r:id="rId3"/>
    <p:sldId id="353" r:id="rId4"/>
    <p:sldId id="374" r:id="rId5"/>
    <p:sldId id="350" r:id="rId6"/>
    <p:sldId id="349" r:id="rId7"/>
    <p:sldId id="377" r:id="rId8"/>
    <p:sldId id="385" r:id="rId9"/>
    <p:sldId id="386" r:id="rId10"/>
    <p:sldId id="387" r:id="rId11"/>
    <p:sldId id="388" r:id="rId12"/>
    <p:sldId id="389" r:id="rId13"/>
    <p:sldId id="391" r:id="rId14"/>
    <p:sldId id="393" r:id="rId15"/>
    <p:sldId id="379" r:id="rId16"/>
    <p:sldId id="381" r:id="rId17"/>
    <p:sldId id="384" r:id="rId18"/>
    <p:sldId id="380" r:id="rId19"/>
    <p:sldId id="382" r:id="rId20"/>
    <p:sldId id="376" r:id="rId21"/>
    <p:sldId id="37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F03"/>
    <a:srgbClr val="1228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149749-6C0E-D3C2-BB96-F03BB1D844F6}" v="163" dt="2025-04-30T18:43:48.374"/>
    <p1510:client id="{223132F7-5504-7546-B7DC-860366F8F7FC}" v="726" dt="2025-05-01T05:13:59.560"/>
    <p1510:client id="{8375E763-F1C0-D220-39F4-730414889CE0}" v="1981" dt="2025-05-01T01:41:26.033"/>
    <p1510:client id="{95FCFD8F-27CB-223E-E295-CE9E95BFCF8E}" v="2638" dt="2025-05-01T05:14:56.762"/>
    <p1510:client id="{AC357703-531B-B344-2A20-8EE0914EF5ED}" v="21" dt="2025-04-30T18:14:55.273"/>
    <p1510:client id="{E3DD4E3E-A942-4465-8BC9-DECC2ADD2884}" v="2" dt="2025-05-01T02:24:41.1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80_8316AFC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Lowe's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ROIC</c:v>
                </c:pt>
                <c:pt idx="1">
                  <c:v>Profit Margin</c:v>
                </c:pt>
                <c:pt idx="2">
                  <c:v>Asset Turnover</c:v>
                </c:pt>
                <c:pt idx="3">
                  <c:v>EV/EBITDA</c:v>
                </c:pt>
                <c:pt idx="4">
                  <c:v>P/E Ratio</c:v>
                </c:pt>
                <c:pt idx="5">
                  <c:v>DCF Value/Share</c:v>
                </c:pt>
                <c:pt idx="6">
                  <c:v>Market Price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1.27</c:v>
                </c:pt>
                <c:pt idx="1">
                  <c:v>0.93</c:v>
                </c:pt>
                <c:pt idx="2">
                  <c:v>1.37</c:v>
                </c:pt>
                <c:pt idx="3">
                  <c:v>0.81</c:v>
                </c:pt>
                <c:pt idx="4">
                  <c:v>0.76</c:v>
                </c:pt>
                <c:pt idx="5">
                  <c:v>0.71</c:v>
                </c:pt>
                <c:pt idx="6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83-BE45-B752-A519FC7DEA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Home Depot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ROIC</c:v>
                </c:pt>
                <c:pt idx="1">
                  <c:v>Profit Margin</c:v>
                </c:pt>
                <c:pt idx="2">
                  <c:v>Asset Turnover</c:v>
                </c:pt>
                <c:pt idx="3">
                  <c:v>EV/EBITDA</c:v>
                </c:pt>
                <c:pt idx="4">
                  <c:v>P/E Ratio</c:v>
                </c:pt>
                <c:pt idx="5">
                  <c:v>DCF Value/Share</c:v>
                </c:pt>
                <c:pt idx="6">
                  <c:v>Market Price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983-BE45-B752-A519FC7DEA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047594000"/>
        <c:axId val="2047595712"/>
      </c:barChart>
      <c:catAx>
        <c:axId val="2047594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7595712"/>
        <c:crosses val="autoZero"/>
        <c:auto val="1"/>
        <c:lblAlgn val="ctr"/>
        <c:lblOffset val="100"/>
        <c:noMultiLvlLbl val="0"/>
      </c:catAx>
      <c:valAx>
        <c:axId val="2047595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7594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87F3AF-1F3A-1675-D106-000960B713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C1B3AB-3FEF-033A-64CE-0A5802812E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26A19-01F3-F34F-8699-7A1C071F930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27C088-0AA5-C044-80FD-DE80F9A60A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D8DEE4-D76F-1826-DA49-6A7D00911A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F2289-1B98-B74A-AEBC-B44B84F13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501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BAA33-C0A4-9346-AAF1-BAD43E000F9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535E0-CBDD-BC4C-BD4F-9919692E8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996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30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“Let’s start by looking at the core performance and valuation metrics for Lowe’s and Home Depot.”</a:t>
            </a:r>
          </a:p>
          <a:p>
            <a:r>
              <a:rPr lang="en-US"/>
              <a:t>“ROIC stands out — Lowe’s is earning nearly 29–30%, significantly above Home Depot’s 22.7%, which reflects stronger capital efficiency.”</a:t>
            </a:r>
          </a:p>
          <a:p>
            <a:r>
              <a:rPr lang="en-US"/>
              <a:t>“Although Lowe’s profit margins are slightly lower, its asset turnover is much higher — meaning it uses its assets more effectively to generate revenue.”</a:t>
            </a:r>
          </a:p>
          <a:p>
            <a:r>
              <a:rPr lang="en-US"/>
              <a:t>“From a valuation standpoint, Lowe’s trades at a discount — both EV/EBITDA and P/E ratios are meaningfully lower.”</a:t>
            </a:r>
          </a:p>
          <a:p>
            <a:r>
              <a:rPr lang="en-US"/>
              <a:t>“Most notably, our DCF model shows Lowe’s is undervalued with a ~6% upside, while Home Depot is about 7% overvalued.”</a:t>
            </a:r>
          </a:p>
          <a:p>
            <a:r>
              <a:rPr lang="en-US"/>
              <a:t>“This combination of stronger capital returns and lower valuation multiples points to a potential opportunity in Lowe’s favor.”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5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“This chart helps visualize how Lowe’s stacks up relative to Home Depot, with Home Depot normalized to 1.0.”</a:t>
            </a:r>
          </a:p>
          <a:p>
            <a:r>
              <a:rPr lang="en-US"/>
              <a:t>“Starting on the left, you see Lowe’s ROIC is about 27% higher, again showing capital efficiency.”</a:t>
            </a:r>
          </a:p>
          <a:p>
            <a:r>
              <a:rPr lang="en-US"/>
              <a:t>“Even though Lowe’s margin is a bit lower, its asset turnover is much stronger — almost 40% higher — which helps it still deliver superior returns.”</a:t>
            </a:r>
          </a:p>
          <a:p>
            <a:r>
              <a:rPr lang="en-US"/>
              <a:t>“On valuation, Lowe’s is clearly cheaper: it trades at a 24% discount on P/E and a 19% discount on EV/EBITDA.”</a:t>
            </a:r>
          </a:p>
          <a:p>
            <a:r>
              <a:rPr lang="en-US"/>
              <a:t>“DCF valuation again supports this — Lowe’s is underpriced, while Home Depot trades above fair value.”</a:t>
            </a:r>
          </a:p>
          <a:p>
            <a:r>
              <a:rPr lang="en-US"/>
              <a:t>“All of this suggests that Lowe’s may be mispriced relative to its fundamentals — offering more efficiency and better value.”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03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If we had to pick one, we would buy </a:t>
            </a:r>
            <a:r>
              <a:rPr lang="en-US" b="1"/>
              <a:t>Lowe’s</a:t>
            </a:r>
            <a:r>
              <a:rPr lang="en-US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It shows </a:t>
            </a:r>
            <a:r>
              <a:rPr lang="en-US" b="1"/>
              <a:t>stronger operational efficiency</a:t>
            </a:r>
            <a:r>
              <a:rPr lang="en-US"/>
              <a:t>, </a:t>
            </a:r>
            <a:r>
              <a:rPr lang="en-US" b="1"/>
              <a:t>more capital discipline</a:t>
            </a:r>
            <a:r>
              <a:rPr lang="en-US"/>
              <a:t>, and </a:t>
            </a:r>
            <a:r>
              <a:rPr lang="en-US" b="1"/>
              <a:t>better value</a:t>
            </a:r>
            <a:r>
              <a:rPr lang="en-US"/>
              <a:t> across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Despite this, Lowe’s trades at </a:t>
            </a:r>
            <a:r>
              <a:rPr lang="en-US" b="1"/>
              <a:t>significantly lower valuation multiples</a:t>
            </a:r>
            <a:r>
              <a:rPr lang="en-US"/>
              <a:t>, including a </a:t>
            </a:r>
            <a:r>
              <a:rPr lang="en-US" b="1"/>
              <a:t>24% discount on P/E</a:t>
            </a:r>
            <a:r>
              <a:rPr lang="en-US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Our DCF model shows </a:t>
            </a:r>
            <a:r>
              <a:rPr lang="en-US" b="1"/>
              <a:t>clear upside for Lowe’s</a:t>
            </a:r>
            <a:r>
              <a:rPr lang="en-US"/>
              <a:t> and </a:t>
            </a:r>
            <a:r>
              <a:rPr lang="en-US" b="1"/>
              <a:t>downside risk for Home Depot</a:t>
            </a:r>
            <a:r>
              <a:rPr lang="en-US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While Home Depot is a great business, </a:t>
            </a:r>
            <a:r>
              <a:rPr lang="en-US" b="1"/>
              <a:t>the current price doesn’t justify the valuation</a:t>
            </a:r>
            <a:r>
              <a:rPr lang="en-US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As the quote says: </a:t>
            </a:r>
            <a:r>
              <a:rPr lang="en-US" i="1"/>
              <a:t>“Pick the one priced like it’s not”</a:t>
            </a:r>
            <a:r>
              <a:rPr lang="en-US"/>
              <a:t> — and in this case, that’s Lowe’s.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48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38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5535E0-CBDD-BC4C-BD4F-9919692E8FC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98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lue block">
            <a:extLst>
              <a:ext uri="{FF2B5EF4-FFF2-40B4-BE49-F238E27FC236}">
                <a16:creationId xmlns:a16="http://schemas.microsoft.com/office/drawing/2014/main" id="{68128951-97F9-C410-C621-C15AC74E8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423334" y="5098656"/>
            <a:ext cx="609399" cy="240870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orange block">
            <a:extLst>
              <a:ext uri="{FF2B5EF4-FFF2-40B4-BE49-F238E27FC236}">
                <a16:creationId xmlns:a16="http://schemas.microsoft.com/office/drawing/2014/main" id="{0783AA32-CAC9-04CB-C310-32252AB91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74671" y="6009354"/>
            <a:ext cx="609400" cy="587308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5F03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CA237F8-AC82-CF25-086A-E3BC2A95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8949" t="27895"/>
          <a:stretch/>
        </p:blipFill>
        <p:spPr>
          <a:xfrm>
            <a:off x="-342900" y="-329352"/>
            <a:ext cx="3967840" cy="3153709"/>
          </a:xfrm>
          <a:prstGeom prst="rect">
            <a:avLst/>
          </a:prstGeom>
        </p:spPr>
      </p:pic>
      <p:pic>
        <p:nvPicPr>
          <p:cNvPr id="64" name="circle">
            <a:extLst>
              <a:ext uri="{FF2B5EF4-FFF2-40B4-BE49-F238E27FC236}">
                <a16:creationId xmlns:a16="http://schemas.microsoft.com/office/drawing/2014/main" id="{21CA8E12-4772-559D-5063-13B797B42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3717"/>
          <a:stretch/>
        </p:blipFill>
        <p:spPr>
          <a:xfrm>
            <a:off x="10540341" y="528830"/>
            <a:ext cx="3523064" cy="3519163"/>
          </a:xfrm>
          <a:prstGeom prst="ellipse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6C3F48-F3C2-EB9E-FEBF-5EB7089A1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6" name="Illinois Wordmark" descr="Illinois Wordmark in orange and blue.">
            <a:extLst>
              <a:ext uri="{FF2B5EF4-FFF2-40B4-BE49-F238E27FC236}">
                <a16:creationId xmlns:a16="http://schemas.microsoft.com/office/drawing/2014/main" id="{9E993BF7-51DB-D26F-38B1-F846D97285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9711" y="4316363"/>
            <a:ext cx="2666289" cy="458309"/>
          </a:xfrm>
          <a:prstGeom prst="rect">
            <a:avLst/>
          </a:prstGeom>
        </p:spPr>
      </p:pic>
      <p:sp>
        <p:nvSpPr>
          <p:cNvPr id="40" name="title">
            <a:extLst>
              <a:ext uri="{FF2B5EF4-FFF2-40B4-BE49-F238E27FC236}">
                <a16:creationId xmlns:a16="http://schemas.microsoft.com/office/drawing/2014/main" id="{42C60EB7-94F0-8B5A-4DB9-38E271B3CEA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670053" y="1620963"/>
            <a:ext cx="6858877" cy="24270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 sz="6000"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b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E55DCF-BBDB-1475-C5FA-354C77CA9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3472264">
            <a:off x="9922312" y="1850965"/>
            <a:ext cx="4178152" cy="5575466"/>
          </a:xfrm>
          <a:prstGeom prst="rect">
            <a:avLst/>
          </a:prstGeom>
        </p:spPr>
      </p:pic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D77FC7C2-C53A-4166-9AE3-4D37C1DE93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9599" y="4316363"/>
            <a:ext cx="2006397" cy="458309"/>
          </a:xfrm>
          <a:noFill/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0" i="1" u="none">
                <a:solidFill>
                  <a:srgbClr val="12284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BF7A5F8-04F1-9CDD-AF2B-6CB4A620ADF5}"/>
              </a:ext>
            </a:extLst>
          </p:cNvPr>
          <p:cNvCxnSpPr/>
          <p:nvPr userDrawn="1"/>
        </p:nvCxnSpPr>
        <p:spPr>
          <a:xfrm>
            <a:off x="6382799" y="4316363"/>
            <a:ext cx="0" cy="458309"/>
          </a:xfrm>
          <a:prstGeom prst="line">
            <a:avLst/>
          </a:prstGeom>
          <a:ln w="19050">
            <a:solidFill>
              <a:srgbClr val="122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FA17BD45-4E86-CBD6-AF50-070C78D9B00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4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University of Illinois logo in orange and blue.">
            <a:extLst>
              <a:ext uri="{FF2B5EF4-FFF2-40B4-BE49-F238E27FC236}">
                <a16:creationId xmlns:a16="http://schemas.microsoft.com/office/drawing/2014/main" id="{CBBCEE12-A225-3DA4-6943-413932AD33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43" name="Text Placeholder 37">
            <a:extLst>
              <a:ext uri="{FF2B5EF4-FFF2-40B4-BE49-F238E27FC236}">
                <a16:creationId xmlns:a16="http://schemas.microsoft.com/office/drawing/2014/main" id="{56948954-0846-BAC1-AE43-AF18DB5C8E6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48066" y="3924300"/>
            <a:ext cx="1805722" cy="1190625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dirty="0">
                <a:solidFill>
                  <a:schemeClr val="tx1"/>
                </a:solidFill>
                <a:latin typeface="Georgia" panose="02040502050405020303" pitchFamily="18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1">
            <a:extLst>
              <a:ext uri="{FF2B5EF4-FFF2-40B4-BE49-F238E27FC236}">
                <a16:creationId xmlns:a16="http://schemas.microsoft.com/office/drawing/2014/main" id="{BE885F7B-CFAE-1875-7D4B-406604399F4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48800" y="3497152"/>
            <a:ext cx="1805722" cy="264615"/>
          </a:xfrm>
          <a:solidFill>
            <a:srgbClr val="12284B"/>
          </a:solidFill>
        </p:spPr>
        <p:txBody>
          <a:bodyPr>
            <a:noAutofit/>
          </a:bodyPr>
          <a:lstStyle>
            <a:lvl1pPr marL="0" indent="0" algn="ctr">
              <a:buNone/>
              <a:defRPr lang="en-US" sz="1400" b="1" i="0" kern="1200" dirty="0">
                <a:solidFill>
                  <a:schemeClr val="bg1"/>
                </a:solidFill>
                <a:latin typeface="Arial Black" panose="020B0604020202020204" pitchFamily="34" charset="0"/>
                <a:ea typeface="Source Sans Pro" panose="020B0503030403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itle Placeholder 1">
            <a:extLst>
              <a:ext uri="{FF2B5EF4-FFF2-40B4-BE49-F238E27FC236}">
                <a16:creationId xmlns:a16="http://schemas.microsoft.com/office/drawing/2014/main" id="{DF0A90E8-44EA-3EC5-F869-C5E83F0FA87E}"/>
              </a:ext>
            </a:extLst>
          </p:cNvPr>
          <p:cNvSpPr txBox="1">
            <a:spLocks/>
          </p:cNvSpPr>
          <p:nvPr userDrawn="1"/>
        </p:nvSpPr>
        <p:spPr>
          <a:xfrm>
            <a:off x="9817795" y="2176229"/>
            <a:ext cx="1067732" cy="1067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12284B"/>
                </a:solidFill>
                <a:latin typeface="Montserrat Black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n-US" sz="8000" b="1" i="1">
                <a:solidFill>
                  <a:srgbClr val="FF5F03"/>
                </a:solidFill>
                <a:latin typeface="Georgia" panose="02040502050405020303" pitchFamily="18" charset="0"/>
              </a:rPr>
              <a:t>5</a:t>
            </a:r>
          </a:p>
        </p:txBody>
      </p:sp>
      <p:sp>
        <p:nvSpPr>
          <p:cNvPr id="30" name="Text Placeholder 41">
            <a:extLst>
              <a:ext uri="{FF2B5EF4-FFF2-40B4-BE49-F238E27FC236}">
                <a16:creationId xmlns:a16="http://schemas.microsoft.com/office/drawing/2014/main" id="{0DEF7BEF-F09A-861B-5648-C7A737C954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96150" y="3497152"/>
            <a:ext cx="1805722" cy="264615"/>
          </a:xfrm>
          <a:solidFill>
            <a:srgbClr val="12284B"/>
          </a:solidFill>
        </p:spPr>
        <p:txBody>
          <a:bodyPr>
            <a:noAutofit/>
          </a:bodyPr>
          <a:lstStyle>
            <a:lvl1pPr marL="0" indent="0" algn="ctr">
              <a:buNone/>
              <a:defRPr lang="en-US" sz="1400" b="1" i="0" kern="1200" dirty="0">
                <a:solidFill>
                  <a:schemeClr val="bg1"/>
                </a:solidFill>
                <a:latin typeface="Arial Black" panose="020B0604020202020204" pitchFamily="34" charset="0"/>
                <a:ea typeface="Source Sans Pro" panose="020B0503030403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1" name="Text Placeholder 37">
            <a:extLst>
              <a:ext uri="{FF2B5EF4-FFF2-40B4-BE49-F238E27FC236}">
                <a16:creationId xmlns:a16="http://schemas.microsoft.com/office/drawing/2014/main" id="{DBDC40AC-B6A8-BAC3-7952-5202FBDE376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95416" y="3914775"/>
            <a:ext cx="1805722" cy="1190625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dirty="0">
                <a:solidFill>
                  <a:schemeClr val="tx1"/>
                </a:solidFill>
                <a:latin typeface="Georgia" panose="02040502050405020303" pitchFamily="18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itle Placeholder 1">
            <a:extLst>
              <a:ext uri="{FF2B5EF4-FFF2-40B4-BE49-F238E27FC236}">
                <a16:creationId xmlns:a16="http://schemas.microsoft.com/office/drawing/2014/main" id="{A3404D82-CDC0-1D6E-1309-4569E98CF5B4}"/>
              </a:ext>
            </a:extLst>
          </p:cNvPr>
          <p:cNvSpPr txBox="1">
            <a:spLocks/>
          </p:cNvSpPr>
          <p:nvPr userDrawn="1"/>
        </p:nvSpPr>
        <p:spPr>
          <a:xfrm>
            <a:off x="7665145" y="2176229"/>
            <a:ext cx="1067732" cy="1067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12284B"/>
                </a:solidFill>
                <a:latin typeface="Montserrat Black" pitchFamily="2" charset="77"/>
                <a:ea typeface="+mj-ea"/>
                <a:cs typeface="+mj-cs"/>
              </a:defRPr>
            </a:lvl1pPr>
          </a:lstStyle>
          <a:p>
            <a: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8000" b="1" i="1" kern="120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rPr>
              <a:t>4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BDEFECC9-B9CF-41F2-8D59-74936AC74E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42766" y="3905250"/>
            <a:ext cx="1805722" cy="1190625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dirty="0">
                <a:solidFill>
                  <a:schemeClr val="tx1"/>
                </a:solidFill>
                <a:latin typeface="Georgia" panose="02040502050405020303" pitchFamily="18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1C3A3430-9FEA-0185-4BFD-9EFBBB2DF8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43500" y="3506677"/>
            <a:ext cx="1805722" cy="264615"/>
          </a:xfrm>
          <a:solidFill>
            <a:srgbClr val="12284B"/>
          </a:solidFill>
        </p:spPr>
        <p:txBody>
          <a:bodyPr>
            <a:noAutofit/>
          </a:bodyPr>
          <a:lstStyle>
            <a:lvl1pPr marL="0" indent="0" algn="ctr">
              <a:buNone/>
              <a:defRPr lang="en-US" sz="1400" b="1" i="0" kern="1200" dirty="0">
                <a:solidFill>
                  <a:schemeClr val="bg1"/>
                </a:solidFill>
                <a:latin typeface="Arial Black" panose="020B0604020202020204" pitchFamily="34" charset="0"/>
                <a:ea typeface="Source Sans Pro" panose="020B0503030403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itle Placeholder 1">
            <a:extLst>
              <a:ext uri="{FF2B5EF4-FFF2-40B4-BE49-F238E27FC236}">
                <a16:creationId xmlns:a16="http://schemas.microsoft.com/office/drawing/2014/main" id="{64E49017-309D-F9B6-E167-65AC5E361626}"/>
              </a:ext>
            </a:extLst>
          </p:cNvPr>
          <p:cNvSpPr txBox="1">
            <a:spLocks/>
          </p:cNvSpPr>
          <p:nvPr userDrawn="1"/>
        </p:nvSpPr>
        <p:spPr>
          <a:xfrm>
            <a:off x="5512495" y="2176229"/>
            <a:ext cx="1067732" cy="1067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12284B"/>
                </a:solidFill>
                <a:latin typeface="Montserrat Black" pitchFamily="2" charset="77"/>
                <a:ea typeface="+mj-ea"/>
                <a:cs typeface="+mj-cs"/>
              </a:defRPr>
            </a:lvl1pPr>
          </a:lstStyle>
          <a:p>
            <a: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8000" b="1" i="1" kern="1200">
                <a:solidFill>
                  <a:srgbClr val="FF5F03"/>
                </a:solidFill>
                <a:latin typeface="Georgia" panose="02040502050405020303" pitchFamily="18" charset="0"/>
                <a:ea typeface="+mj-ea"/>
                <a:cs typeface="+mj-cs"/>
              </a:rPr>
              <a:t>3</a:t>
            </a:r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FA5429D9-216E-5AD9-7E6B-E1FB0C045E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0116" y="3895725"/>
            <a:ext cx="1805722" cy="1190625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dirty="0">
                <a:solidFill>
                  <a:schemeClr val="tx1"/>
                </a:solidFill>
                <a:latin typeface="Georgia" panose="02040502050405020303" pitchFamily="18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3D5D2BB4-ADC1-A7D7-A4FE-8984C39EDE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90850" y="3506677"/>
            <a:ext cx="1805722" cy="264615"/>
          </a:xfrm>
          <a:solidFill>
            <a:srgbClr val="12284B"/>
          </a:solidFill>
        </p:spPr>
        <p:txBody>
          <a:bodyPr>
            <a:noAutofit/>
          </a:bodyPr>
          <a:lstStyle>
            <a:lvl1pPr marL="0" indent="0" algn="ctr">
              <a:buNone/>
              <a:defRPr lang="en-US" sz="1400" b="1" i="0" kern="1200" dirty="0">
                <a:solidFill>
                  <a:schemeClr val="bg1"/>
                </a:solidFill>
                <a:latin typeface="Arial Black" panose="020B0604020202020204" pitchFamily="34" charset="0"/>
                <a:ea typeface="Source Sans Pro" panose="020B0503030403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3" name="Title Placeholder 1">
            <a:extLst>
              <a:ext uri="{FF2B5EF4-FFF2-40B4-BE49-F238E27FC236}">
                <a16:creationId xmlns:a16="http://schemas.microsoft.com/office/drawing/2014/main" id="{E9DA12E8-A742-A6F7-40A2-E1371491A0B5}"/>
              </a:ext>
            </a:extLst>
          </p:cNvPr>
          <p:cNvSpPr txBox="1">
            <a:spLocks/>
          </p:cNvSpPr>
          <p:nvPr userDrawn="1"/>
        </p:nvSpPr>
        <p:spPr>
          <a:xfrm>
            <a:off x="3359845" y="2176229"/>
            <a:ext cx="1067732" cy="1067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12284B"/>
                </a:solidFill>
                <a:latin typeface="Montserrat Black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n-US" sz="8000" b="1" i="1">
                <a:solidFill>
                  <a:srgbClr val="FF5F03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4ADA9A29-625B-EE3C-3663-7559FD2C1E1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7466" y="3895725"/>
            <a:ext cx="1805722" cy="119062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FE9A7FA8-8D99-C173-1868-C1BB4B75D2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3497152"/>
            <a:ext cx="1805722" cy="264615"/>
          </a:xfrm>
          <a:solidFill>
            <a:srgbClr val="12284B"/>
          </a:solidFill>
        </p:spPr>
        <p:txBody>
          <a:bodyPr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itle Placeholder 1">
            <a:extLst>
              <a:ext uri="{FF2B5EF4-FFF2-40B4-BE49-F238E27FC236}">
                <a16:creationId xmlns:a16="http://schemas.microsoft.com/office/drawing/2014/main" id="{9A162DEA-6B87-C8BA-5FE6-F2AA74263AAD}"/>
              </a:ext>
            </a:extLst>
          </p:cNvPr>
          <p:cNvSpPr txBox="1">
            <a:spLocks/>
          </p:cNvSpPr>
          <p:nvPr userDrawn="1"/>
        </p:nvSpPr>
        <p:spPr>
          <a:xfrm>
            <a:off x="1207195" y="2176229"/>
            <a:ext cx="1067732" cy="10677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12284B"/>
                </a:solidFill>
                <a:latin typeface="Montserrat Black" pitchFamily="2" charset="77"/>
                <a:ea typeface="+mj-ea"/>
                <a:cs typeface="+mj-cs"/>
              </a:defRPr>
            </a:lvl1pPr>
          </a:lstStyle>
          <a:p>
            <a:pPr algn="ctr"/>
            <a:r>
              <a:rPr lang="en-US" sz="8000" b="1" i="1">
                <a:solidFill>
                  <a:srgbClr val="FF5F03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067F0DDB-43D4-C36D-4EDB-2F8E4567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4889"/>
            <a:ext cx="10415588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rgbClr val="12284B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C6DB0C-05B6-BB99-AB01-369359CA56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10799897" y="222680"/>
            <a:ext cx="1701802" cy="512521"/>
          </a:xfrm>
          <a:prstGeom prst="rect">
            <a:avLst/>
          </a:prstGeom>
        </p:spPr>
      </p:pic>
      <p:sp>
        <p:nvSpPr>
          <p:cNvPr id="7" name="blue block">
            <a:extLst>
              <a:ext uri="{FF2B5EF4-FFF2-40B4-BE49-F238E27FC236}">
                <a16:creationId xmlns:a16="http://schemas.microsoft.com/office/drawing/2014/main" id="{EE1DAFF9-C7BE-D602-A0A1-CC7161267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423334" y="5098656"/>
            <a:ext cx="609399" cy="240870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orange block">
            <a:extLst>
              <a:ext uri="{FF2B5EF4-FFF2-40B4-BE49-F238E27FC236}">
                <a16:creationId xmlns:a16="http://schemas.microsoft.com/office/drawing/2014/main" id="{30922DAD-1D1F-DFF0-A93D-B53804901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74671" y="6009354"/>
            <a:ext cx="609400" cy="587308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5F03"/>
              </a:solidFill>
            </a:endParaRP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A612436-B3A4-5EFF-FA0C-4FAEB9F6C8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465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15361710-00BC-B71A-3367-BD6B3220F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3717"/>
          <a:stretch/>
        </p:blipFill>
        <p:spPr>
          <a:xfrm>
            <a:off x="2132831" y="1873878"/>
            <a:ext cx="3905723" cy="3901398"/>
          </a:xfrm>
          <a:prstGeom prst="ellipse">
            <a:avLst/>
          </a:prstGeom>
        </p:spPr>
      </p:pic>
      <p:pic>
        <p:nvPicPr>
          <p:cNvPr id="6" name="Picture 5" descr="University of Illinois logo in orange and blue.">
            <a:extLst>
              <a:ext uri="{FF2B5EF4-FFF2-40B4-BE49-F238E27FC236}">
                <a16:creationId xmlns:a16="http://schemas.microsoft.com/office/drawing/2014/main" id="{CBBCEE12-A225-3DA4-6943-413932AD33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78AB50-CEFC-7651-9C25-ED53A9045D2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67705" y="1573752"/>
            <a:ext cx="4027389" cy="4027389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7650E91-793E-CDF0-067F-19275C73E46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451833" y="2931159"/>
            <a:ext cx="3597872" cy="266998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FE9A7FA8-8D99-C173-1868-C1BB4B75D2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1834" y="2258030"/>
            <a:ext cx="3597871" cy="527241"/>
          </a:xfrm>
          <a:solidFill>
            <a:srgbClr val="FF5F03"/>
          </a:solidFill>
        </p:spPr>
        <p:txBody>
          <a:bodyPr>
            <a:noAutofit/>
          </a:bodyPr>
          <a:lstStyle>
            <a:lvl1pPr marL="0" indent="0">
              <a:buNone/>
              <a:defRPr sz="2800" b="1" i="1">
                <a:solidFill>
                  <a:srgbClr val="12284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C601D3-0BA7-6472-675C-37EA35F7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4889"/>
            <a:ext cx="1051559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12284B"/>
                </a:solidFill>
              </a:defRPr>
            </a:lvl1pPr>
          </a:lstStyle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B3EEC2-EDDE-B7A7-C48E-0E4B88203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10799897" y="222680"/>
            <a:ext cx="1701802" cy="512521"/>
          </a:xfrm>
          <a:prstGeom prst="rect">
            <a:avLst/>
          </a:prstGeom>
        </p:spPr>
      </p:pic>
      <p:sp>
        <p:nvSpPr>
          <p:cNvPr id="8" name="blue block">
            <a:extLst>
              <a:ext uri="{FF2B5EF4-FFF2-40B4-BE49-F238E27FC236}">
                <a16:creationId xmlns:a16="http://schemas.microsoft.com/office/drawing/2014/main" id="{5B584506-9787-ABFC-1C81-4CDBFEF9A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423334" y="5098656"/>
            <a:ext cx="609399" cy="240870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orange block">
            <a:extLst>
              <a:ext uri="{FF2B5EF4-FFF2-40B4-BE49-F238E27FC236}">
                <a16:creationId xmlns:a16="http://schemas.microsoft.com/office/drawing/2014/main" id="{C34DFD75-9757-0F21-B22B-DB9D89053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74671" y="6009354"/>
            <a:ext cx="609400" cy="587308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5F03"/>
              </a:solidFill>
            </a:endParaRP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1BF49AA5-57C6-7DB8-5CD9-040D17D5B6F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526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15361710-00BC-B71A-3367-BD6B3220F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3717"/>
          <a:stretch/>
        </p:blipFill>
        <p:spPr>
          <a:xfrm>
            <a:off x="2499169" y="2062736"/>
            <a:ext cx="2805525" cy="2802418"/>
          </a:xfrm>
          <a:prstGeom prst="ellipse">
            <a:avLst/>
          </a:prstGeom>
        </p:spPr>
      </p:pic>
      <p:pic>
        <p:nvPicPr>
          <p:cNvPr id="6" name="Picture 5" descr="University of Illinois logo in orange and blue.">
            <a:extLst>
              <a:ext uri="{FF2B5EF4-FFF2-40B4-BE49-F238E27FC236}">
                <a16:creationId xmlns:a16="http://schemas.microsoft.com/office/drawing/2014/main" id="{CBBCEE12-A225-3DA4-6943-413932AD33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78AB50-CEFC-7651-9C25-ED53A9045D2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34043" y="1762610"/>
            <a:ext cx="2892919" cy="2892919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C601D3-0BA7-6472-675C-37EA35F7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4889"/>
            <a:ext cx="1051559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12284B"/>
                </a:solidFill>
              </a:defRPr>
            </a:lvl1pPr>
          </a:lstStyle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DD484E-DED9-7CC1-33A7-4DC3073A1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3717"/>
          <a:stretch/>
        </p:blipFill>
        <p:spPr>
          <a:xfrm>
            <a:off x="6887307" y="2062736"/>
            <a:ext cx="2805525" cy="2802418"/>
          </a:xfrm>
          <a:prstGeom prst="ellipse">
            <a:avLst/>
          </a:prstGeom>
        </p:spPr>
      </p:pic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88036FCF-5C8C-06E5-AD21-1496C0CAACD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2181" y="1762610"/>
            <a:ext cx="2892919" cy="2892919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4082F21F-609E-E5C8-6116-83F7BF724C6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5784" y="5084153"/>
            <a:ext cx="2892919" cy="476781"/>
          </a:xfrm>
          <a:solidFill>
            <a:srgbClr val="FF5F03"/>
          </a:solidFill>
        </p:spPr>
        <p:txBody>
          <a:bodyPr>
            <a:noAutofit/>
          </a:bodyPr>
          <a:lstStyle>
            <a:lvl1pPr marL="0" indent="0" algn="ctr">
              <a:buNone/>
              <a:defRPr sz="2000" b="1" i="1">
                <a:solidFill>
                  <a:srgbClr val="12284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6CBAC12B-87FA-0A36-0FF9-D83FB43532B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34940" y="5084153"/>
            <a:ext cx="2892919" cy="476781"/>
          </a:xfrm>
          <a:solidFill>
            <a:srgbClr val="FF5F03"/>
          </a:solidFill>
        </p:spPr>
        <p:txBody>
          <a:bodyPr>
            <a:noAutofit/>
          </a:bodyPr>
          <a:lstStyle>
            <a:lvl1pPr marL="0" indent="0" algn="ctr">
              <a:buNone/>
              <a:defRPr sz="2000" b="1" i="1">
                <a:solidFill>
                  <a:srgbClr val="12284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F4C83A-9B10-9F80-1038-7DF9B483A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10799897" y="222680"/>
            <a:ext cx="1701802" cy="512521"/>
          </a:xfrm>
          <a:prstGeom prst="rect">
            <a:avLst/>
          </a:prstGeom>
        </p:spPr>
      </p:pic>
      <p:sp>
        <p:nvSpPr>
          <p:cNvPr id="11" name="blue block">
            <a:extLst>
              <a:ext uri="{FF2B5EF4-FFF2-40B4-BE49-F238E27FC236}">
                <a16:creationId xmlns:a16="http://schemas.microsoft.com/office/drawing/2014/main" id="{437F88F4-B262-65A6-172E-C5F5E297B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423334" y="5098656"/>
            <a:ext cx="609399" cy="240870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orange block">
            <a:extLst>
              <a:ext uri="{FF2B5EF4-FFF2-40B4-BE49-F238E27FC236}">
                <a16:creationId xmlns:a16="http://schemas.microsoft.com/office/drawing/2014/main" id="{DF6DAF69-8BB5-446C-0367-FC04DD6EE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74671" y="6009354"/>
            <a:ext cx="609400" cy="587308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5F03"/>
              </a:solidFill>
            </a:endParaRP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AAEA3CD2-66E7-8462-F1B1-7194D910AAD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08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15361710-00BC-B71A-3367-BD6B3220F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3717"/>
          <a:stretch/>
        </p:blipFill>
        <p:spPr>
          <a:xfrm>
            <a:off x="10338297" y="-1623057"/>
            <a:ext cx="3523064" cy="3519163"/>
          </a:xfrm>
          <a:prstGeom prst="ellipse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University of Illinois logo in orange and blue.">
            <a:extLst>
              <a:ext uri="{FF2B5EF4-FFF2-40B4-BE49-F238E27FC236}">
                <a16:creationId xmlns:a16="http://schemas.microsoft.com/office/drawing/2014/main" id="{CBBCEE12-A225-3DA4-6943-413932AD33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31F75B7-6486-C7B1-E57A-C53107BC0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546361"/>
            <a:ext cx="10515600" cy="4167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C601D3-0BA7-6472-675C-37EA35F7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4889"/>
            <a:ext cx="1051559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12284B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FE9A7FA8-8D99-C173-1868-C1BB4B75D2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57898"/>
            <a:ext cx="1805722" cy="264615"/>
          </a:xfrm>
          <a:solidFill>
            <a:srgbClr val="FF5F03"/>
          </a:solidFill>
        </p:spPr>
        <p:txBody>
          <a:bodyPr>
            <a:normAutofit/>
          </a:bodyPr>
          <a:lstStyle>
            <a:lvl1pPr marL="0" indent="0">
              <a:buNone/>
              <a:defRPr sz="1400" b="1" i="1">
                <a:solidFill>
                  <a:srgbClr val="12284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blue block">
            <a:extLst>
              <a:ext uri="{FF2B5EF4-FFF2-40B4-BE49-F238E27FC236}">
                <a16:creationId xmlns:a16="http://schemas.microsoft.com/office/drawing/2014/main" id="{EC831945-AF4C-B351-B165-EA23FBA37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423334" y="5098656"/>
            <a:ext cx="609399" cy="240870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orange block">
            <a:extLst>
              <a:ext uri="{FF2B5EF4-FFF2-40B4-BE49-F238E27FC236}">
                <a16:creationId xmlns:a16="http://schemas.microsoft.com/office/drawing/2014/main" id="{4420E344-A4C0-7E1A-3A7E-895D84EF3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74671" y="6009354"/>
            <a:ext cx="609400" cy="587308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5F03"/>
              </a:solidFill>
            </a:endParaRP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0830EB78-2310-E0FD-363E-EDDEA9EEAA3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09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University of Illinois logo in orange and blue.">
            <a:extLst>
              <a:ext uri="{FF2B5EF4-FFF2-40B4-BE49-F238E27FC236}">
                <a16:creationId xmlns:a16="http://schemas.microsoft.com/office/drawing/2014/main" id="{CBBCEE12-A225-3DA4-6943-413932AD33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31F75B7-6486-C7B1-E57A-C53107BC0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546361"/>
            <a:ext cx="10515600" cy="4167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C601D3-0BA7-6472-675C-37EA35F7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4889"/>
            <a:ext cx="1051559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12284B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FE9A7FA8-8D99-C173-1868-C1BB4B75D2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57898"/>
            <a:ext cx="1805722" cy="264615"/>
          </a:xfrm>
          <a:solidFill>
            <a:srgbClr val="FF5F03"/>
          </a:solidFill>
        </p:spPr>
        <p:txBody>
          <a:bodyPr>
            <a:noAutofit/>
          </a:bodyPr>
          <a:lstStyle>
            <a:lvl1pPr marL="0" indent="0">
              <a:buNone/>
              <a:defRPr lang="en-US" sz="1400" b="1" i="1" kern="1200" dirty="0">
                <a:solidFill>
                  <a:srgbClr val="12284B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7" name="Picture 6" descr="A red snake on a black background&#10;&#10;Description automatically generated">
            <a:extLst>
              <a:ext uri="{FF2B5EF4-FFF2-40B4-BE49-F238E27FC236}">
                <a16:creationId xmlns:a16="http://schemas.microsoft.com/office/drawing/2014/main" id="{7B048554-71C2-FFF2-1EB7-8378798E31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218556">
            <a:off x="9358629" y="-1352682"/>
            <a:ext cx="3382748" cy="4514052"/>
          </a:xfrm>
          <a:prstGeom prst="rect">
            <a:avLst/>
          </a:prstGeom>
        </p:spPr>
      </p:pic>
      <p:sp>
        <p:nvSpPr>
          <p:cNvPr id="5" name="blue block">
            <a:extLst>
              <a:ext uri="{FF2B5EF4-FFF2-40B4-BE49-F238E27FC236}">
                <a16:creationId xmlns:a16="http://schemas.microsoft.com/office/drawing/2014/main" id="{84D9C69C-9055-C1A0-4274-1B886868B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423334" y="5098656"/>
            <a:ext cx="609399" cy="240870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orange block">
            <a:extLst>
              <a:ext uri="{FF2B5EF4-FFF2-40B4-BE49-F238E27FC236}">
                <a16:creationId xmlns:a16="http://schemas.microsoft.com/office/drawing/2014/main" id="{DEDDFB02-EC37-24BC-78EA-C8C4A908B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74671" y="6009354"/>
            <a:ext cx="609400" cy="587308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5F03"/>
              </a:solidFill>
            </a:endParaRP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29D4F833-B34D-FD0C-4C93-45B40F89D29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31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15361710-00BC-B71A-3367-BD6B3220F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3717"/>
          <a:stretch/>
        </p:blipFill>
        <p:spPr>
          <a:xfrm>
            <a:off x="1647526" y="5714333"/>
            <a:ext cx="3523064" cy="3519163"/>
          </a:xfrm>
          <a:prstGeom prst="ellipse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University of Illinois logo in orange and blue.">
            <a:extLst>
              <a:ext uri="{FF2B5EF4-FFF2-40B4-BE49-F238E27FC236}">
                <a16:creationId xmlns:a16="http://schemas.microsoft.com/office/drawing/2014/main" id="{CBBCEE12-A225-3DA4-6943-413932AD33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31F75B7-6486-C7B1-E57A-C53107BC0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546361"/>
            <a:ext cx="10515600" cy="4167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C601D3-0BA7-6472-675C-37EA35F7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4889"/>
            <a:ext cx="1051559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12284B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FE9A7FA8-8D99-C173-1868-C1BB4B75D2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57898"/>
            <a:ext cx="1805722" cy="264615"/>
          </a:xfrm>
          <a:solidFill>
            <a:srgbClr val="FF5F03"/>
          </a:solidFill>
        </p:spPr>
        <p:txBody>
          <a:bodyPr>
            <a:normAutofit/>
          </a:bodyPr>
          <a:lstStyle>
            <a:lvl1pPr marL="0" indent="0">
              <a:buNone/>
              <a:defRPr sz="1400" b="1" i="1">
                <a:solidFill>
                  <a:srgbClr val="12284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blue block">
            <a:extLst>
              <a:ext uri="{FF2B5EF4-FFF2-40B4-BE49-F238E27FC236}">
                <a16:creationId xmlns:a16="http://schemas.microsoft.com/office/drawing/2014/main" id="{CDC3C47F-0C2C-D50F-D7CA-4D39D07E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423334" y="5098656"/>
            <a:ext cx="609399" cy="240870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orange block">
            <a:extLst>
              <a:ext uri="{FF2B5EF4-FFF2-40B4-BE49-F238E27FC236}">
                <a16:creationId xmlns:a16="http://schemas.microsoft.com/office/drawing/2014/main" id="{1735105F-A640-9742-CEDA-380DB7F33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74671" y="6009354"/>
            <a:ext cx="609400" cy="587308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5F03"/>
              </a:solidFill>
            </a:endParaRP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1BDD504-8529-0DF0-0951-9F4781450C5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33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University of Illinois logo in orange and blue.">
            <a:extLst>
              <a:ext uri="{FF2B5EF4-FFF2-40B4-BE49-F238E27FC236}">
                <a16:creationId xmlns:a16="http://schemas.microsoft.com/office/drawing/2014/main" id="{CBBCEE12-A225-3DA4-6943-413932AD33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C601D3-0BA7-6472-675C-37EA35F7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4889"/>
            <a:ext cx="1051559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12284B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FE9A7FA8-8D99-C173-1868-C1BB4B75D2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57898"/>
            <a:ext cx="1805722" cy="264615"/>
          </a:xfrm>
          <a:solidFill>
            <a:srgbClr val="FF5F03"/>
          </a:solidFill>
        </p:spPr>
        <p:txBody>
          <a:bodyPr>
            <a:normAutofit/>
          </a:bodyPr>
          <a:lstStyle>
            <a:lvl1pPr marL="0" indent="0">
              <a:buNone/>
              <a:defRPr sz="1400" b="1" i="1">
                <a:solidFill>
                  <a:srgbClr val="12284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7" name="Picture 6" descr="A red line on a black background&#10;&#10;Description automatically generated">
            <a:extLst>
              <a:ext uri="{FF2B5EF4-FFF2-40B4-BE49-F238E27FC236}">
                <a16:creationId xmlns:a16="http://schemas.microsoft.com/office/drawing/2014/main" id="{FAB66AE7-4809-BF0C-08FA-3C5019FB41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2357125">
            <a:off x="9727969" y="-1686194"/>
            <a:ext cx="3112030" cy="4152797"/>
          </a:xfrm>
          <a:prstGeom prst="rect">
            <a:avLst/>
          </a:prstGeom>
        </p:spPr>
      </p:pic>
      <p:sp>
        <p:nvSpPr>
          <p:cNvPr id="5" name="blue block">
            <a:extLst>
              <a:ext uri="{FF2B5EF4-FFF2-40B4-BE49-F238E27FC236}">
                <a16:creationId xmlns:a16="http://schemas.microsoft.com/office/drawing/2014/main" id="{1F99A1D1-35E6-D33C-ADF9-705317678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423334" y="5098656"/>
            <a:ext cx="609399" cy="240870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orange block">
            <a:extLst>
              <a:ext uri="{FF2B5EF4-FFF2-40B4-BE49-F238E27FC236}">
                <a16:creationId xmlns:a16="http://schemas.microsoft.com/office/drawing/2014/main" id="{144F0F26-7549-41A1-1883-C778249CA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74671" y="6009354"/>
            <a:ext cx="609400" cy="587308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5F03"/>
              </a:solidFill>
            </a:endParaRP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EBB5B77C-E8AE-C74A-8FBF-5405ABD8FD5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0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15361710-00BC-B71A-3367-BD6B3220F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3717"/>
          <a:stretch/>
        </p:blipFill>
        <p:spPr>
          <a:xfrm>
            <a:off x="-2687315" y="3763578"/>
            <a:ext cx="3523064" cy="3519163"/>
          </a:xfrm>
          <a:prstGeom prst="ellipse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University of Illinois logo in orange and blue.">
            <a:extLst>
              <a:ext uri="{FF2B5EF4-FFF2-40B4-BE49-F238E27FC236}">
                <a16:creationId xmlns:a16="http://schemas.microsoft.com/office/drawing/2014/main" id="{CBBCEE12-A225-3DA4-6943-413932AD33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14D6548-481B-4911-0FE7-2CC44E38113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94325" y="1546361"/>
            <a:ext cx="5161926" cy="4167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31F75B7-6486-C7B1-E57A-C53107BC0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546361"/>
            <a:ext cx="5159477" cy="4167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C601D3-0BA7-6472-675C-37EA35F7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4889"/>
            <a:ext cx="1051559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12284B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FE9A7FA8-8D99-C173-1868-C1BB4B75D2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57898"/>
            <a:ext cx="1805722" cy="264615"/>
          </a:xfrm>
          <a:solidFill>
            <a:srgbClr val="FF5F03"/>
          </a:solidFill>
        </p:spPr>
        <p:txBody>
          <a:bodyPr>
            <a:normAutofit/>
          </a:bodyPr>
          <a:lstStyle>
            <a:lvl1pPr marL="0" indent="0">
              <a:buNone/>
              <a:defRPr sz="1400" b="1" i="1">
                <a:solidFill>
                  <a:srgbClr val="12284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blue block">
            <a:extLst>
              <a:ext uri="{FF2B5EF4-FFF2-40B4-BE49-F238E27FC236}">
                <a16:creationId xmlns:a16="http://schemas.microsoft.com/office/drawing/2014/main" id="{9750B079-401B-1292-88B0-3C41FD2FD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423334" y="5098656"/>
            <a:ext cx="609399" cy="240870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orange block">
            <a:extLst>
              <a:ext uri="{FF2B5EF4-FFF2-40B4-BE49-F238E27FC236}">
                <a16:creationId xmlns:a16="http://schemas.microsoft.com/office/drawing/2014/main" id="{FDC5528D-BFC8-B7E7-ED77-08AB5035B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74671" y="6009354"/>
            <a:ext cx="609400" cy="587308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5F03"/>
              </a:solidFill>
            </a:endParaRP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7216E44-99F8-9F62-051C-67A23F62E4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71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15361710-00BC-B71A-3367-BD6B3220F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3717"/>
          <a:stretch/>
        </p:blipFill>
        <p:spPr>
          <a:xfrm>
            <a:off x="-1486632" y="-1112690"/>
            <a:ext cx="3523064" cy="3519163"/>
          </a:xfrm>
          <a:prstGeom prst="ellipse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C601D3-0BA7-6472-675C-37EA35F7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400" y="2692089"/>
            <a:ext cx="6113200" cy="12217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12284B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FE9A7FA8-8D99-C173-1868-C1BB4B75D2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93139" y="2206754"/>
            <a:ext cx="1805722" cy="264615"/>
          </a:xfrm>
          <a:solidFill>
            <a:srgbClr val="FF5F03"/>
          </a:solidFill>
        </p:spPr>
        <p:txBody>
          <a:bodyPr>
            <a:normAutofit/>
          </a:bodyPr>
          <a:lstStyle>
            <a:lvl1pPr marL="0" indent="0">
              <a:buNone/>
              <a:defRPr sz="1400" b="1" i="1">
                <a:solidFill>
                  <a:srgbClr val="12284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5" name="Picture 4" descr="University of Illinois logo in orange and blue.">
            <a:extLst>
              <a:ext uri="{FF2B5EF4-FFF2-40B4-BE49-F238E27FC236}">
                <a16:creationId xmlns:a16="http://schemas.microsoft.com/office/drawing/2014/main" id="{7B3A3C4E-38A7-35CE-D38D-869D2E92D6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pic>
        <p:nvPicPr>
          <p:cNvPr id="8" name="Picture 7" descr="A orange line on a black background&#10;&#10;Description automatically generated">
            <a:extLst>
              <a:ext uri="{FF2B5EF4-FFF2-40B4-BE49-F238E27FC236}">
                <a16:creationId xmlns:a16="http://schemas.microsoft.com/office/drawing/2014/main" id="{273D768B-B555-765D-7FBA-67A659E37CB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1367995">
            <a:off x="8968669" y="-1913601"/>
            <a:ext cx="3778679" cy="5042395"/>
          </a:xfrm>
          <a:prstGeom prst="rect">
            <a:avLst/>
          </a:prstGeom>
        </p:spPr>
      </p:pic>
      <p:sp>
        <p:nvSpPr>
          <p:cNvPr id="2" name="blue block">
            <a:extLst>
              <a:ext uri="{FF2B5EF4-FFF2-40B4-BE49-F238E27FC236}">
                <a16:creationId xmlns:a16="http://schemas.microsoft.com/office/drawing/2014/main" id="{88D2DF15-B3CD-8B55-7E33-46C6D8782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423334" y="5098656"/>
            <a:ext cx="609399" cy="240870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orange block">
            <a:extLst>
              <a:ext uri="{FF2B5EF4-FFF2-40B4-BE49-F238E27FC236}">
                <a16:creationId xmlns:a16="http://schemas.microsoft.com/office/drawing/2014/main" id="{DA14BE9B-922E-2A24-68CA-A0EAF5F7D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74671" y="6009354"/>
            <a:ext cx="609400" cy="587308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5F03"/>
              </a:solidFill>
            </a:endParaRP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D8F3C57C-0A12-884E-441E-6D2F61E9F65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753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15361710-00BC-B71A-3367-BD6B3220F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3717"/>
          <a:stretch/>
        </p:blipFill>
        <p:spPr>
          <a:xfrm>
            <a:off x="9982200" y="-1656341"/>
            <a:ext cx="3523064" cy="3519163"/>
          </a:xfrm>
          <a:prstGeom prst="ellipse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University of Illinois logo in orange and blue.">
            <a:extLst>
              <a:ext uri="{FF2B5EF4-FFF2-40B4-BE49-F238E27FC236}">
                <a16:creationId xmlns:a16="http://schemas.microsoft.com/office/drawing/2014/main" id="{CBBCEE12-A225-3DA4-6943-413932AD33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31F75B7-6486-C7B1-E57A-C53107BC0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27001" y="3554813"/>
            <a:ext cx="5525718" cy="609400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1">
                <a:latin typeface="Arial Narrow" panose="020B0604020202020204" pitchFamily="34" charset="0"/>
                <a:ea typeface="Source Sans Pro ExtraLight" panose="020B0303030403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C601D3-0BA7-6472-675C-37EA35F7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9280" y="2149138"/>
            <a:ext cx="5513439" cy="13102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12284B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1A03F0-B444-A66D-A593-AA89C0AF1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3472264">
            <a:off x="-530003" y="-1158770"/>
            <a:ext cx="4178152" cy="5575466"/>
          </a:xfrm>
          <a:prstGeom prst="rect">
            <a:avLst/>
          </a:prstGeom>
        </p:spPr>
      </p:pic>
      <p:sp>
        <p:nvSpPr>
          <p:cNvPr id="5" name="blue block">
            <a:extLst>
              <a:ext uri="{FF2B5EF4-FFF2-40B4-BE49-F238E27FC236}">
                <a16:creationId xmlns:a16="http://schemas.microsoft.com/office/drawing/2014/main" id="{8BCB94E7-136F-1B19-1FAE-FEA40E832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423334" y="5098656"/>
            <a:ext cx="609399" cy="240870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orange block">
            <a:extLst>
              <a:ext uri="{FF2B5EF4-FFF2-40B4-BE49-F238E27FC236}">
                <a16:creationId xmlns:a16="http://schemas.microsoft.com/office/drawing/2014/main" id="{6157C673-4AB7-AB8D-EB1C-F424D9637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74671" y="6009354"/>
            <a:ext cx="609400" cy="587308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5F03"/>
              </a:solidFill>
            </a:endParaRP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0B85B67C-A031-3971-5EF1-8BEA11A12D5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34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1EE3AD37-BD56-155C-4E92-8552CE45EB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8200" y="2122388"/>
            <a:ext cx="341522" cy="341522"/>
          </a:xfrm>
          <a:prstGeom prst="ellipse">
            <a:avLst/>
          </a:prstGeom>
          <a:solidFill>
            <a:srgbClr val="12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4D5AA1D-CE2F-5558-245F-3F1C03B3B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06947" y="2108251"/>
            <a:ext cx="341522" cy="341522"/>
          </a:xfrm>
          <a:prstGeom prst="ellipse">
            <a:avLst/>
          </a:prstGeom>
          <a:solidFill>
            <a:srgbClr val="12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F66F6DE-CA40-6914-2F07-867ECFEE7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1574" y="2108251"/>
            <a:ext cx="341522" cy="341522"/>
          </a:xfrm>
          <a:prstGeom prst="ellipse">
            <a:avLst/>
          </a:prstGeom>
          <a:solidFill>
            <a:srgbClr val="12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C65960C-E050-D410-2DA2-25B7898B8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70321" y="2116877"/>
            <a:ext cx="341522" cy="341522"/>
          </a:xfrm>
          <a:prstGeom prst="ellipse">
            <a:avLst/>
          </a:prstGeom>
          <a:solidFill>
            <a:srgbClr val="1228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ECCA00D-4612-8333-644C-E649C90A2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05367" y="2287638"/>
            <a:ext cx="6835715" cy="0"/>
          </a:xfrm>
          <a:prstGeom prst="line">
            <a:avLst/>
          </a:prstGeom>
          <a:ln w="38100">
            <a:solidFill>
              <a:srgbClr val="122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602A79-EE87-FB46-B3D4-392DDD824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University of Illinois logo in orange and blue.">
            <a:extLst>
              <a:ext uri="{FF2B5EF4-FFF2-40B4-BE49-F238E27FC236}">
                <a16:creationId xmlns:a16="http://schemas.microsoft.com/office/drawing/2014/main" id="{CA76C48D-E684-6F3D-D086-6154DA480C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1246520-80AB-BE75-3ACC-86881EF850F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79675" y="3693530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dirty="0">
                <a:solidFill>
                  <a:schemeClr val="tx1"/>
                </a:solidFill>
                <a:latin typeface="Georgia" panose="02040502050405020303" pitchFamily="18" charset="0"/>
                <a:ea typeface="Source Sans Pro ExtraLight" panose="020B03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F0FC4DC-6E88-C1A6-C45D-98BE7D1AF6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79675" y="2790664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lang="en-US" sz="2800" b="1" i="0" kern="1200" dirty="0">
                <a:solidFill>
                  <a:schemeClr val="tx1"/>
                </a:solidFill>
                <a:latin typeface="Arial Black" panose="020B0604020202020204" pitchFamily="34" charset="0"/>
                <a:ea typeface="Source Sans Pro" panose="020B0503030403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E38F62B-961D-0DE7-9EC1-0973D5D819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99183" y="3693530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dirty="0">
                <a:solidFill>
                  <a:schemeClr val="tx1"/>
                </a:solidFill>
                <a:latin typeface="Georgia" panose="02040502050405020303" pitchFamily="18" charset="0"/>
                <a:ea typeface="Source Sans Pro ExtraLight" panose="020B03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57E2C8C-337A-FC09-DE74-4A56AAF7AB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99184" y="2779648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lang="en-US" sz="2800" b="1" i="0" kern="1200" dirty="0">
                <a:solidFill>
                  <a:schemeClr val="tx1"/>
                </a:solidFill>
                <a:latin typeface="Arial Black" panose="020B0604020202020204" pitchFamily="34" charset="0"/>
                <a:ea typeface="Source Sans Pro" panose="020B0503030403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E3D59774-0105-B649-B9FA-AF68838B97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07675" y="3693530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dirty="0">
                <a:solidFill>
                  <a:schemeClr val="tx1"/>
                </a:solidFill>
                <a:latin typeface="Georgia" panose="02040502050405020303" pitchFamily="18" charset="0"/>
                <a:ea typeface="Source Sans Pro ExtraLight" panose="020B0303030403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B494172-3C9A-E31F-E28C-0462436A05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18692" y="2779131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lang="en-US" sz="2800" b="1" i="0" kern="1200" dirty="0">
                <a:solidFill>
                  <a:schemeClr val="tx1"/>
                </a:solidFill>
                <a:latin typeface="Arial Black" panose="020B0604020202020204" pitchFamily="34" charset="0"/>
                <a:ea typeface="Source Sans Pro" panose="020B0503030403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E2E4B6E-A490-12A1-BB7C-79359243F4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0" y="3693530"/>
            <a:ext cx="1893983" cy="792698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Georgia" panose="02040502050405020303" pitchFamily="18" charset="0"/>
                <a:ea typeface="Source Sans Pro ExtraLight" panose="020B0303030403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375C42-1321-F93A-90B0-48A69D1400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768114"/>
            <a:ext cx="1893983" cy="792698"/>
          </a:xfrm>
        </p:spPr>
        <p:txBody>
          <a:bodyPr/>
          <a:lstStyle>
            <a:lvl1pPr marL="0" indent="0">
              <a:buNone/>
              <a:defRPr b="1" i="0"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3D0820B7-9F68-ED9C-8699-47DF87E8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684"/>
            <a:ext cx="10515600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F5F0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id="{12D4526A-03BC-D456-F8D5-E1DAD2B762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8201" y="257898"/>
            <a:ext cx="1805722" cy="264615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1400" b="1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" name="blue block">
            <a:extLst>
              <a:ext uri="{FF2B5EF4-FFF2-40B4-BE49-F238E27FC236}">
                <a16:creationId xmlns:a16="http://schemas.microsoft.com/office/drawing/2014/main" id="{BBBFCBDA-5E30-94C6-AE3A-D10BA5768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423334" y="5098656"/>
            <a:ext cx="609399" cy="240870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orange block">
            <a:extLst>
              <a:ext uri="{FF2B5EF4-FFF2-40B4-BE49-F238E27FC236}">
                <a16:creationId xmlns:a16="http://schemas.microsoft.com/office/drawing/2014/main" id="{AC9D7B6B-6C72-1102-219B-4D872C955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74671" y="6009354"/>
            <a:ext cx="609400" cy="587308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5F03"/>
              </a:solidFill>
            </a:endParaRP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47B8EE5-7D31-6C0F-3686-B95BC93544A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75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16660C-E0F7-3E18-4068-ACDBCE42C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7146" y="477334"/>
            <a:ext cx="5484598" cy="5410119"/>
          </a:xfrm>
          <a:prstGeom prst="rect">
            <a:avLst/>
          </a:prstGeom>
          <a:solidFill>
            <a:srgbClr val="122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2284B"/>
                </a:solidFill>
              </a:defRPr>
            </a:lvl1pPr>
          </a:lstStyle>
          <a:p>
            <a:fld id="{2385DA76-2DD3-144A-9C84-6B8D9531DA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University of Illinois logo in orange and blue.">
            <a:extLst>
              <a:ext uri="{FF2B5EF4-FFF2-40B4-BE49-F238E27FC236}">
                <a16:creationId xmlns:a16="http://schemas.microsoft.com/office/drawing/2014/main" id="{D7ACF882-7C4C-E08B-F08C-D8507A35AA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65DE9B2-E3FC-02E2-7F8C-6661F7A238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36289" y="264290"/>
            <a:ext cx="5484812" cy="541020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31F75B7-6486-C7B1-E57A-C53107BC0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546361"/>
            <a:ext cx="4988065" cy="4167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C601D3-0BA7-6472-675C-37EA35F7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4889"/>
            <a:ext cx="4988059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12284B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FE9A7FA8-8D99-C173-1868-C1BB4B75D2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257898"/>
            <a:ext cx="1805722" cy="264615"/>
          </a:xfrm>
          <a:solidFill>
            <a:srgbClr val="FF5F03"/>
          </a:solidFill>
        </p:spPr>
        <p:txBody>
          <a:bodyPr>
            <a:normAutofit/>
          </a:bodyPr>
          <a:lstStyle>
            <a:lvl1pPr marL="0" indent="0">
              <a:buNone/>
              <a:defRPr sz="1400" b="1" i="1">
                <a:solidFill>
                  <a:srgbClr val="12284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0" name="Picture 9" descr="A orange line on a black background&#10;&#10;Description automatically generated">
            <a:extLst>
              <a:ext uri="{FF2B5EF4-FFF2-40B4-BE49-F238E27FC236}">
                <a16:creationId xmlns:a16="http://schemas.microsoft.com/office/drawing/2014/main" id="{281D7D7E-6558-CADE-E381-8358FFE21D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26243">
            <a:off x="-1997056" y="1851308"/>
            <a:ext cx="2983738" cy="3981600"/>
          </a:xfrm>
          <a:prstGeom prst="rect">
            <a:avLst/>
          </a:prstGeom>
        </p:spPr>
      </p:pic>
      <p:sp>
        <p:nvSpPr>
          <p:cNvPr id="6" name="blue block">
            <a:extLst>
              <a:ext uri="{FF2B5EF4-FFF2-40B4-BE49-F238E27FC236}">
                <a16:creationId xmlns:a16="http://schemas.microsoft.com/office/drawing/2014/main" id="{FA384FCB-8B98-691B-BC8B-285C454FD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423334" y="5098656"/>
            <a:ext cx="609399" cy="240870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orange block">
            <a:extLst>
              <a:ext uri="{FF2B5EF4-FFF2-40B4-BE49-F238E27FC236}">
                <a16:creationId xmlns:a16="http://schemas.microsoft.com/office/drawing/2014/main" id="{D71B21F4-4B1C-F44B-DA56-CC21DA826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74671" y="6009354"/>
            <a:ext cx="609400" cy="587308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5F03"/>
              </a:solidFill>
            </a:endParaRP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72D4E848-FE97-3411-5F4F-48DDA0C963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12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iversity of Illinois logo in orange and blue.">
            <a:extLst>
              <a:ext uri="{FF2B5EF4-FFF2-40B4-BE49-F238E27FC236}">
                <a16:creationId xmlns:a16="http://schemas.microsoft.com/office/drawing/2014/main" id="{D7ACF882-7C4C-E08B-F08C-D8507A35AA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2284B"/>
                </a:solidFill>
              </a:defRPr>
            </a:lvl1pPr>
          </a:lstStyle>
          <a:p>
            <a:fld id="{2385DA76-2DD3-144A-9C84-6B8D9531DA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65DE9B2-E3FC-02E2-7F8C-6661F7A238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4831" y="283366"/>
            <a:ext cx="5354922" cy="5409448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31F75B7-6486-C7B1-E57A-C53107BC0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344" y="1562173"/>
            <a:ext cx="5236506" cy="41306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CFC601D3-0BA7-6472-675C-37EA35F72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3344" y="706910"/>
            <a:ext cx="5236503" cy="599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12284B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FE9A7FA8-8D99-C173-1868-C1BB4B75D2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5412" y="282409"/>
            <a:ext cx="1805722" cy="264615"/>
          </a:xfrm>
          <a:solidFill>
            <a:srgbClr val="FF5F03"/>
          </a:solidFill>
        </p:spPr>
        <p:txBody>
          <a:bodyPr>
            <a:normAutofit/>
          </a:bodyPr>
          <a:lstStyle>
            <a:lvl1pPr marL="0" indent="0">
              <a:buNone/>
              <a:defRPr sz="1400" b="1" i="1">
                <a:solidFill>
                  <a:srgbClr val="12284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" name="blue block">
            <a:extLst>
              <a:ext uri="{FF2B5EF4-FFF2-40B4-BE49-F238E27FC236}">
                <a16:creationId xmlns:a16="http://schemas.microsoft.com/office/drawing/2014/main" id="{DDAC9B90-C585-EC10-1877-E6FB7A35C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423334" y="5098656"/>
            <a:ext cx="609399" cy="240870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orange block">
            <a:extLst>
              <a:ext uri="{FF2B5EF4-FFF2-40B4-BE49-F238E27FC236}">
                <a16:creationId xmlns:a16="http://schemas.microsoft.com/office/drawing/2014/main" id="{3C3D7F13-792D-66C9-08D6-CB27F9B49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74671" y="6009354"/>
            <a:ext cx="609400" cy="587308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5F03"/>
              </a:solidFill>
            </a:endParaRP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5F15447E-84A0-34F8-0C8B-6B68D26EA1C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32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15361710-00BC-B71A-3367-BD6B3220F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3717"/>
          <a:stretch/>
        </p:blipFill>
        <p:spPr>
          <a:xfrm>
            <a:off x="1822581" y="5807076"/>
            <a:ext cx="3523064" cy="3519163"/>
          </a:xfrm>
          <a:prstGeom prst="ellipse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University of Illinois logo in orange and blue.">
            <a:extLst>
              <a:ext uri="{FF2B5EF4-FFF2-40B4-BE49-F238E27FC236}">
                <a16:creationId xmlns:a16="http://schemas.microsoft.com/office/drawing/2014/main" id="{CBBCEE12-A225-3DA4-6943-413932AD33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6B412AC-0427-5E4D-7CBB-44CC2995018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6643" y="377425"/>
            <a:ext cx="11505089" cy="5484896"/>
          </a:xfrm>
        </p:spPr>
        <p:txBody>
          <a:bodyPr/>
          <a:lstStyle/>
          <a:p>
            <a:endParaRPr lang="en-US"/>
          </a:p>
        </p:txBody>
      </p:sp>
      <p:sp>
        <p:nvSpPr>
          <p:cNvPr id="2" name="blue block">
            <a:extLst>
              <a:ext uri="{FF2B5EF4-FFF2-40B4-BE49-F238E27FC236}">
                <a16:creationId xmlns:a16="http://schemas.microsoft.com/office/drawing/2014/main" id="{014F97F4-C5B0-D79E-1ED7-BAE40ECB0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423334" y="5098656"/>
            <a:ext cx="609399" cy="240870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orange block">
            <a:extLst>
              <a:ext uri="{FF2B5EF4-FFF2-40B4-BE49-F238E27FC236}">
                <a16:creationId xmlns:a16="http://schemas.microsoft.com/office/drawing/2014/main" id="{DD803DE8-5926-868C-189D-0EB939F81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74671" y="6009354"/>
            <a:ext cx="609400" cy="587308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5F03"/>
              </a:solidFill>
            </a:endParaRP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930470A2-4DF4-3ADC-A7DF-2B8BB472EE3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72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15361710-00BC-B71A-3367-BD6B3220F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3717"/>
          <a:stretch/>
        </p:blipFill>
        <p:spPr>
          <a:xfrm>
            <a:off x="10284001" y="-1623057"/>
            <a:ext cx="3523064" cy="3519163"/>
          </a:xfrm>
          <a:prstGeom prst="ellipse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University of Illinois logo in orange and blue.">
            <a:extLst>
              <a:ext uri="{FF2B5EF4-FFF2-40B4-BE49-F238E27FC236}">
                <a16:creationId xmlns:a16="http://schemas.microsoft.com/office/drawing/2014/main" id="{CBBCEE12-A225-3DA4-6943-413932AD33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6B412AC-0427-5E4D-7CBB-44CC2995018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6643" y="377425"/>
            <a:ext cx="11505089" cy="5484896"/>
          </a:xfrm>
        </p:spPr>
        <p:txBody>
          <a:bodyPr/>
          <a:lstStyle/>
          <a:p>
            <a:endParaRPr lang="en-US"/>
          </a:p>
        </p:txBody>
      </p:sp>
      <p:sp>
        <p:nvSpPr>
          <p:cNvPr id="2" name="blue block">
            <a:extLst>
              <a:ext uri="{FF2B5EF4-FFF2-40B4-BE49-F238E27FC236}">
                <a16:creationId xmlns:a16="http://schemas.microsoft.com/office/drawing/2014/main" id="{ED42E758-18CD-A2AE-3989-8E422E1BA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423334" y="5098656"/>
            <a:ext cx="609399" cy="240870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orange block">
            <a:extLst>
              <a:ext uri="{FF2B5EF4-FFF2-40B4-BE49-F238E27FC236}">
                <a16:creationId xmlns:a16="http://schemas.microsoft.com/office/drawing/2014/main" id="{720917A9-6C95-5988-75AF-C0BE0824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74671" y="6009354"/>
            <a:ext cx="609400" cy="587308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5F03"/>
              </a:solidFill>
            </a:endParaRP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645C08D-DC0B-4621-DCCC-0D4D00B54AC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2523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15361710-00BC-B71A-3367-BD6B3220F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3717"/>
          <a:stretch/>
        </p:blipFill>
        <p:spPr>
          <a:xfrm>
            <a:off x="1822581" y="5807076"/>
            <a:ext cx="3523064" cy="3519163"/>
          </a:xfrm>
          <a:prstGeom prst="ellipse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University of Illinois logo in orange and blue.">
            <a:extLst>
              <a:ext uri="{FF2B5EF4-FFF2-40B4-BE49-F238E27FC236}">
                <a16:creationId xmlns:a16="http://schemas.microsoft.com/office/drawing/2014/main" id="{CBBCEE12-A225-3DA4-6943-413932AD33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A7F8EFAB-552E-F569-DEF2-AFB90AEDDDF4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343421" y="352424"/>
            <a:ext cx="11505157" cy="5454651"/>
          </a:xfrm>
        </p:spPr>
        <p:txBody>
          <a:bodyPr/>
          <a:lstStyle/>
          <a:p>
            <a:endParaRPr lang="en-US"/>
          </a:p>
        </p:txBody>
      </p:sp>
      <p:sp>
        <p:nvSpPr>
          <p:cNvPr id="2" name="blue block">
            <a:extLst>
              <a:ext uri="{FF2B5EF4-FFF2-40B4-BE49-F238E27FC236}">
                <a16:creationId xmlns:a16="http://schemas.microsoft.com/office/drawing/2014/main" id="{26B27E1C-4AA2-9B35-D9D7-6E09EECF4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423334" y="5098656"/>
            <a:ext cx="609399" cy="240870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orange block">
            <a:extLst>
              <a:ext uri="{FF2B5EF4-FFF2-40B4-BE49-F238E27FC236}">
                <a16:creationId xmlns:a16="http://schemas.microsoft.com/office/drawing/2014/main" id="{1A2AC7B3-F231-FE72-4531-A1E1AF460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74671" y="6009354"/>
            <a:ext cx="609400" cy="587308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5F03"/>
              </a:solidFill>
            </a:endParaRP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AE89F724-BFA9-0F11-A9B0-BFFB118508A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665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12FE21-047A-885A-74D9-0B8C60DF0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216731">
            <a:off x="8637564" y="-2104813"/>
            <a:ext cx="4178152" cy="5575466"/>
          </a:xfrm>
          <a:prstGeom prst="rect">
            <a:avLst/>
          </a:prstGeom>
        </p:spPr>
      </p:pic>
      <p:grpSp>
        <p:nvGrpSpPr>
          <p:cNvPr id="2" name="Google Shape;973;p58">
            <a:extLst>
              <a:ext uri="{FF2B5EF4-FFF2-40B4-BE49-F238E27FC236}">
                <a16:creationId xmlns:a16="http://schemas.microsoft.com/office/drawing/2014/main" id="{CE342129-4D5F-AA31-7ED5-482C89114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22581" y="282409"/>
            <a:ext cx="8353076" cy="6073941"/>
            <a:chOff x="331763" y="414153"/>
            <a:chExt cx="6903246" cy="5019697"/>
          </a:xfrm>
        </p:grpSpPr>
        <p:sp>
          <p:nvSpPr>
            <p:cNvPr id="5" name="Google Shape;974;p58">
              <a:extLst>
                <a:ext uri="{FF2B5EF4-FFF2-40B4-BE49-F238E27FC236}">
                  <a16:creationId xmlns:a16="http://schemas.microsoft.com/office/drawing/2014/main" id="{B776739A-A815-E62E-7DF3-118F31D58540}"/>
                </a:ext>
              </a:extLst>
            </p:cNvPr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75;p58">
              <a:extLst>
                <a:ext uri="{FF2B5EF4-FFF2-40B4-BE49-F238E27FC236}">
                  <a16:creationId xmlns:a16="http://schemas.microsoft.com/office/drawing/2014/main" id="{1F16624C-43C2-BE9F-AF67-3EA8DF3BAED9}"/>
                </a:ext>
              </a:extLst>
            </p:cNvPr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76;p58">
              <a:extLst>
                <a:ext uri="{FF2B5EF4-FFF2-40B4-BE49-F238E27FC236}">
                  <a16:creationId xmlns:a16="http://schemas.microsoft.com/office/drawing/2014/main" id="{F1128113-7F07-F0DC-5290-4E8B427BEA19}"/>
                </a:ext>
              </a:extLst>
            </p:cNvPr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15361710-00BC-B71A-3367-BD6B3220F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3717"/>
          <a:stretch/>
        </p:blipFill>
        <p:spPr>
          <a:xfrm>
            <a:off x="1385369" y="5687387"/>
            <a:ext cx="3523064" cy="3519163"/>
          </a:xfrm>
          <a:prstGeom prst="ellipse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University of Illinois logo in orange and blue.">
            <a:extLst>
              <a:ext uri="{FF2B5EF4-FFF2-40B4-BE49-F238E27FC236}">
                <a16:creationId xmlns:a16="http://schemas.microsoft.com/office/drawing/2014/main" id="{CBBCEE12-A225-3DA4-6943-413932AD336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9852" y="5998310"/>
            <a:ext cx="421892" cy="609400"/>
          </a:xfrm>
          <a:prstGeom prst="rect">
            <a:avLst/>
          </a:prstGeom>
        </p:spPr>
      </p:pic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A7F8EFAB-552E-F569-DEF2-AFB90AEDDDF4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969020" y="419100"/>
            <a:ext cx="8060805" cy="49025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blue block">
            <a:extLst>
              <a:ext uri="{FF2B5EF4-FFF2-40B4-BE49-F238E27FC236}">
                <a16:creationId xmlns:a16="http://schemas.microsoft.com/office/drawing/2014/main" id="{77C6FF88-3B55-CC3B-A766-B5C0ED1F2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423334" y="5098656"/>
            <a:ext cx="609399" cy="240870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orange block">
            <a:extLst>
              <a:ext uri="{FF2B5EF4-FFF2-40B4-BE49-F238E27FC236}">
                <a16:creationId xmlns:a16="http://schemas.microsoft.com/office/drawing/2014/main" id="{6992ADC3-C367-1451-A7A4-B974FAF3E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74671" y="6009354"/>
            <a:ext cx="609400" cy="587308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5F03"/>
              </a:solidFill>
            </a:endParaRP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0B96B19D-2AC7-2599-85FC-8B374D694D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642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orange line on a black background&#10;&#10;Description automatically generated">
            <a:extLst>
              <a:ext uri="{FF2B5EF4-FFF2-40B4-BE49-F238E27FC236}">
                <a16:creationId xmlns:a16="http://schemas.microsoft.com/office/drawing/2014/main" id="{C33C2C87-DF99-04C2-B816-AD8533F44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63301" y="2197769"/>
            <a:ext cx="4126602" cy="550667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E5085CE-21A5-AB32-4D42-1BBCD532E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3717"/>
          <a:stretch/>
        </p:blipFill>
        <p:spPr>
          <a:xfrm>
            <a:off x="10239138" y="-1814174"/>
            <a:ext cx="3905723" cy="3901398"/>
          </a:xfrm>
          <a:prstGeom prst="ellipse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A6C86-0C3F-AA68-4A10-1854D423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pic>
        <p:nvPicPr>
          <p:cNvPr id="23" name="Picture 22" descr="Illinois Wordmark in orange and blue.">
            <a:extLst>
              <a:ext uri="{FF2B5EF4-FFF2-40B4-BE49-F238E27FC236}">
                <a16:creationId xmlns:a16="http://schemas.microsoft.com/office/drawing/2014/main" id="{FC6B2217-94D3-53DE-D5EA-B585CDA1AD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4070" y="3647484"/>
            <a:ext cx="2943860" cy="710780"/>
          </a:xfrm>
          <a:prstGeom prst="rect">
            <a:avLst/>
          </a:prstGeom>
        </p:spPr>
      </p:pic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FE9A7FA8-8D99-C173-1868-C1BB4B75D2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94331" y="2479040"/>
            <a:ext cx="7203338" cy="949960"/>
          </a:xfrm>
          <a:solidFill>
            <a:srgbClr val="12284B"/>
          </a:solidFill>
        </p:spPr>
        <p:txBody>
          <a:bodyPr>
            <a:noAutofit/>
          </a:bodyPr>
          <a:lstStyle>
            <a:lvl1pPr marL="0" indent="0" algn="ctr">
              <a:buNone/>
              <a:defRPr sz="7200" b="1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YOU!</a:t>
            </a:r>
          </a:p>
        </p:txBody>
      </p:sp>
      <p:sp>
        <p:nvSpPr>
          <p:cNvPr id="2" name="Text Placeholder 41">
            <a:extLst>
              <a:ext uri="{FF2B5EF4-FFF2-40B4-BE49-F238E27FC236}">
                <a16:creationId xmlns:a16="http://schemas.microsoft.com/office/drawing/2014/main" id="{3C31E721-6F13-D8A7-083C-637BABD214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62000" y="4576748"/>
            <a:ext cx="1667999" cy="520852"/>
          </a:xfrm>
          <a:noFill/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000" b="0" i="0" u="none">
                <a:solidFill>
                  <a:srgbClr val="12284B"/>
                </a:solidFill>
                <a:latin typeface="Georgia" panose="02040502050405020303" pitchFamily="18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blue block">
            <a:extLst>
              <a:ext uri="{FF2B5EF4-FFF2-40B4-BE49-F238E27FC236}">
                <a16:creationId xmlns:a16="http://schemas.microsoft.com/office/drawing/2014/main" id="{A9A37D15-0FB6-DAE4-E03F-A5D779113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1423334" y="5098656"/>
            <a:ext cx="609399" cy="240870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orange block">
            <a:extLst>
              <a:ext uri="{FF2B5EF4-FFF2-40B4-BE49-F238E27FC236}">
                <a16:creationId xmlns:a16="http://schemas.microsoft.com/office/drawing/2014/main" id="{11CD5241-B2AE-FDD3-9521-34E8C5578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74671" y="6009354"/>
            <a:ext cx="609400" cy="587308"/>
          </a:xfrm>
          <a:prstGeom prst="rect">
            <a:avLst/>
          </a:prstGeom>
          <a:solidFill>
            <a:srgbClr val="FF5F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5F03"/>
              </a:solidFill>
            </a:endParaRP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E5D4AA37-4436-1FFD-D940-6D3EA41E2A1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541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325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30FBF-1394-4B2F-259A-7BBAA5666F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2284B"/>
                </a:solidFill>
                <a:latin typeface="Georgia" panose="02040502050405020303" pitchFamily="18" charset="0"/>
              </a:defRPr>
            </a:lvl1pPr>
          </a:lstStyle>
          <a:p>
            <a:fld id="{2385DA76-2DD3-144A-9C84-6B8D9531DA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7884A-98FD-E13E-88CA-52A9BB3B5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697BB7-053E-8DA9-7A56-8DC39FE27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490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08" r:id="rId2"/>
    <p:sldLayoutId id="2147483700" r:id="rId3"/>
    <p:sldLayoutId id="2147483709" r:id="rId4"/>
    <p:sldLayoutId id="2147483692" r:id="rId5"/>
    <p:sldLayoutId id="2147483660" r:id="rId6"/>
    <p:sldLayoutId id="2147483693" r:id="rId7"/>
    <p:sldLayoutId id="2147483697" r:id="rId8"/>
    <p:sldLayoutId id="2147483696" r:id="rId9"/>
    <p:sldLayoutId id="2147483694" r:id="rId10"/>
    <p:sldLayoutId id="2147483695" r:id="rId11"/>
    <p:sldLayoutId id="2147483688" r:id="rId12"/>
    <p:sldLayoutId id="2147483701" r:id="rId13"/>
    <p:sldLayoutId id="2147483705" r:id="rId14"/>
    <p:sldLayoutId id="2147483702" r:id="rId15"/>
    <p:sldLayoutId id="2147483710" r:id="rId16"/>
    <p:sldLayoutId id="2147483706" r:id="rId17"/>
    <p:sldLayoutId id="2147483707" r:id="rId18"/>
    <p:sldLayoutId id="2147483704" r:id="rId19"/>
    <p:sldLayoutId id="2147483703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FF5F03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Source Sans Pro" panose="020B0503030403020204" pitchFamily="34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Source Sans Pro" panose="020B0503030403020204" pitchFamily="34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Source Sans Pro" panose="020B0503030403020204" pitchFamily="34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Source Sans Pro" panose="020B0503030403020204" pitchFamily="34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Source Sans Pro" panose="020B050303040302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15.png"/><Relationship Id="rId7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15.png"/><Relationship Id="rId7" Type="http://schemas.openxmlformats.org/officeDocument/2006/relationships/image" Target="../media/image2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sv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5" Type="http://schemas.openxmlformats.org/officeDocument/2006/relationships/image" Target="../media/image37.sv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5.svg"/><Relationship Id="rId7" Type="http://schemas.openxmlformats.org/officeDocument/2006/relationships/image" Target="../media/image49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45.svg"/><Relationship Id="rId5" Type="http://schemas.openxmlformats.org/officeDocument/2006/relationships/image" Target="../media/image37.svg"/><Relationship Id="rId10" Type="http://schemas.openxmlformats.org/officeDocument/2006/relationships/image" Target="../media/image44.png"/><Relationship Id="rId4" Type="http://schemas.openxmlformats.org/officeDocument/2006/relationships/image" Target="../media/image36.png"/><Relationship Id="rId9" Type="http://schemas.openxmlformats.org/officeDocument/2006/relationships/image" Target="../media/image43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C14FF2-F315-5C2E-CBD1-B1AFD9B1B0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0">
                <a:latin typeface="Arial Black"/>
              </a:rPr>
              <a:t>Home Depot vs. Lowe’s </a:t>
            </a:r>
            <a:r>
              <a:rPr lang="en-US" sz="2000" b="0">
                <a:solidFill>
                  <a:schemeClr val="tx1"/>
                </a:solidFill>
                <a:latin typeface="Arial Black"/>
              </a:rPr>
              <a:t>Financial Comparison and Valuation </a:t>
            </a:r>
            <a:br>
              <a:rPr lang="en-US" sz="2000" b="0">
                <a:latin typeface="Arial Black"/>
              </a:rPr>
            </a:br>
            <a:r>
              <a:rPr lang="en-US" sz="2000" b="0">
                <a:solidFill>
                  <a:schemeClr val="tx1"/>
                </a:solidFill>
                <a:latin typeface="Arial Black"/>
              </a:rPr>
              <a:t>Analysis</a:t>
            </a:r>
            <a:endParaRPr lang="en-US" sz="2000">
              <a:solidFill>
                <a:schemeClr val="tx1"/>
              </a:solidFill>
              <a:latin typeface="Arial Black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A4B20-69EE-C3E8-6EFC-26DBBA0E2A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9599" y="4046627"/>
            <a:ext cx="2977920" cy="120258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500" b="1">
                <a:latin typeface="Arial"/>
                <a:ea typeface="Source Sans Pro"/>
                <a:cs typeface="Arial"/>
              </a:rPr>
              <a:t>Sharang Mantri</a:t>
            </a:r>
            <a:br>
              <a:rPr lang="en-US" sz="1500" b="1">
                <a:latin typeface="Arial"/>
                <a:ea typeface="Source Sans Pro"/>
                <a:cs typeface="Arial"/>
              </a:rPr>
            </a:br>
            <a:r>
              <a:rPr lang="en-US" sz="1500" b="1">
                <a:latin typeface="Arial"/>
                <a:ea typeface="Source Sans Pro"/>
                <a:cs typeface="Arial"/>
              </a:rPr>
              <a:t>Mike Feistel </a:t>
            </a:r>
            <a:br>
              <a:rPr lang="en-US" sz="1500" b="1">
                <a:latin typeface="Arial"/>
                <a:ea typeface="Source Sans Pro"/>
                <a:cs typeface="Arial"/>
              </a:rPr>
            </a:br>
            <a:r>
              <a:rPr lang="en-US" sz="1500" b="1">
                <a:latin typeface="Arial"/>
                <a:ea typeface="Source Sans Pro"/>
                <a:cs typeface="Arial"/>
              </a:rPr>
              <a:t>Shreya Ahuja </a:t>
            </a:r>
            <a:br>
              <a:rPr lang="en-US" sz="1500" b="1">
                <a:latin typeface="Arial"/>
                <a:ea typeface="Source Sans Pro"/>
                <a:cs typeface="Arial"/>
              </a:rPr>
            </a:br>
            <a:r>
              <a:rPr lang="en-US" sz="1500" b="1">
                <a:latin typeface="Arial"/>
                <a:ea typeface="Source Sans Pro"/>
                <a:cs typeface="Arial"/>
              </a:rPr>
              <a:t>Priyanka Chandramohan</a:t>
            </a:r>
            <a:endParaRPr lang="en-US" sz="1500" b="1"/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2A43D2AD-120D-6C5D-51A5-1A93688A2C4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75443" y="6223865"/>
            <a:ext cx="1805722" cy="264615"/>
          </a:xfrm>
          <a:noFill/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>
                <a:latin typeface="Arial Black"/>
                <a:ea typeface="Source Sans Pro"/>
              </a:rPr>
              <a:t>Group 17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081D9D-3769-AD50-66B1-AE66A75CBF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B695260-3BD8-1355-CE22-8D0AE9209BCB}"/>
              </a:ext>
            </a:extLst>
          </p:cNvPr>
          <p:cNvSpPr txBox="1">
            <a:spLocks/>
          </p:cNvSpPr>
          <p:nvPr/>
        </p:nvSpPr>
        <p:spPr>
          <a:xfrm>
            <a:off x="4273618" y="6361953"/>
            <a:ext cx="4784219" cy="3739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12284B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latin typeface="Georgia"/>
              </a:rPr>
              <a:t>FIN 529 Applied Financial Analysis Final Project – Spring 2025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06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37AE4A9-3BCF-4474-3B0D-BDBC31342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5A4F1-EC96-17D7-11D1-6210972915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Section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41B406C-A4C3-7E60-81A5-1B2EC2D587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/>
              <a:t>Industry &amp; Company Overview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D4593B-21C5-4F49-51CA-590B69BF4A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Section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24B0553-D2CC-FC52-E583-A25DFEA902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>
                <a:latin typeface="Georgia"/>
                <a:ea typeface="Source Sans Pro"/>
                <a:cs typeface="Arial"/>
              </a:rPr>
              <a:t>Normalized Income Statement </a:t>
            </a:r>
          </a:p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A0C28A-D683-11E6-68E5-C72C39B922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Section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798E6A5-7A2E-B032-F002-2E57B7A24F2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>
                <a:latin typeface="Georgia"/>
                <a:ea typeface="Source Sans Pro"/>
                <a:cs typeface="Arial"/>
              </a:rPr>
              <a:t>DCF Models 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F4E5EEF-6EF5-A569-CC24-33E77933FE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Section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5022CB8-C6D3-24BC-7993-16209D0E28C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>
                <a:latin typeface="Georgia"/>
                <a:ea typeface="Source Sans Pro"/>
                <a:cs typeface="Arial"/>
              </a:rPr>
              <a:t>Multiple Comparison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6929F07-14CC-A2A2-2543-661F33518C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Section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F9AC78E-12CA-7595-6648-058BC83B4E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>
                <a:latin typeface="Georgia"/>
                <a:ea typeface="Source Sans Pro"/>
                <a:cs typeface="Arial"/>
              </a:rPr>
              <a:t>Final Recommendation</a:t>
            </a:r>
            <a:endParaRPr lang="en-US"/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D30D461A-B4F5-5981-A175-4849195CAC8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>
            <a:normAutofit fontScale="92500" lnSpcReduction="10000"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Overview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63C11D-6CFF-C65E-9918-B14562619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96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6871DC-6D22-7269-9015-707DA01C2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400" y="2818136"/>
            <a:ext cx="6113200" cy="1221727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Industry &amp; Company 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0251B6-D5CA-85E5-5C27-CD526CDBD4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93139" y="2332801"/>
            <a:ext cx="1805722" cy="264615"/>
          </a:xfrm>
        </p:spPr>
        <p:txBody>
          <a:bodyPr>
            <a:normAutofit lnSpcReduction="10000"/>
          </a:bodyPr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63EBA5-8919-E964-6126-145F94B7F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3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32A0E67-A20B-07EA-0855-F0B65640FC3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093537"/>
            <a:ext cx="1805722" cy="2646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200" b="0">
                <a:latin typeface="Arial Black"/>
                <a:ea typeface="Source Sans Pro"/>
              </a:rPr>
              <a:t>Industry &amp; Company Overview</a:t>
            </a:r>
            <a:endParaRPr lang="en-US" sz="1200">
              <a:latin typeface="Arial Black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570998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1521EA-949B-8ED9-F9A1-3DF140B5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385DA76-2DD3-144A-9C84-6B8D9531DA2D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4D3D176-240C-7F6B-BEA0-435F65D1E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4889"/>
            <a:ext cx="10515590" cy="599096"/>
          </a:xfrm>
        </p:spPr>
        <p:txBody>
          <a:bodyPr anchor="ctr">
            <a:normAutofit fontScale="90000"/>
          </a:bodyPr>
          <a:lstStyle/>
          <a:p>
            <a:r>
              <a:rPr lang="en-US" sz="3700">
                <a:latin typeface="Georgia"/>
              </a:rPr>
              <a:t>Home Improvement Retail Industry Overview</a:t>
            </a:r>
            <a:endParaRPr lang="en-US">
              <a:latin typeface="Georgia"/>
            </a:endParaRP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BB10609-3BF0-8A71-3E09-283037F3269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093537"/>
            <a:ext cx="1805722" cy="2646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200" b="0">
                <a:latin typeface="Arial Black"/>
                <a:ea typeface="Source Sans Pro"/>
              </a:rPr>
              <a:t>Industry &amp; Company Overview</a:t>
            </a:r>
            <a:endParaRPr lang="en-US" sz="1200">
              <a:latin typeface="Arial Black"/>
              <a:ea typeface="Source Sans Pr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75A2A6-1C88-B5EE-26FC-6417B9617650}"/>
              </a:ext>
            </a:extLst>
          </p:cNvPr>
          <p:cNvSpPr txBox="1"/>
          <p:nvPr/>
        </p:nvSpPr>
        <p:spPr>
          <a:xfrm>
            <a:off x="2078907" y="1560002"/>
            <a:ext cx="9433024" cy="28110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tx2"/>
                </a:solidFill>
              </a:rPr>
              <a:t>$500B+ global industry</a:t>
            </a:r>
            <a:r>
              <a:rPr lang="en-US" sz="1600"/>
              <a:t>, led by the U.S. (~60% of global market)</a:t>
            </a:r>
            <a:endParaRPr lang="en-US"/>
          </a:p>
          <a:p>
            <a:endParaRPr lang="en-US" sz="1600"/>
          </a:p>
          <a:p>
            <a:r>
              <a:rPr lang="en-US" sz="1600"/>
              <a:t>Fueled by rising home ownership, renovation trends, and aging housing stock</a:t>
            </a:r>
          </a:p>
          <a:p>
            <a:pPr marL="228600" indent="-228600">
              <a:buFont typeface=""/>
              <a:buChar char="•"/>
            </a:pPr>
            <a:endParaRPr lang="en-US" sz="1600"/>
          </a:p>
          <a:p>
            <a:r>
              <a:rPr lang="en-US" sz="1600"/>
              <a:t>Two main players dominate U.S. market: Home Depot (~17% share), Lowe’s (~10% share)</a:t>
            </a:r>
          </a:p>
          <a:p>
            <a:pPr marL="228600" indent="-228600">
              <a:buFont typeface=""/>
              <a:buChar char="•"/>
            </a:pPr>
            <a:endParaRPr lang="en-US" sz="1600"/>
          </a:p>
          <a:p>
            <a:r>
              <a:rPr lang="en-US" sz="1600"/>
              <a:t>Industry sensitive to </a:t>
            </a:r>
            <a:r>
              <a:rPr lang="en-US" sz="1600" b="1">
                <a:solidFill>
                  <a:schemeClr val="tx2"/>
                </a:solidFill>
              </a:rPr>
              <a:t>interest rates</a:t>
            </a:r>
            <a:r>
              <a:rPr lang="en-US" sz="1600">
                <a:solidFill>
                  <a:schemeClr val="tx2"/>
                </a:solidFill>
              </a:rPr>
              <a:t>, </a:t>
            </a:r>
            <a:r>
              <a:rPr lang="en-US" sz="1600" b="1">
                <a:solidFill>
                  <a:schemeClr val="tx2"/>
                </a:solidFill>
              </a:rPr>
              <a:t>DIY culture</a:t>
            </a:r>
            <a:r>
              <a:rPr lang="en-US" sz="1600">
                <a:solidFill>
                  <a:schemeClr val="tx2"/>
                </a:solidFill>
              </a:rPr>
              <a:t>, and </a:t>
            </a:r>
            <a:r>
              <a:rPr lang="en-US" sz="1600" b="1">
                <a:solidFill>
                  <a:schemeClr val="tx2"/>
                </a:solidFill>
              </a:rPr>
              <a:t>housing demand</a:t>
            </a:r>
          </a:p>
          <a:p>
            <a:pPr marL="228600" indent="-228600">
              <a:buFont typeface=""/>
              <a:buChar char="•"/>
            </a:pPr>
            <a:endParaRPr lang="en-US" sz="1600" b="1"/>
          </a:p>
          <a:p>
            <a:r>
              <a:rPr lang="en-US" sz="1600"/>
              <a:t>Post-COVID slowdown, but long-term growth expected from infrastructure and aging homes</a:t>
            </a:r>
          </a:p>
          <a:p>
            <a:pPr marL="228600" indent="-228600">
              <a:buFont typeface=""/>
              <a:buChar char="•"/>
            </a:pPr>
            <a:endParaRPr lang="en-US" sz="1600"/>
          </a:p>
          <a:p>
            <a:r>
              <a:rPr lang="en-US" sz="1600"/>
              <a:t>Shift toward </a:t>
            </a:r>
            <a:r>
              <a:rPr lang="en-US" sz="1600" b="1">
                <a:solidFill>
                  <a:schemeClr val="tx2"/>
                </a:solidFill>
              </a:rPr>
              <a:t>e-commerce</a:t>
            </a:r>
            <a:r>
              <a:rPr lang="en-US" sz="1600">
                <a:solidFill>
                  <a:schemeClr val="tx2"/>
                </a:solidFill>
              </a:rPr>
              <a:t> and </a:t>
            </a:r>
            <a:r>
              <a:rPr lang="en-US" sz="1600" b="1">
                <a:solidFill>
                  <a:schemeClr val="tx2"/>
                </a:solidFill>
              </a:rPr>
              <a:t>Pro customer segment</a:t>
            </a:r>
            <a:r>
              <a:rPr lang="en-US" sz="1600"/>
              <a:t> (contractors, remodelers)</a:t>
            </a:r>
          </a:p>
        </p:txBody>
      </p:sp>
      <p:pic>
        <p:nvPicPr>
          <p:cNvPr id="3" name="Graphic 2" descr="Earth globe: Americas with solid fill">
            <a:extLst>
              <a:ext uri="{FF2B5EF4-FFF2-40B4-BE49-F238E27FC236}">
                <a16:creationId xmlns:a16="http://schemas.microsoft.com/office/drawing/2014/main" id="{D67C4DC5-D39E-4764-EF0D-DC1B76791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1367" y="1458097"/>
            <a:ext cx="512807" cy="512807"/>
          </a:xfrm>
          <a:prstGeom prst="rect">
            <a:avLst/>
          </a:prstGeom>
        </p:spPr>
      </p:pic>
      <p:pic>
        <p:nvPicPr>
          <p:cNvPr id="4" name="Graphic 3" descr="Work from home Wi-Fi with solid fill">
            <a:extLst>
              <a:ext uri="{FF2B5EF4-FFF2-40B4-BE49-F238E27FC236}">
                <a16:creationId xmlns:a16="http://schemas.microsoft.com/office/drawing/2014/main" id="{5820604A-6375-A751-1A8C-6FFC311E7A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1368" y="1962664"/>
            <a:ext cx="481914" cy="471617"/>
          </a:xfrm>
          <a:prstGeom prst="rect">
            <a:avLst/>
          </a:prstGeom>
        </p:spPr>
      </p:pic>
      <p:pic>
        <p:nvPicPr>
          <p:cNvPr id="5" name="Graphic 4" descr="Wheelbarrow with solid fill">
            <a:extLst>
              <a:ext uri="{FF2B5EF4-FFF2-40B4-BE49-F238E27FC236}">
                <a16:creationId xmlns:a16="http://schemas.microsoft.com/office/drawing/2014/main" id="{32467D4F-0B25-D00E-E00B-BF0060DF91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22855" y="3857367"/>
            <a:ext cx="492211" cy="615779"/>
          </a:xfrm>
          <a:prstGeom prst="rect">
            <a:avLst/>
          </a:prstGeom>
        </p:spPr>
      </p:pic>
      <p:pic>
        <p:nvPicPr>
          <p:cNvPr id="6" name="Graphic 5" descr="Mortgage with solid fill">
            <a:extLst>
              <a:ext uri="{FF2B5EF4-FFF2-40B4-BE49-F238E27FC236}">
                <a16:creationId xmlns:a16="http://schemas.microsoft.com/office/drawing/2014/main" id="{5DFBFF47-70DF-816A-9337-E71B701060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71367" y="2961503"/>
            <a:ext cx="492212" cy="471617"/>
          </a:xfrm>
          <a:prstGeom prst="rect">
            <a:avLst/>
          </a:prstGeom>
        </p:spPr>
      </p:pic>
      <p:pic>
        <p:nvPicPr>
          <p:cNvPr id="8" name="Graphic 7" descr="Hourglass Finished with solid fill">
            <a:extLst>
              <a:ext uri="{FF2B5EF4-FFF2-40B4-BE49-F238E27FC236}">
                <a16:creationId xmlns:a16="http://schemas.microsoft.com/office/drawing/2014/main" id="{B4317E71-182D-FCAC-B339-385FAB4F800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22853" y="3424880"/>
            <a:ext cx="440725" cy="440725"/>
          </a:xfrm>
          <a:prstGeom prst="rect">
            <a:avLst/>
          </a:prstGeom>
        </p:spPr>
      </p:pic>
      <p:pic>
        <p:nvPicPr>
          <p:cNvPr id="10" name="Graphic 9" descr="Hammer with solid fill">
            <a:extLst>
              <a:ext uri="{FF2B5EF4-FFF2-40B4-BE49-F238E27FC236}">
                <a16:creationId xmlns:a16="http://schemas.microsoft.com/office/drawing/2014/main" id="{F98D01B1-29C4-2F06-52CE-C0C786E38B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71367" y="2426042"/>
            <a:ext cx="481913" cy="46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212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C7870C-166B-96E9-DFAD-50CCDB536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latin typeface="Georgia"/>
              </a:rPr>
              <a:t>Lowe’s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82F4EE-C63D-A180-1EEB-7E30EC1AB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 descr="File:Lowes Companies Logo.svg - Wikipedia">
            <a:extLst>
              <a:ext uri="{FF2B5EF4-FFF2-40B4-BE49-F238E27FC236}">
                <a16:creationId xmlns:a16="http://schemas.microsoft.com/office/drawing/2014/main" id="{34349A59-C2D8-2667-D232-4A31591AA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61" y="2091732"/>
            <a:ext cx="3991806" cy="19745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A82D233-F725-C287-ED02-39D990B649B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093537"/>
            <a:ext cx="1805722" cy="2646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200" b="0">
                <a:latin typeface="Arial Black"/>
                <a:ea typeface="Source Sans Pro"/>
              </a:rPr>
              <a:t>Industry &amp; Company Overview</a:t>
            </a:r>
            <a:endParaRPr lang="en-US" sz="1200">
              <a:latin typeface="Arial Black"/>
              <a:ea typeface="Source Sans Pr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4FFCF7-8320-7883-D484-C87720520726}"/>
              </a:ext>
            </a:extLst>
          </p:cNvPr>
          <p:cNvSpPr txBox="1"/>
          <p:nvPr/>
        </p:nvSpPr>
        <p:spPr>
          <a:xfrm>
            <a:off x="5062470" y="1570027"/>
            <a:ext cx="6295758" cy="477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tx2"/>
                </a:solidFill>
              </a:rPr>
              <a:t>BACKGROUND</a:t>
            </a:r>
          </a:p>
          <a:p>
            <a:pPr marL="285750" indent="-285750">
              <a:buFont typeface="Arial"/>
              <a:buChar char="•"/>
            </a:pPr>
            <a:r>
              <a:rPr lang="en-US" sz="1600" b="1"/>
              <a:t>Founded</a:t>
            </a:r>
            <a:r>
              <a:rPr lang="en-US" sz="1600"/>
              <a:t> in 1921 by L.S. Lowe in North Wilkesboro, North Carolina</a:t>
            </a:r>
          </a:p>
          <a:p>
            <a:pPr marL="285750" indent="-285750">
              <a:buFont typeface="Arial"/>
              <a:buChar char="•"/>
            </a:pPr>
            <a:r>
              <a:rPr lang="en-US" sz="1600" b="1"/>
              <a:t>Headquartered</a:t>
            </a:r>
            <a:r>
              <a:rPr lang="en-US" sz="1600"/>
              <a:t> in Mooresville, North Carolina</a:t>
            </a:r>
          </a:p>
          <a:p>
            <a:pPr marL="285750" indent="-285750"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Fortune® 50 company</a:t>
            </a:r>
            <a:r>
              <a:rPr lang="en-US" sz="1600">
                <a:ea typeface="+mn-lt"/>
                <a:cs typeface="+mn-lt"/>
              </a:rPr>
              <a:t> and the world’s second-largest home improvement retailer</a:t>
            </a:r>
          </a:p>
          <a:p>
            <a:endParaRPr lang="en-US" sz="1600">
              <a:ea typeface="+mn-lt"/>
              <a:cs typeface="+mn-lt"/>
            </a:endParaRPr>
          </a:p>
          <a:p>
            <a:r>
              <a:rPr lang="en-US" sz="1600" b="1">
                <a:solidFill>
                  <a:schemeClr val="tx2"/>
                </a:solidFill>
                <a:ea typeface="+mn-lt"/>
                <a:cs typeface="+mn-lt"/>
              </a:rPr>
              <a:t>WHAT LOWE'S DOES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Home Improvement Retailer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Installation Services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Pro Customer Services 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Omnichannel Shopping</a:t>
            </a:r>
            <a:endParaRPr lang="en-US" sz="1600" b="1">
              <a:ea typeface="+mn-lt"/>
              <a:cs typeface="+mn-lt"/>
            </a:endParaRPr>
          </a:p>
          <a:p>
            <a:endParaRPr lang="en-US" sz="1600" b="1">
              <a:ea typeface="+mn-lt"/>
              <a:cs typeface="+mn-lt"/>
            </a:endParaRPr>
          </a:p>
          <a:p>
            <a:r>
              <a:rPr lang="en-US" sz="1600" b="1">
                <a:solidFill>
                  <a:schemeClr val="tx2"/>
                </a:solidFill>
                <a:ea typeface="+mn-lt"/>
                <a:cs typeface="+mn-lt"/>
              </a:rPr>
              <a:t>LOWE'S BY THE NUMBERS (2024)</a:t>
            </a:r>
            <a:endParaRPr lang="en-US" sz="1600" b="1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~300,000</a:t>
            </a:r>
            <a:r>
              <a:rPr lang="en-US" sz="1600">
                <a:ea typeface="+mn-lt"/>
                <a:cs typeface="+mn-lt"/>
              </a:rPr>
              <a:t> associates employed in the United States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16M+ customer transactions</a:t>
            </a:r>
            <a:r>
              <a:rPr lang="en-US" sz="1600">
                <a:ea typeface="+mn-lt"/>
                <a:cs typeface="+mn-lt"/>
              </a:rPr>
              <a:t> served weekly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$83.7 billion</a:t>
            </a:r>
            <a:r>
              <a:rPr lang="en-US" sz="1600">
                <a:ea typeface="+mn-lt"/>
                <a:cs typeface="+mn-lt"/>
              </a:rPr>
              <a:t> in annual sales</a:t>
            </a:r>
          </a:p>
          <a:p>
            <a:pPr marL="285750" indent="-285750">
              <a:buFont typeface="Arial"/>
              <a:buChar char="•"/>
            </a:pPr>
            <a:r>
              <a:rPr lang="en-US" sz="1600"/>
              <a:t>Operates </a:t>
            </a:r>
            <a:r>
              <a:rPr lang="en-US" sz="1600" b="1"/>
              <a:t>1,748 home improvement stores</a:t>
            </a:r>
            <a:r>
              <a:rPr lang="en-US" sz="1600"/>
              <a:t> and outlets across the U.S</a:t>
            </a: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9" name="Graphic 8" descr="Work from home Wi-Fi with solid fill">
            <a:extLst>
              <a:ext uri="{FF2B5EF4-FFF2-40B4-BE49-F238E27FC236}">
                <a16:creationId xmlns:a16="http://schemas.microsoft.com/office/drawing/2014/main" id="{22701B80-AED7-1C1B-3B06-1B77CDD61D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0854" y="1519881"/>
            <a:ext cx="399536" cy="399536"/>
          </a:xfrm>
          <a:prstGeom prst="rect">
            <a:avLst/>
          </a:prstGeom>
        </p:spPr>
      </p:pic>
      <p:pic>
        <p:nvPicPr>
          <p:cNvPr id="11" name="Graphic 10" descr="Hammer with solid fill">
            <a:extLst>
              <a:ext uri="{FF2B5EF4-FFF2-40B4-BE49-F238E27FC236}">
                <a16:creationId xmlns:a16="http://schemas.microsoft.com/office/drawing/2014/main" id="{28933FDF-285D-65E7-F4C6-C312C869AB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2637" y="3270420"/>
            <a:ext cx="337752" cy="317158"/>
          </a:xfrm>
          <a:prstGeom prst="rect">
            <a:avLst/>
          </a:prstGeom>
        </p:spPr>
      </p:pic>
      <p:pic>
        <p:nvPicPr>
          <p:cNvPr id="12" name="Graphic 11" descr="Pie chart with solid fill">
            <a:extLst>
              <a:ext uri="{FF2B5EF4-FFF2-40B4-BE49-F238E27FC236}">
                <a16:creationId xmlns:a16="http://schemas.microsoft.com/office/drawing/2014/main" id="{54893372-426F-5F67-8FCB-23055CE1C5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32637" y="4763529"/>
            <a:ext cx="389239" cy="31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37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79072C-67DD-242B-E7C6-35837D1E1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latin typeface="Georgia"/>
              </a:rPr>
              <a:t>Home Depot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FC3AED-5C97-CDDA-187A-0ABE552F4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 descr="Download The Home Depot Logo in SVG Vector or PNG File Format - Logo.wine">
            <a:extLst>
              <a:ext uri="{FF2B5EF4-FFF2-40B4-BE49-F238E27FC236}">
                <a16:creationId xmlns:a16="http://schemas.microsoft.com/office/drawing/2014/main" id="{4ED39BF7-D749-03E4-6D76-1FA7248729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25" t="15222" r="26500" b="15517"/>
          <a:stretch/>
        </p:blipFill>
        <p:spPr>
          <a:xfrm>
            <a:off x="831927" y="1968507"/>
            <a:ext cx="2905772" cy="28970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D23A8D8-2E61-0EF0-C280-185B3AA622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093537"/>
            <a:ext cx="1805722" cy="2646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200" b="0">
                <a:latin typeface="Arial Black"/>
                <a:ea typeface="Source Sans Pro"/>
              </a:rPr>
              <a:t>Industry &amp; Company Overview</a:t>
            </a:r>
            <a:endParaRPr lang="en-US" sz="1200">
              <a:latin typeface="Arial Black"/>
              <a:ea typeface="Source Sans Pr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FAD90-7D75-3877-35B6-2787E5911B00}"/>
              </a:ext>
            </a:extLst>
          </p:cNvPr>
          <p:cNvSpPr txBox="1"/>
          <p:nvPr/>
        </p:nvSpPr>
        <p:spPr>
          <a:xfrm>
            <a:off x="4851576" y="1711563"/>
            <a:ext cx="6388358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tx2"/>
                </a:solidFill>
              </a:rPr>
              <a:t>BACKGROUND</a:t>
            </a:r>
            <a:endParaRPr lang="en-US" sz="160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/>
              <a:t>Founded </a:t>
            </a:r>
            <a:r>
              <a:rPr lang="en-US" sz="1600">
                <a:ea typeface="+mn-lt"/>
                <a:cs typeface="+mn-lt"/>
              </a:rPr>
              <a:t>in 1978, incorporated in Delaware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Headquartered in Atlanta, Georgia</a:t>
            </a:r>
            <a:endParaRPr lang="en-US" sz="1600"/>
          </a:p>
          <a:p>
            <a:endParaRPr lang="en-US" sz="1600" b="1"/>
          </a:p>
          <a:p>
            <a:r>
              <a:rPr lang="en-US" sz="1600" b="1">
                <a:solidFill>
                  <a:schemeClr val="tx2"/>
                </a:solidFill>
              </a:rPr>
              <a:t>WHAT HOME DEPOT DOES</a:t>
            </a:r>
            <a:endParaRPr lang="en-US" sz="1600">
              <a:solidFill>
                <a:schemeClr val="tx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World’s Largest Home Improvement Retailer</a:t>
            </a:r>
            <a:r>
              <a:rPr lang="en-US" sz="1600">
                <a:ea typeface="+mn-lt"/>
                <a:cs typeface="+mn-lt"/>
              </a:rPr>
              <a:t> based on net sales for fiscal 2024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Offers a </a:t>
            </a:r>
            <a:r>
              <a:rPr lang="en-US" sz="1600" b="1">
                <a:ea typeface="+mn-lt"/>
                <a:cs typeface="+mn-lt"/>
              </a:rPr>
              <a:t>wide range of products</a:t>
            </a:r>
            <a:r>
              <a:rPr lang="en-US" sz="1600">
                <a:ea typeface="+mn-lt"/>
                <a:cs typeface="+mn-lt"/>
              </a:rPr>
              <a:t>, including building materials, home improvement, lawn and garden, décor, and MRO products, both in-store and online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Provides </a:t>
            </a:r>
            <a:r>
              <a:rPr lang="en-US" sz="1600" b="1">
                <a:ea typeface="+mn-lt"/>
                <a:cs typeface="+mn-lt"/>
              </a:rPr>
              <a:t>installation services</a:t>
            </a:r>
            <a:r>
              <a:rPr lang="en-US" sz="1600">
                <a:ea typeface="+mn-lt"/>
                <a:cs typeface="+mn-lt"/>
              </a:rPr>
              <a:t>, </a:t>
            </a:r>
            <a:r>
              <a:rPr lang="en-US" sz="1600" b="1">
                <a:ea typeface="+mn-lt"/>
                <a:cs typeface="+mn-lt"/>
              </a:rPr>
              <a:t>tool and equipment rental</a:t>
            </a:r>
            <a:r>
              <a:rPr lang="en-US" sz="1600">
                <a:ea typeface="+mn-lt"/>
                <a:cs typeface="+mn-lt"/>
              </a:rPr>
              <a:t>, and more.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The </a:t>
            </a:r>
            <a:r>
              <a:rPr lang="en-US" sz="1600" b="1">
                <a:ea typeface="+mn-lt"/>
                <a:cs typeface="+mn-lt"/>
              </a:rPr>
              <a:t>Home Depot Foundation</a:t>
            </a:r>
            <a:r>
              <a:rPr lang="en-US" sz="1600">
                <a:ea typeface="+mn-lt"/>
                <a:cs typeface="+mn-lt"/>
              </a:rPr>
              <a:t> has invested over $550 million in veteran causes, improved 65,000+ veteran homes</a:t>
            </a:r>
            <a:endParaRPr lang="en-US" sz="1600"/>
          </a:p>
          <a:p>
            <a:endParaRPr lang="en-US" sz="1600" b="1"/>
          </a:p>
          <a:p>
            <a:r>
              <a:rPr lang="en-US" sz="1600" b="1">
                <a:solidFill>
                  <a:schemeClr val="tx2"/>
                </a:solidFill>
              </a:rPr>
              <a:t>HOME DEPOT BY THE NUMBERS (2024)</a:t>
            </a:r>
            <a:endParaRPr lang="en-US" sz="1600">
              <a:solidFill>
                <a:schemeClr val="tx2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600" b="1">
                <a:ea typeface="+mn-lt"/>
                <a:cs typeface="+mn-lt"/>
              </a:rPr>
              <a:t>470,100</a:t>
            </a:r>
            <a:r>
              <a:rPr lang="en-US" sz="1600">
                <a:ea typeface="+mn-lt"/>
                <a:cs typeface="+mn-lt"/>
              </a:rPr>
              <a:t> associates employed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Operates </a:t>
            </a:r>
            <a:r>
              <a:rPr lang="en-US" sz="1600" b="1">
                <a:ea typeface="+mn-lt"/>
                <a:cs typeface="+mn-lt"/>
              </a:rPr>
              <a:t>2,347 stores</a:t>
            </a:r>
            <a:r>
              <a:rPr lang="en-US" sz="1600">
                <a:ea typeface="+mn-lt"/>
                <a:cs typeface="+mn-lt"/>
              </a:rPr>
              <a:t> across the U.S., Canada, and Mexico</a:t>
            </a:r>
            <a:endParaRPr lang="en-US"/>
          </a:p>
          <a:p>
            <a:pPr marL="285750" indent="-285750">
              <a:buFont typeface="Arial,Sans-Serif"/>
              <a:buChar char="•"/>
            </a:pPr>
            <a:r>
              <a:rPr lang="en-US" sz="1600" b="1">
                <a:ea typeface="+mn-lt"/>
                <a:cs typeface="+mn-lt"/>
              </a:rPr>
              <a:t>Acquired SRS</a:t>
            </a:r>
            <a:r>
              <a:rPr lang="en-US" sz="1600">
                <a:ea typeface="+mn-lt"/>
                <a:cs typeface="+mn-lt"/>
              </a:rPr>
              <a:t> in 2024, a leading residential specialty trade distributor with </a:t>
            </a:r>
            <a:r>
              <a:rPr lang="en-US" sz="1600" b="1">
                <a:ea typeface="+mn-lt"/>
                <a:cs typeface="+mn-lt"/>
              </a:rPr>
              <a:t>780 branch locations</a:t>
            </a:r>
            <a:r>
              <a:rPr lang="en-US" sz="1600">
                <a:ea typeface="+mn-lt"/>
                <a:cs typeface="+mn-lt"/>
              </a:rPr>
              <a:t> across the U.S.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sz="1600"/>
          </a:p>
        </p:txBody>
      </p:sp>
      <p:pic>
        <p:nvPicPr>
          <p:cNvPr id="11" name="Graphic 10" descr="Work from home Wi-Fi with solid fill">
            <a:extLst>
              <a:ext uri="{FF2B5EF4-FFF2-40B4-BE49-F238E27FC236}">
                <a16:creationId xmlns:a16="http://schemas.microsoft.com/office/drawing/2014/main" id="{1460059F-12F2-A654-5561-BA7706042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4908" y="1715530"/>
            <a:ext cx="399536" cy="399536"/>
          </a:xfrm>
          <a:prstGeom prst="rect">
            <a:avLst/>
          </a:prstGeom>
        </p:spPr>
      </p:pic>
      <p:pic>
        <p:nvPicPr>
          <p:cNvPr id="13" name="Graphic 12" descr="Hammer with solid fill">
            <a:extLst>
              <a:ext uri="{FF2B5EF4-FFF2-40B4-BE49-F238E27FC236}">
                <a16:creationId xmlns:a16="http://schemas.microsoft.com/office/drawing/2014/main" id="{A6884209-2A21-2D12-F3B4-7969D91C57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6691" y="2693772"/>
            <a:ext cx="337752" cy="317158"/>
          </a:xfrm>
          <a:prstGeom prst="rect">
            <a:avLst/>
          </a:prstGeom>
        </p:spPr>
      </p:pic>
      <p:pic>
        <p:nvPicPr>
          <p:cNvPr id="15" name="Graphic 14" descr="Pie chart with solid fill">
            <a:extLst>
              <a:ext uri="{FF2B5EF4-FFF2-40B4-BE49-F238E27FC236}">
                <a16:creationId xmlns:a16="http://schemas.microsoft.com/office/drawing/2014/main" id="{77640D21-5A52-92B9-6F34-6D78DA08AA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26692" y="5401961"/>
            <a:ext cx="389239" cy="31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16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2F020-CF7F-9447-2353-FE0B8558A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B859F1-F436-DE66-DA46-89BDF10C9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400" y="99650"/>
            <a:ext cx="6113200" cy="1221727"/>
          </a:xfrm>
        </p:spPr>
        <p:txBody>
          <a:bodyPr>
            <a:noAutofit/>
          </a:bodyPr>
          <a:lstStyle/>
          <a:p>
            <a:r>
              <a:rPr lang="en-US" sz="3200">
                <a:latin typeface="Georgia"/>
                <a:ea typeface="Source Sans Pro"/>
                <a:cs typeface="Arial"/>
              </a:rPr>
              <a:t>Lowe's FY24-25 Normalized Statement</a:t>
            </a:r>
            <a:endParaRPr lang="en-US" sz="3200">
              <a:latin typeface="Georgia"/>
            </a:endParaRP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306AF555-081A-0A8F-C93E-F102D3B052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8200" y="6091735"/>
            <a:ext cx="1805722" cy="264615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sz="1200">
                <a:latin typeface="Georgia"/>
                <a:ea typeface="Source Sans Pro"/>
                <a:cs typeface="Arial"/>
              </a:rPr>
              <a:t>Normalized Income Statement &amp; </a:t>
            </a:r>
            <a:r>
              <a:rPr lang="en-US" sz="1200" err="1">
                <a:latin typeface="Georgia"/>
                <a:ea typeface="Source Sans Pro"/>
                <a:cs typeface="Arial"/>
              </a:rPr>
              <a:t>RoIC</a:t>
            </a:r>
            <a:r>
              <a:rPr lang="en-US" sz="1200">
                <a:latin typeface="Georgia"/>
                <a:ea typeface="Source Sans Pro"/>
                <a:cs typeface="Arial"/>
              </a:rPr>
              <a:t> </a:t>
            </a:r>
            <a:endParaRPr lang="en-US" sz="12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D8C1CE-F09B-1208-49DB-3CE09BDE4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3DF782-BD6C-DCFB-2635-343E0A5AE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10" y="1368927"/>
            <a:ext cx="10123623" cy="465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841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78FE9-C7ED-A9B7-D601-2DC81A38B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0339D6-3233-D39D-0FBF-C2D69CAC3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400" y="99650"/>
            <a:ext cx="6113200" cy="1221727"/>
          </a:xfrm>
        </p:spPr>
        <p:txBody>
          <a:bodyPr>
            <a:normAutofit/>
          </a:bodyPr>
          <a:lstStyle/>
          <a:p>
            <a:r>
              <a:rPr lang="en-US" sz="3200">
                <a:latin typeface="Georgia"/>
                <a:ea typeface="Source Sans Pro"/>
                <a:cs typeface="Arial"/>
              </a:rPr>
              <a:t>Lowe's FY23-24 Normalized Statement</a:t>
            </a:r>
            <a:endParaRPr lang="en-US" sz="3200"/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E09C44BA-CA36-FA5A-AAE1-ED631EEA04C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8200" y="6091735"/>
            <a:ext cx="1805722" cy="264615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sz="1200">
                <a:latin typeface="Georgia"/>
                <a:ea typeface="Source Sans Pro"/>
                <a:cs typeface="Arial"/>
              </a:rPr>
              <a:t>Normalized Income Statement &amp; </a:t>
            </a:r>
            <a:r>
              <a:rPr lang="en-US" sz="1200" err="1">
                <a:latin typeface="Georgia"/>
                <a:ea typeface="Source Sans Pro"/>
                <a:cs typeface="Arial"/>
              </a:rPr>
              <a:t>RoIC</a:t>
            </a:r>
            <a:r>
              <a:rPr lang="en-US" sz="1200">
                <a:latin typeface="Georgia"/>
                <a:ea typeface="Source Sans Pro"/>
                <a:cs typeface="Arial"/>
              </a:rPr>
              <a:t> </a:t>
            </a:r>
            <a:endParaRPr lang="en-US" sz="12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AA6BF6-692B-3738-F473-42BAB761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FDE2CB-D941-0E14-7DAE-6535EB761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472" y="1321254"/>
            <a:ext cx="9936390" cy="457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163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493C7-8553-E866-341D-186FE6CF8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A5E335-EB72-F944-9E57-0112B47E6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400" y="99650"/>
            <a:ext cx="6113200" cy="1221727"/>
          </a:xfrm>
        </p:spPr>
        <p:txBody>
          <a:bodyPr>
            <a:normAutofit/>
          </a:bodyPr>
          <a:lstStyle/>
          <a:p>
            <a:r>
              <a:rPr lang="en-US" sz="3200">
                <a:latin typeface="Georgia"/>
                <a:ea typeface="Source Sans Pro"/>
                <a:cs typeface="Arial"/>
              </a:rPr>
              <a:t>Home Depot FY24-25 Normalized Statement</a:t>
            </a:r>
            <a:endParaRPr lang="en-US" sz="3200"/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F3995E7E-7167-3811-0F35-573A0415831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8200" y="6091735"/>
            <a:ext cx="1805722" cy="264615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sz="1200">
                <a:latin typeface="Georgia"/>
                <a:ea typeface="Source Sans Pro"/>
                <a:cs typeface="Arial"/>
              </a:rPr>
              <a:t>Normalized Income Statement &amp; </a:t>
            </a:r>
            <a:r>
              <a:rPr lang="en-US" sz="1200" err="1">
                <a:latin typeface="Georgia"/>
                <a:ea typeface="Source Sans Pro"/>
                <a:cs typeface="Arial"/>
              </a:rPr>
              <a:t>RoIC</a:t>
            </a:r>
            <a:r>
              <a:rPr lang="en-US" sz="1200">
                <a:latin typeface="Georgia"/>
                <a:ea typeface="Source Sans Pro"/>
                <a:cs typeface="Arial"/>
              </a:rPr>
              <a:t> </a:t>
            </a:r>
            <a:endParaRPr lang="en-US" sz="12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BD5998-0B61-DC99-702A-8CCB34A2F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CBAE0A-5EDA-37AE-7045-A05F0253F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17" y="1462753"/>
            <a:ext cx="9944100" cy="431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877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64B51-B067-D69E-037F-8FD48747D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ECC60E-B252-973A-73C8-841481B7C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400" y="99650"/>
            <a:ext cx="6113200" cy="1221727"/>
          </a:xfrm>
        </p:spPr>
        <p:txBody>
          <a:bodyPr>
            <a:normAutofit/>
          </a:bodyPr>
          <a:lstStyle/>
          <a:p>
            <a:r>
              <a:rPr lang="en-US" sz="3200">
                <a:latin typeface="Georgia"/>
                <a:ea typeface="Source Sans Pro"/>
                <a:cs typeface="Arial"/>
              </a:rPr>
              <a:t>Home Depot FY23-24 Normalized Statement</a:t>
            </a:r>
            <a:endParaRPr lang="en-US" sz="3200"/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55BFA105-0D7D-B0BA-EE55-EC9FACC4F1D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8200" y="6091735"/>
            <a:ext cx="1805722" cy="264615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sz="1200">
                <a:latin typeface="Georgia"/>
                <a:ea typeface="Source Sans Pro"/>
                <a:cs typeface="Arial"/>
              </a:rPr>
              <a:t>Normalized Income Statement &amp; </a:t>
            </a:r>
            <a:r>
              <a:rPr lang="en-US" sz="1200" err="1">
                <a:latin typeface="Georgia"/>
                <a:ea typeface="Source Sans Pro"/>
                <a:cs typeface="Arial"/>
              </a:rPr>
              <a:t>RoIC</a:t>
            </a:r>
            <a:r>
              <a:rPr lang="en-US" sz="1200">
                <a:latin typeface="Georgia"/>
                <a:ea typeface="Source Sans Pro"/>
                <a:cs typeface="Arial"/>
              </a:rPr>
              <a:t> </a:t>
            </a:r>
            <a:endParaRPr lang="en-US" sz="12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41F8A3-DDF3-2998-0355-7E86F7CEB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4DBCC1-50AC-E6B3-FEFD-EDF5DD6B9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95" y="1470042"/>
            <a:ext cx="10296525" cy="446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512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F98024-B965-78B8-789A-99FCAFA18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11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BF0485-972A-4ADF-F8F0-2D1A827E932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222188"/>
            <a:ext cx="1805722" cy="26461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1600">
                <a:latin typeface="Arial Black"/>
                <a:ea typeface="Source Sans Pro"/>
                <a:cs typeface="Arial"/>
              </a:rPr>
              <a:t>Lowe's DCF</a:t>
            </a:r>
            <a:endParaRPr lang="en-US" sz="1600">
              <a:ea typeface="Source Sans Pro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1AC6DBE-3BDC-2460-0BC7-11B087BF0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51" y="1270042"/>
            <a:ext cx="10517051" cy="4637575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D9C44CCD-BB7C-0830-8EA5-820FB944F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832" y="99650"/>
            <a:ext cx="5588038" cy="1190836"/>
          </a:xfrm>
        </p:spPr>
        <p:txBody>
          <a:bodyPr>
            <a:normAutofit/>
          </a:bodyPr>
          <a:lstStyle/>
          <a:p>
            <a:pPr algn="ctr"/>
            <a:r>
              <a:rPr lang="en-US" sz="3200">
                <a:latin typeface="Georgia"/>
                <a:ea typeface="Source Sans Pro"/>
                <a:cs typeface="Arial"/>
              </a:rPr>
              <a:t>Lowe's DCF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13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D963C-8FA9-6FE4-3F23-FAAF6C03E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36EB54-1070-714C-99BE-776CFB87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12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891F7C-6A80-95C8-8F35-32B47F1D04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1600">
                <a:latin typeface="Arial Black"/>
                <a:ea typeface="Source Sans Pro"/>
                <a:cs typeface="Arial"/>
              </a:rPr>
              <a:t>Lowe's DCF</a:t>
            </a:r>
            <a:endParaRPr lang="en-US" sz="1600">
              <a:ea typeface="Source Sans Pr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1A4070-8C2F-8447-C6F0-F1AEA618D04C}"/>
              </a:ext>
            </a:extLst>
          </p:cNvPr>
          <p:cNvSpPr txBox="1"/>
          <p:nvPr/>
        </p:nvSpPr>
        <p:spPr>
          <a:xfrm>
            <a:off x="9984454" y="885878"/>
            <a:ext cx="20212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6F2083-74B8-E987-5082-35E357A36021}"/>
              </a:ext>
            </a:extLst>
          </p:cNvPr>
          <p:cNvSpPr txBox="1"/>
          <p:nvPr/>
        </p:nvSpPr>
        <p:spPr>
          <a:xfrm>
            <a:off x="6096912" y="3965392"/>
            <a:ext cx="5017741" cy="25750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Valuation Scenarios</a:t>
            </a:r>
          </a:p>
          <a:p>
            <a:endParaRPr lang="en-US" b="1"/>
          </a:p>
          <a:p>
            <a:r>
              <a:rPr lang="en-US" b="1"/>
              <a:t>Base Case</a:t>
            </a:r>
          </a:p>
          <a:p>
            <a:r>
              <a:rPr lang="en-US" b="1"/>
              <a:t>Price:  $235.02 </a:t>
            </a:r>
            <a:endParaRPr lang="en-US"/>
          </a:p>
          <a:p>
            <a:r>
              <a:rPr lang="en-US" b="1"/>
              <a:t>Upside: 6.39%</a:t>
            </a:r>
            <a:endParaRPr lang="en-US"/>
          </a:p>
          <a:p>
            <a:endParaRPr lang="en-US" b="1"/>
          </a:p>
          <a:p>
            <a:r>
              <a:rPr lang="en-US" b="1"/>
              <a:t>Bull Case</a:t>
            </a:r>
          </a:p>
          <a:p>
            <a:r>
              <a:rPr lang="en-US" b="1"/>
              <a:t>Price: $289.54 </a:t>
            </a:r>
            <a:endParaRPr lang="en-US"/>
          </a:p>
          <a:p>
            <a:r>
              <a:rPr lang="en-US" b="1"/>
              <a:t>Upside: 31.07%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CE22D-8D10-56B3-8A04-083DA693DFEB}"/>
              </a:ext>
            </a:extLst>
          </p:cNvPr>
          <p:cNvSpPr txBox="1"/>
          <p:nvPr/>
        </p:nvSpPr>
        <p:spPr>
          <a:xfrm>
            <a:off x="1132594" y="1142923"/>
            <a:ext cx="4298213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Discount Rate</a:t>
            </a:r>
          </a:p>
          <a:p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 b="1"/>
              <a:t>Cost of Equity (Ke) = 8.128%</a:t>
            </a:r>
          </a:p>
          <a:p>
            <a:r>
              <a:rPr lang="en-US"/>
              <a:t> </a:t>
            </a:r>
            <a:r>
              <a:rPr lang="en-US">
                <a:ea typeface="+mn-lt"/>
                <a:cs typeface="+mn-lt"/>
              </a:rPr>
              <a:t> Risk-Free Rate = 4.23%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  Risk Premium = 4.47%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  Beta = 0.872</a:t>
            </a:r>
            <a:endParaRPr lang="en-US"/>
          </a:p>
          <a:p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Cost of Debt (Kd) = 4.40%</a:t>
            </a:r>
          </a:p>
          <a:p>
            <a:r>
              <a:rPr lang="en-US"/>
              <a:t>  Tax Rate = 25.00%</a:t>
            </a:r>
          </a:p>
          <a:p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Capital Structure</a:t>
            </a:r>
          </a:p>
          <a:p>
            <a:r>
              <a:rPr lang="en-US"/>
              <a:t>  Debt = 22%</a:t>
            </a:r>
          </a:p>
          <a:p>
            <a:r>
              <a:rPr lang="en-US"/>
              <a:t>  Equity = 78%</a:t>
            </a:r>
          </a:p>
          <a:p>
            <a:endParaRPr lang="en-US"/>
          </a:p>
          <a:p>
            <a:r>
              <a:rPr lang="en-US" b="1"/>
              <a:t>WACC = 7.06%</a:t>
            </a:r>
          </a:p>
        </p:txBody>
      </p:sp>
      <p:pic>
        <p:nvPicPr>
          <p:cNvPr id="12" name="Graphic 11" descr="Bar graph with upward trend with solid fill">
            <a:extLst>
              <a:ext uri="{FF2B5EF4-FFF2-40B4-BE49-F238E27FC236}">
                <a16:creationId xmlns:a16="http://schemas.microsoft.com/office/drawing/2014/main" id="{96A84888-024F-3260-89A9-00F76FAC7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395" y="1138880"/>
            <a:ext cx="430428" cy="378942"/>
          </a:xfrm>
          <a:prstGeom prst="rect">
            <a:avLst/>
          </a:prstGeom>
        </p:spPr>
      </p:pic>
      <p:pic>
        <p:nvPicPr>
          <p:cNvPr id="13" name="Graphic 12" descr="Lightbulb with solid fill">
            <a:extLst>
              <a:ext uri="{FF2B5EF4-FFF2-40B4-BE49-F238E27FC236}">
                <a16:creationId xmlns:a16="http://schemas.microsoft.com/office/drawing/2014/main" id="{7070D168-3FB4-3AAB-E2F5-C9D7C82E9A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799" y="4804719"/>
            <a:ext cx="451022" cy="4510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5D1F3FA-656F-14F0-18F4-F6D84D780EA7}"/>
              </a:ext>
            </a:extLst>
          </p:cNvPr>
          <p:cNvSpPr txBox="1"/>
          <p:nvPr/>
        </p:nvSpPr>
        <p:spPr>
          <a:xfrm>
            <a:off x="6097712" y="1158353"/>
            <a:ext cx="405370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Key Financial Metrics</a:t>
            </a:r>
          </a:p>
        </p:txBody>
      </p:sp>
      <p:pic>
        <p:nvPicPr>
          <p:cNvPr id="18" name="Graphic 17" descr="Bull with solid fill">
            <a:extLst>
              <a:ext uri="{FF2B5EF4-FFF2-40B4-BE49-F238E27FC236}">
                <a16:creationId xmlns:a16="http://schemas.microsoft.com/office/drawing/2014/main" id="{178D9FBC-3A41-B207-B9EA-ABED90E9B9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9395" y="5700583"/>
            <a:ext cx="451022" cy="378941"/>
          </a:xfrm>
          <a:prstGeom prst="rect">
            <a:avLst/>
          </a:prstGeom>
        </p:spPr>
      </p:pic>
      <p:pic>
        <p:nvPicPr>
          <p:cNvPr id="19" name="Graphic 18" descr="Upward trend with solid fill">
            <a:extLst>
              <a:ext uri="{FF2B5EF4-FFF2-40B4-BE49-F238E27FC236}">
                <a16:creationId xmlns:a16="http://schemas.microsoft.com/office/drawing/2014/main" id="{D5814A00-750F-577E-71ED-43C5772F87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90286" y="4423719"/>
            <a:ext cx="389238" cy="389238"/>
          </a:xfrm>
          <a:prstGeom prst="rect">
            <a:avLst/>
          </a:prstGeom>
        </p:spPr>
      </p:pic>
      <p:pic>
        <p:nvPicPr>
          <p:cNvPr id="20" name="Graphic 19" descr="Presentation with org chart with solid fill">
            <a:extLst>
              <a:ext uri="{FF2B5EF4-FFF2-40B4-BE49-F238E27FC236}">
                <a16:creationId xmlns:a16="http://schemas.microsoft.com/office/drawing/2014/main" id="{74A5CE0B-9CB8-777E-A7FA-F70FCBEBA1D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64543" y="1138880"/>
            <a:ext cx="399536" cy="399536"/>
          </a:xfrm>
          <a:prstGeom prst="rect">
            <a:avLst/>
          </a:prstGeom>
        </p:spPr>
      </p:pic>
      <p:pic>
        <p:nvPicPr>
          <p:cNvPr id="21" name="Graphic 20" descr="Presentation with bar chart with solid fill">
            <a:extLst>
              <a:ext uri="{FF2B5EF4-FFF2-40B4-BE49-F238E27FC236}">
                <a16:creationId xmlns:a16="http://schemas.microsoft.com/office/drawing/2014/main" id="{3DF748AB-4B7C-E488-C963-40799D11E00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59395" y="3960339"/>
            <a:ext cx="451021" cy="451022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C72D172-FD21-D5D7-7F94-C3B156C005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900759"/>
              </p:ext>
            </p:extLst>
          </p:nvPr>
        </p:nvGraphicFramePr>
        <p:xfrm>
          <a:off x="6195197" y="1714707"/>
          <a:ext cx="5172510" cy="2194560"/>
        </p:xfrm>
        <a:graphic>
          <a:graphicData uri="http://schemas.openxmlformats.org/drawingml/2006/table">
            <a:tbl>
              <a:tblPr bandRow="1">
                <a:tableStyleId>{C083E6E3-FA7D-4D7B-A595-EF9225AFEA82}</a:tableStyleId>
              </a:tblPr>
              <a:tblGrid>
                <a:gridCol w="3427567">
                  <a:extLst>
                    <a:ext uri="{9D8B030D-6E8A-4147-A177-3AD203B41FA5}">
                      <a16:colId xmlns:a16="http://schemas.microsoft.com/office/drawing/2014/main" val="559542066"/>
                    </a:ext>
                  </a:extLst>
                </a:gridCol>
                <a:gridCol w="1744943">
                  <a:extLst>
                    <a:ext uri="{9D8B030D-6E8A-4147-A177-3AD203B41FA5}">
                      <a16:colId xmlns:a16="http://schemas.microsoft.com/office/drawing/2014/main" val="2455991593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Metrics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Values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53112778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Terminal growth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0.75%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52381694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err="1">
                          <a:effectLst/>
                        </a:rPr>
                        <a:t>RoIC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28.88%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084427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Profit Margin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9.26%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08999278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Asset Turnover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311.66%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7579926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Shares Outstanding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568.00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48604439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Debt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$35,487 mil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37154635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Cash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$1761 mil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55055013"/>
                  </a:ext>
                </a:extLst>
              </a:tr>
            </a:tbl>
          </a:graphicData>
        </a:graphic>
      </p:graphicFrame>
      <p:sp>
        <p:nvSpPr>
          <p:cNvPr id="7" name="Title 2">
            <a:extLst>
              <a:ext uri="{FF2B5EF4-FFF2-40B4-BE49-F238E27FC236}">
                <a16:creationId xmlns:a16="http://schemas.microsoft.com/office/drawing/2014/main" id="{41B3A911-C76B-A194-19D3-232A66B6E0EF}"/>
              </a:ext>
            </a:extLst>
          </p:cNvPr>
          <p:cNvSpPr txBox="1">
            <a:spLocks/>
          </p:cNvSpPr>
          <p:nvPr/>
        </p:nvSpPr>
        <p:spPr>
          <a:xfrm>
            <a:off x="3049698" y="367380"/>
            <a:ext cx="5567443" cy="77894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FF5F03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pPr algn="ctr"/>
            <a:r>
              <a:rPr lang="en-US" sz="3200">
                <a:solidFill>
                  <a:schemeClr val="tx1"/>
                </a:solidFill>
                <a:latin typeface="Georgia"/>
                <a:ea typeface="Source Sans Pro"/>
                <a:cs typeface="Arial"/>
              </a:rPr>
              <a:t>Lowe's DCF</a:t>
            </a:r>
            <a:endParaRPr lang="en-US" sz="3200">
              <a:solidFill>
                <a:schemeClr val="tx1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496637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FEE6C-FD42-73B9-7021-5DB92C716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66BD27-4351-AEAD-96B9-F28B9413D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13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2249F4-7A74-44BD-FF78-2A88115EE1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sz="1600">
                <a:latin typeface="Arial Black"/>
                <a:ea typeface="Source Sans Pro"/>
                <a:cs typeface="Arial"/>
              </a:rPr>
              <a:t>Home Depot</a:t>
            </a:r>
            <a:r>
              <a:rPr lang="en-US" sz="1600" i="1">
                <a:latin typeface="Arial"/>
                <a:ea typeface="Source Sans Pro"/>
                <a:cs typeface="Arial"/>
              </a:rPr>
              <a:t> </a:t>
            </a:r>
            <a:r>
              <a:rPr lang="en-US" sz="1600">
                <a:latin typeface="Arial Black"/>
                <a:ea typeface="Source Sans Pro"/>
                <a:cs typeface="Arial"/>
              </a:rPr>
              <a:t>DCF</a:t>
            </a:r>
            <a:endParaRPr lang="en-US" sz="1600">
              <a:ea typeface="Source Sans Pr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F28C5E-D40E-6FB4-8ACB-2D7877A270B2}"/>
              </a:ext>
            </a:extLst>
          </p:cNvPr>
          <p:cNvSpPr txBox="1"/>
          <p:nvPr/>
        </p:nvSpPr>
        <p:spPr>
          <a:xfrm>
            <a:off x="9984454" y="885878"/>
            <a:ext cx="20212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29F3D7-A29D-09AD-FEDA-457C3AADCA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45" b="-2857"/>
          <a:stretch/>
        </p:blipFill>
        <p:spPr>
          <a:xfrm>
            <a:off x="0" y="4529136"/>
            <a:ext cx="12192000" cy="3540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500E9-B443-C12E-F996-12A3A56729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45" b="-368"/>
          <a:stretch/>
        </p:blipFill>
        <p:spPr>
          <a:xfrm>
            <a:off x="0" y="1487109"/>
            <a:ext cx="12192000" cy="2802566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5DF4EC6D-6723-2A16-7777-BB89BF2A6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400" y="130542"/>
            <a:ext cx="6113200" cy="1221727"/>
          </a:xfrm>
        </p:spPr>
        <p:txBody>
          <a:bodyPr>
            <a:normAutofit/>
          </a:bodyPr>
          <a:lstStyle/>
          <a:p>
            <a:pPr algn="ctr"/>
            <a:r>
              <a:rPr lang="en-US" sz="3200">
                <a:latin typeface="Georgia"/>
                <a:ea typeface="Source Sans Pro"/>
                <a:cs typeface="Arial"/>
              </a:rPr>
              <a:t>Home Depot DCF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25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8F799-11DA-BEF0-8359-6212C8020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616063-5C0E-C25D-2661-CDF052D3D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14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A0DD39-9272-550F-44F1-FA44185E1F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sz="1600">
                <a:latin typeface="Arial Black"/>
                <a:ea typeface="Source Sans Pro"/>
                <a:cs typeface="Arial"/>
              </a:rPr>
              <a:t>Home Depot DCF</a:t>
            </a:r>
            <a:endParaRPr lang="en-US" sz="1600">
              <a:ea typeface="Source Sans Pr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8F4742-9135-AF52-21F7-5DC25DF06CD0}"/>
              </a:ext>
            </a:extLst>
          </p:cNvPr>
          <p:cNvSpPr txBox="1"/>
          <p:nvPr/>
        </p:nvSpPr>
        <p:spPr>
          <a:xfrm>
            <a:off x="9984454" y="885878"/>
            <a:ext cx="20212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64166E-8562-6240-45AE-6941F4166629}"/>
              </a:ext>
            </a:extLst>
          </p:cNvPr>
          <p:cNvSpPr txBox="1"/>
          <p:nvPr/>
        </p:nvSpPr>
        <p:spPr>
          <a:xfrm>
            <a:off x="6096912" y="4274311"/>
            <a:ext cx="501774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Valuation Scenarios</a:t>
            </a:r>
          </a:p>
          <a:p>
            <a:endParaRPr lang="en-US" b="1"/>
          </a:p>
          <a:p>
            <a:r>
              <a:rPr lang="en-US" b="1"/>
              <a:t>Base Case</a:t>
            </a:r>
          </a:p>
          <a:p>
            <a:r>
              <a:rPr lang="en-US" b="1"/>
              <a:t>Price through DCF: $331.62</a:t>
            </a:r>
          </a:p>
          <a:p>
            <a:r>
              <a:rPr lang="en-US" b="1"/>
              <a:t>Market Price:  $357.58</a:t>
            </a:r>
            <a:endParaRPr lang="en-US"/>
          </a:p>
          <a:p>
            <a:r>
              <a:rPr lang="en-US" b="1"/>
              <a:t>Downside: 7.26%</a:t>
            </a:r>
            <a:endParaRPr lang="en-US"/>
          </a:p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98CA20-E91B-655C-CB08-4C21A120A0A2}"/>
              </a:ext>
            </a:extLst>
          </p:cNvPr>
          <p:cNvSpPr txBox="1"/>
          <p:nvPr/>
        </p:nvSpPr>
        <p:spPr>
          <a:xfrm>
            <a:off x="1132594" y="1245896"/>
            <a:ext cx="4298213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Discount Rate</a:t>
            </a:r>
            <a:endParaRPr lang="en-US">
              <a:solidFill>
                <a:schemeClr val="tx2"/>
              </a:solidFill>
            </a:endParaRPr>
          </a:p>
          <a:p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 b="1"/>
              <a:t>Cost of Equity (Ke) = 8.218%</a:t>
            </a:r>
          </a:p>
          <a:p>
            <a:r>
              <a:rPr lang="en-US"/>
              <a:t> </a:t>
            </a:r>
            <a:r>
              <a:rPr lang="en-US">
                <a:ea typeface="+mn-lt"/>
                <a:cs typeface="+mn-lt"/>
              </a:rPr>
              <a:t> Risk-Free Rate = 4.23%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  Risk Premium = 4.53%</a:t>
            </a:r>
            <a:endParaRPr lang="en-US"/>
          </a:p>
          <a:p>
            <a:r>
              <a:rPr lang="en-US">
                <a:ea typeface="+mn-lt"/>
                <a:cs typeface="+mn-lt"/>
              </a:rPr>
              <a:t>  Beta = 0.88</a:t>
            </a:r>
            <a:endParaRPr lang="en-US"/>
          </a:p>
          <a:p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Cost of Debt (Kd) = 4.10%</a:t>
            </a:r>
          </a:p>
          <a:p>
            <a:r>
              <a:rPr lang="en-US"/>
              <a:t>  Tax Rate = 24.50%</a:t>
            </a:r>
          </a:p>
          <a:p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Capital Structure</a:t>
            </a:r>
          </a:p>
          <a:p>
            <a:r>
              <a:rPr lang="en-US"/>
              <a:t>  Debt = 13%</a:t>
            </a:r>
          </a:p>
          <a:p>
            <a:r>
              <a:rPr lang="en-US"/>
              <a:t>  Equity = 87%</a:t>
            </a:r>
          </a:p>
          <a:p>
            <a:endParaRPr lang="en-US"/>
          </a:p>
          <a:p>
            <a:r>
              <a:rPr lang="en-US" b="1"/>
              <a:t>WACC = 7.55%</a:t>
            </a:r>
          </a:p>
        </p:txBody>
      </p:sp>
      <p:pic>
        <p:nvPicPr>
          <p:cNvPr id="12" name="Graphic 11" descr="Bar graph with upward trend with solid fill">
            <a:extLst>
              <a:ext uri="{FF2B5EF4-FFF2-40B4-BE49-F238E27FC236}">
                <a16:creationId xmlns:a16="http://schemas.microsoft.com/office/drawing/2014/main" id="{18345B8A-6FA3-AC7F-1235-326CC3436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395" y="1241853"/>
            <a:ext cx="430428" cy="378942"/>
          </a:xfrm>
          <a:prstGeom prst="rect">
            <a:avLst/>
          </a:prstGeom>
        </p:spPr>
      </p:pic>
      <p:pic>
        <p:nvPicPr>
          <p:cNvPr id="13" name="Graphic 12" descr="Lightbulb with solid fill">
            <a:extLst>
              <a:ext uri="{FF2B5EF4-FFF2-40B4-BE49-F238E27FC236}">
                <a16:creationId xmlns:a16="http://schemas.microsoft.com/office/drawing/2014/main" id="{6A415637-D047-841E-4E2F-14756C0EC2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6394" y="4938583"/>
            <a:ext cx="451022" cy="45102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3CD6D87-9580-13F0-D6F6-39471A7F49B9}"/>
              </a:ext>
            </a:extLst>
          </p:cNvPr>
          <p:cNvSpPr txBox="1"/>
          <p:nvPr/>
        </p:nvSpPr>
        <p:spPr>
          <a:xfrm>
            <a:off x="6097712" y="1261326"/>
            <a:ext cx="405370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2"/>
                </a:solidFill>
              </a:rPr>
              <a:t>Key Financial Metrics</a:t>
            </a:r>
          </a:p>
        </p:txBody>
      </p:sp>
      <p:pic>
        <p:nvPicPr>
          <p:cNvPr id="19" name="Graphic 18" descr="Downward trend graph with solid fill">
            <a:extLst>
              <a:ext uri="{FF2B5EF4-FFF2-40B4-BE49-F238E27FC236}">
                <a16:creationId xmlns:a16="http://schemas.microsoft.com/office/drawing/2014/main" id="{B9FB13BB-7C0E-90DF-0A88-37F88FC490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9394" y="4742935"/>
            <a:ext cx="451023" cy="389238"/>
          </a:xfrm>
          <a:prstGeom prst="rect">
            <a:avLst/>
          </a:prstGeom>
        </p:spPr>
      </p:pic>
      <p:pic>
        <p:nvPicPr>
          <p:cNvPr id="20" name="Graphic 19" descr="Presentation with org chart with solid fill">
            <a:extLst>
              <a:ext uri="{FF2B5EF4-FFF2-40B4-BE49-F238E27FC236}">
                <a16:creationId xmlns:a16="http://schemas.microsoft.com/office/drawing/2014/main" id="{63320BEC-E3E9-D25E-9553-D76D8D95B9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64543" y="1241853"/>
            <a:ext cx="399536" cy="399536"/>
          </a:xfrm>
          <a:prstGeom prst="rect">
            <a:avLst/>
          </a:prstGeom>
        </p:spPr>
      </p:pic>
      <p:pic>
        <p:nvPicPr>
          <p:cNvPr id="21" name="Graphic 20" descr="Presentation with bar chart with solid fill">
            <a:extLst>
              <a:ext uri="{FF2B5EF4-FFF2-40B4-BE49-F238E27FC236}">
                <a16:creationId xmlns:a16="http://schemas.microsoft.com/office/drawing/2014/main" id="{5EAB4407-37E8-2B6E-BEBC-378C3342DA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9395" y="4269258"/>
            <a:ext cx="451021" cy="451022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E499C81-416C-638C-4F66-914568534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004398"/>
              </p:ext>
            </p:extLst>
          </p:nvPr>
        </p:nvGraphicFramePr>
        <p:xfrm>
          <a:off x="6195197" y="1714707"/>
          <a:ext cx="5172510" cy="2194560"/>
        </p:xfrm>
        <a:graphic>
          <a:graphicData uri="http://schemas.openxmlformats.org/drawingml/2006/table">
            <a:tbl>
              <a:tblPr bandRow="1">
                <a:tableStyleId>{C083E6E3-FA7D-4D7B-A595-EF9225AFEA82}</a:tableStyleId>
              </a:tblPr>
              <a:tblGrid>
                <a:gridCol w="3427567">
                  <a:extLst>
                    <a:ext uri="{9D8B030D-6E8A-4147-A177-3AD203B41FA5}">
                      <a16:colId xmlns:a16="http://schemas.microsoft.com/office/drawing/2014/main" val="559542066"/>
                    </a:ext>
                  </a:extLst>
                </a:gridCol>
                <a:gridCol w="1744943">
                  <a:extLst>
                    <a:ext uri="{9D8B030D-6E8A-4147-A177-3AD203B41FA5}">
                      <a16:colId xmlns:a16="http://schemas.microsoft.com/office/drawing/2014/main" val="2455991593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Metrics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Values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53112778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Terminal growth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0.75%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52381694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err="1">
                          <a:effectLst/>
                        </a:rPr>
                        <a:t>RoIC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26.48%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084427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Profit Margin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10.64%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08999278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Asset Turnover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248.78%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7579926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Shares Outstanding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993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48604439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Debt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$53,383 mil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37154635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Cash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$1659 mil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55055013"/>
                  </a:ext>
                </a:extLst>
              </a:tr>
            </a:tbl>
          </a:graphicData>
        </a:graphic>
      </p:graphicFrame>
      <p:sp>
        <p:nvSpPr>
          <p:cNvPr id="4" name="Title 2">
            <a:extLst>
              <a:ext uri="{FF2B5EF4-FFF2-40B4-BE49-F238E27FC236}">
                <a16:creationId xmlns:a16="http://schemas.microsoft.com/office/drawing/2014/main" id="{0454ACD0-849D-D688-BAFA-91CB197F9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6617" y="408569"/>
            <a:ext cx="6113200" cy="665674"/>
          </a:xfrm>
        </p:spPr>
        <p:txBody>
          <a:bodyPr>
            <a:normAutofit/>
          </a:bodyPr>
          <a:lstStyle/>
          <a:p>
            <a:pPr algn="ctr"/>
            <a:r>
              <a:rPr lang="en-US" sz="3200">
                <a:latin typeface="Georgia"/>
                <a:ea typeface="Source Sans Pro"/>
                <a:cs typeface="Arial"/>
              </a:rPr>
              <a:t>Home Depot DCF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79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3D0B4-3EC8-8B8B-65DE-4EAE639F2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B6F61D-A5DC-74C9-B99E-5EEE43C35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400" y="2818136"/>
            <a:ext cx="6113200" cy="1221727"/>
          </a:xfrm>
        </p:spPr>
        <p:txBody>
          <a:bodyPr>
            <a:normAutofit fontScale="90000"/>
          </a:bodyPr>
          <a:lstStyle/>
          <a:p>
            <a:pPr algn="ctr"/>
            <a:r>
              <a:rPr lang="en-US">
                <a:latin typeface="Arial Black"/>
                <a:ea typeface="Source Sans Pro"/>
                <a:cs typeface="Arial"/>
              </a:rPr>
              <a:t>Multiple Comparison</a:t>
            </a:r>
            <a:endParaRPr lang="en-US">
              <a:latin typeface="Arial Black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56637C-74B1-9743-AA0E-D2266A8093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93139" y="2332801"/>
            <a:ext cx="1805722" cy="264615"/>
          </a:xfrm>
        </p:spPr>
        <p:txBody>
          <a:bodyPr>
            <a:normAutofit lnSpcReduction="10000"/>
          </a:bodyPr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B060D9F3-D120-67B6-301F-AD3FD8A1B27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092321"/>
            <a:ext cx="1805722" cy="264615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sz="1200">
                <a:latin typeface="Georgia"/>
                <a:ea typeface="Source Sans Pro"/>
                <a:cs typeface="Arial"/>
              </a:rPr>
              <a:t>Multiple Comparison</a:t>
            </a:r>
            <a:endParaRPr lang="en-US" sz="12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0B0BB7-D786-9918-3542-C4BFDD4D4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57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D39B0-FC71-28D2-FCC4-AD0925C1D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6F0612-F299-1A83-E739-7880E0D43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>
                <a:latin typeface="Georgia"/>
              </a:rPr>
              <a:t>Valuation Comparison: Lowe’s vs. Home Depot (2025-26) 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9990B95-A337-A8E5-928B-BFE573416D7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8200" y="6123111"/>
            <a:ext cx="1805722" cy="264615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 sz="1200">
                <a:latin typeface="Georgia"/>
                <a:ea typeface="Source Sans Pro"/>
                <a:cs typeface="Arial"/>
              </a:rPr>
              <a:t>Multiple Comparison</a:t>
            </a:r>
            <a:endParaRPr lang="en-US" sz="1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0A1AFA-049D-52C0-7EF4-BB753FC02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99D5F5E-567F-8DD5-FA6D-ECC95F67A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615771"/>
              </p:ext>
            </p:extLst>
          </p:nvPr>
        </p:nvGraphicFramePr>
        <p:xfrm>
          <a:off x="842882" y="1765299"/>
          <a:ext cx="10162179" cy="287217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387393">
                  <a:extLst>
                    <a:ext uri="{9D8B030D-6E8A-4147-A177-3AD203B41FA5}">
                      <a16:colId xmlns:a16="http://schemas.microsoft.com/office/drawing/2014/main" val="923672042"/>
                    </a:ext>
                  </a:extLst>
                </a:gridCol>
                <a:gridCol w="3387393">
                  <a:extLst>
                    <a:ext uri="{9D8B030D-6E8A-4147-A177-3AD203B41FA5}">
                      <a16:colId xmlns:a16="http://schemas.microsoft.com/office/drawing/2014/main" val="3916434118"/>
                    </a:ext>
                  </a:extLst>
                </a:gridCol>
                <a:gridCol w="3387393">
                  <a:extLst>
                    <a:ext uri="{9D8B030D-6E8A-4147-A177-3AD203B41FA5}">
                      <a16:colId xmlns:a16="http://schemas.microsoft.com/office/drawing/2014/main" val="1036090274"/>
                    </a:ext>
                  </a:extLst>
                </a:gridCol>
              </a:tblGrid>
              <a:tr h="319131">
                <a:tc>
                  <a:txBody>
                    <a:bodyPr/>
                    <a:lstStyle/>
                    <a:p>
                      <a:r>
                        <a:rPr lang="en-US"/>
                        <a:t>Metric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/>
                        <a:t>Lowe’s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/>
                        <a:t>Home Depot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92732621"/>
                  </a:ext>
                </a:extLst>
              </a:tr>
              <a:tr h="319131">
                <a:tc>
                  <a:txBody>
                    <a:bodyPr/>
                    <a:lstStyle/>
                    <a:p>
                      <a:r>
                        <a:rPr lang="en-US" sz="1600"/>
                        <a:t>ROIC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28.9% / 30.41%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22.70%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499925674"/>
                  </a:ext>
                </a:extLst>
              </a:tr>
              <a:tr h="3191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Profit Margin 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9.40%  / 9.62%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10.12%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485352751"/>
                  </a:ext>
                </a:extLst>
              </a:tr>
              <a:tr h="3191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Asset Turnover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307.48% / 316.14%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224.22%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779370939"/>
                  </a:ext>
                </a:extLst>
              </a:tr>
              <a:tr h="319131">
                <a:tc>
                  <a:txBody>
                    <a:bodyPr/>
                    <a:lstStyle/>
                    <a:p>
                      <a:r>
                        <a:rPr lang="en-US" sz="1600"/>
                        <a:t>EV/EBITDA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12.89x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15.92x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794751770"/>
                  </a:ext>
                </a:extLst>
              </a:tr>
              <a:tr h="319131">
                <a:tc>
                  <a:txBody>
                    <a:bodyPr/>
                    <a:lstStyle/>
                    <a:p>
                      <a:r>
                        <a:rPr lang="en-US" sz="1600"/>
                        <a:t>P/E Ratio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17.96x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23.74x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164308170"/>
                  </a:ext>
                </a:extLst>
              </a:tr>
              <a:tr h="319131">
                <a:tc>
                  <a:txBody>
                    <a:bodyPr/>
                    <a:lstStyle/>
                    <a:p>
                      <a:r>
                        <a:rPr lang="en-US" sz="1600"/>
                        <a:t>DCF Value / Share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$235.02 / 289.54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$331.62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428132741"/>
                  </a:ext>
                </a:extLst>
              </a:tr>
              <a:tr h="319131">
                <a:tc>
                  <a:txBody>
                    <a:bodyPr/>
                    <a:lstStyle/>
                    <a:p>
                      <a:r>
                        <a:rPr lang="en-US" sz="1600"/>
                        <a:t>Market Price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$220.91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$357.58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479498016"/>
                  </a:ext>
                </a:extLst>
              </a:tr>
              <a:tr h="319131">
                <a:tc>
                  <a:txBody>
                    <a:bodyPr/>
                    <a:lstStyle/>
                    <a:p>
                      <a:r>
                        <a:rPr lang="en-US" sz="1600"/>
                        <a:t>DCF Upside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+6.39% / 31.07%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-7.26%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56671366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224160C-9B96-C52D-9F0F-63ABF99BFEAA}"/>
              </a:ext>
            </a:extLst>
          </p:cNvPr>
          <p:cNvSpPr txBox="1"/>
          <p:nvPr/>
        </p:nvSpPr>
        <p:spPr>
          <a:xfrm>
            <a:off x="838200" y="4940510"/>
            <a:ext cx="101668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12284B"/>
                </a:solidFill>
              </a:rPr>
              <a:t>Lowe’s shows </a:t>
            </a:r>
            <a:r>
              <a:rPr lang="en-US" b="1">
                <a:solidFill>
                  <a:srgbClr val="FF5F03"/>
                </a:solidFill>
              </a:rPr>
              <a:t>stronger return on capital</a:t>
            </a:r>
            <a:r>
              <a:rPr lang="en-US">
                <a:solidFill>
                  <a:srgbClr val="FF5F03"/>
                </a:solidFill>
              </a:rPr>
              <a:t> </a:t>
            </a:r>
            <a:r>
              <a:rPr lang="en-US">
                <a:solidFill>
                  <a:srgbClr val="12284B"/>
                </a:solidFill>
              </a:rPr>
              <a:t>and</a:t>
            </a:r>
            <a:r>
              <a:rPr lang="en-US">
                <a:solidFill>
                  <a:srgbClr val="FF5F03"/>
                </a:solidFill>
              </a:rPr>
              <a:t> </a:t>
            </a:r>
            <a:r>
              <a:rPr lang="en-US" b="1">
                <a:solidFill>
                  <a:srgbClr val="FF5F03"/>
                </a:solidFill>
              </a:rPr>
              <a:t>lower valuation multiples</a:t>
            </a:r>
            <a:r>
              <a:rPr lang="en-US">
                <a:solidFill>
                  <a:srgbClr val="12284B"/>
                </a:solidFill>
              </a:rPr>
              <a:t>, suggesting it's potentially </a:t>
            </a:r>
            <a:r>
              <a:rPr lang="en-US" b="1">
                <a:solidFill>
                  <a:srgbClr val="FF5F03"/>
                </a:solidFill>
              </a:rPr>
              <a:t>undervalued</a:t>
            </a:r>
            <a:r>
              <a:rPr lang="en-US">
                <a:solidFill>
                  <a:srgbClr val="FF5F03"/>
                </a:solidFill>
              </a:rPr>
              <a:t> </a:t>
            </a:r>
            <a:r>
              <a:rPr lang="en-US">
                <a:solidFill>
                  <a:srgbClr val="12284B"/>
                </a:solidFill>
              </a:rPr>
              <a:t>relative to Home Depot.</a:t>
            </a:r>
          </a:p>
        </p:txBody>
      </p:sp>
    </p:spTree>
    <p:extLst>
      <p:ext uri="{BB962C8B-B14F-4D97-AF65-F5344CB8AC3E}">
        <p14:creationId xmlns:p14="http://schemas.microsoft.com/office/powerpoint/2010/main" val="1292852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E504A1-BA2E-8533-E29F-1CD35F8E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17</a:t>
            </a:fld>
            <a:endParaRPr lang="en-US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D16FEFA-E646-D145-3C3A-07EC20C40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4889"/>
            <a:ext cx="10515590" cy="599096"/>
          </a:xfrm>
        </p:spPr>
        <p:txBody>
          <a:bodyPr>
            <a:noAutofit/>
          </a:bodyPr>
          <a:lstStyle/>
          <a:p>
            <a:r>
              <a:rPr lang="en-US" sz="3200">
                <a:latin typeface="Georgia"/>
              </a:rPr>
              <a:t>Valuation Comparison: Lowe’s vs. Home Depot (2025) II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D2C9CAC-DA27-59CB-1189-2FC9EBD147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8075343"/>
              </p:ext>
            </p:extLst>
          </p:nvPr>
        </p:nvGraphicFramePr>
        <p:xfrm>
          <a:off x="6095995" y="1666239"/>
          <a:ext cx="5955525" cy="4699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E9AF774F-633A-A5AE-D1CB-898993772940}"/>
              </a:ext>
            </a:extLst>
          </p:cNvPr>
          <p:cNvSpPr txBox="1">
            <a:spLocks/>
          </p:cNvSpPr>
          <p:nvPr/>
        </p:nvSpPr>
        <p:spPr>
          <a:xfrm>
            <a:off x="838200" y="6123111"/>
            <a:ext cx="1805722" cy="26461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i="0" kern="1200">
                <a:solidFill>
                  <a:schemeClr val="bg1"/>
                </a:solidFill>
                <a:latin typeface="Arial Black" panose="020B0604020202020204" pitchFamily="34" charset="0"/>
                <a:ea typeface="Source Sans Pro" panose="020B0503030403020204" pitchFamily="34" charset="0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latin typeface="Georgia"/>
                <a:ea typeface="Source Sans Pro"/>
                <a:cs typeface="Arial"/>
              </a:rPr>
              <a:t>Multiple Comparison</a:t>
            </a:r>
            <a:endParaRPr lang="en-US" sz="1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C8CE0B-348F-49F8-6EB0-CF9AA135880C}"/>
              </a:ext>
            </a:extLst>
          </p:cNvPr>
          <p:cNvSpPr txBox="1"/>
          <p:nvPr/>
        </p:nvSpPr>
        <p:spPr>
          <a:xfrm>
            <a:off x="697335" y="1666239"/>
            <a:ext cx="5153049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Clr>
                <a:srgbClr val="FF5F03"/>
              </a:buClr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Clr>
                <a:srgbClr val="FF5F03"/>
              </a:buClr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5F03"/>
                </a:solidFill>
              </a:rPr>
              <a:t>ROIC is 27% higher</a:t>
            </a:r>
            <a:r>
              <a:rPr lang="en-US" sz="1400">
                <a:solidFill>
                  <a:srgbClr val="FF5F03"/>
                </a:solidFill>
              </a:rPr>
              <a:t> </a:t>
            </a:r>
            <a:r>
              <a:rPr lang="en-US" sz="1400"/>
              <a:t>for Lowe’s, highlighting more efficient and profitable capital deployment.</a:t>
            </a:r>
          </a:p>
          <a:p>
            <a:pPr marL="285750" indent="-285750">
              <a:buClr>
                <a:srgbClr val="FF5F03"/>
              </a:buClr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Clr>
                <a:srgbClr val="FF5F03"/>
              </a:buClr>
              <a:buFont typeface="Arial" panose="020B0604020202020204" pitchFamily="34" charset="0"/>
              <a:buChar char="•"/>
            </a:pPr>
            <a:r>
              <a:rPr lang="en-US" sz="1400"/>
              <a:t>While </a:t>
            </a:r>
            <a:r>
              <a:rPr lang="en-US" sz="1400" b="1">
                <a:solidFill>
                  <a:srgbClr val="FF5F03"/>
                </a:solidFill>
              </a:rPr>
              <a:t>profit margins are slightly lower</a:t>
            </a:r>
            <a:r>
              <a:rPr lang="en-US" sz="1400"/>
              <a:t>, Lowe’s compensates with </a:t>
            </a:r>
            <a:r>
              <a:rPr lang="en-US" sz="1400" b="1">
                <a:solidFill>
                  <a:srgbClr val="FF5F03"/>
                </a:solidFill>
              </a:rPr>
              <a:t>37% higher asset turnover</a:t>
            </a:r>
            <a:r>
              <a:rPr lang="en-US" sz="1400"/>
              <a:t>, driving strong revenue per dollar of assets.</a:t>
            </a:r>
          </a:p>
          <a:p>
            <a:pPr marL="285750" indent="-285750">
              <a:buClr>
                <a:srgbClr val="FF5F03"/>
              </a:buClr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Clr>
                <a:srgbClr val="FF5F03"/>
              </a:buClr>
              <a:buFont typeface="Arial" panose="020B0604020202020204" pitchFamily="34" charset="0"/>
              <a:buChar char="•"/>
            </a:pPr>
            <a:r>
              <a:rPr lang="en-US" sz="1400"/>
              <a:t>Lowe’s trades at a </a:t>
            </a:r>
            <a:r>
              <a:rPr lang="en-US" sz="1400" b="1">
                <a:solidFill>
                  <a:srgbClr val="FF5F03"/>
                </a:solidFill>
              </a:rPr>
              <a:t>24% discount on P/E</a:t>
            </a:r>
            <a:r>
              <a:rPr lang="en-US" sz="1400"/>
              <a:t> and a </a:t>
            </a:r>
            <a:r>
              <a:rPr lang="en-US" sz="1400" b="1">
                <a:solidFill>
                  <a:srgbClr val="FF5F03"/>
                </a:solidFill>
              </a:rPr>
              <a:t>19% discount on EV/EBITDA</a:t>
            </a:r>
            <a:r>
              <a:rPr lang="en-US" sz="1400"/>
              <a:t>, despite stronger operational metrics.</a:t>
            </a:r>
          </a:p>
          <a:p>
            <a:pPr marL="285750" indent="-285750">
              <a:buClr>
                <a:srgbClr val="FF5F03"/>
              </a:buClr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Clr>
                <a:srgbClr val="FF5F03"/>
              </a:buClr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5F03"/>
                </a:solidFill>
              </a:rPr>
              <a:t>DCF valuation shows upside for Lowe’s</a:t>
            </a:r>
            <a:r>
              <a:rPr lang="en-US" sz="1400"/>
              <a:t>, while Home Depot’s share price exceeds its fair value by over 7%.</a:t>
            </a:r>
          </a:p>
          <a:p>
            <a:pPr marL="285750" indent="-285750">
              <a:buClr>
                <a:srgbClr val="FF5F03"/>
              </a:buClr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Clr>
                <a:srgbClr val="FF5F03"/>
              </a:buClr>
              <a:buFont typeface="Arial" panose="020B0604020202020204" pitchFamily="34" charset="0"/>
              <a:buChar char="•"/>
            </a:pPr>
            <a:r>
              <a:rPr lang="en-US" sz="1400"/>
              <a:t>These metrics point to a </a:t>
            </a:r>
            <a:r>
              <a:rPr lang="en-US" sz="1400" b="1">
                <a:solidFill>
                  <a:srgbClr val="FF5F03"/>
                </a:solidFill>
              </a:rPr>
              <a:t>compelling mispricing opportunity</a:t>
            </a:r>
            <a:r>
              <a:rPr lang="en-US" sz="1400"/>
              <a:t>: Lowe’s is both </a:t>
            </a:r>
            <a:r>
              <a:rPr lang="en-US" sz="1400" b="1">
                <a:solidFill>
                  <a:srgbClr val="FF5F03"/>
                </a:solidFill>
              </a:rPr>
              <a:t>more efficient</a:t>
            </a:r>
            <a:r>
              <a:rPr lang="en-US" sz="1400">
                <a:solidFill>
                  <a:srgbClr val="FF5F03"/>
                </a:solidFill>
              </a:rPr>
              <a:t> </a:t>
            </a:r>
            <a:r>
              <a:rPr lang="en-US" sz="1400"/>
              <a:t>and </a:t>
            </a:r>
            <a:r>
              <a:rPr lang="en-US" sz="1400" b="1">
                <a:solidFill>
                  <a:srgbClr val="FF5F03"/>
                </a:solidFill>
              </a:rPr>
              <a:t>more attractively valued</a:t>
            </a:r>
            <a:r>
              <a:rPr lang="en-US" sz="1400">
                <a:solidFill>
                  <a:srgbClr val="FF5F03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9302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2B363-19AB-2618-7364-C5E8D8ED2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335914-AE28-1B2B-89DB-F58A54BDB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9697" y="2818136"/>
            <a:ext cx="6216173" cy="1221727"/>
          </a:xfrm>
        </p:spPr>
        <p:txBody>
          <a:bodyPr>
            <a:normAutofit fontScale="90000"/>
          </a:bodyPr>
          <a:lstStyle/>
          <a:p>
            <a:pPr algn="ctr"/>
            <a:r>
              <a:rPr lang="en-US">
                <a:latin typeface="Arial Black"/>
                <a:ea typeface="Source Sans Pro"/>
                <a:cs typeface="Arial"/>
              </a:rPr>
              <a:t>Final Recommendation</a:t>
            </a:r>
            <a:endParaRPr lang="en-US">
              <a:latin typeface="Arial Black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99233F-A8AB-53F5-D6DC-1EAF333603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93139" y="2332801"/>
            <a:ext cx="1805722" cy="264615"/>
          </a:xfrm>
        </p:spPr>
        <p:txBody>
          <a:bodyPr>
            <a:normAutofit lnSpcReduction="10000"/>
          </a:bodyPr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E854DC01-7505-1A52-1F6B-1621191C74B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14722" y="6132602"/>
            <a:ext cx="1805722" cy="264615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 sz="1200">
                <a:latin typeface="Arial Black"/>
                <a:ea typeface="Source Sans Pro"/>
              </a:rPr>
              <a:t>Final Recommendation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FF0ACD-6241-6D39-9920-CE36169A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37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91025-77D4-D2B0-57F3-6F2192BFE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E7378D-A854-D85D-23FE-AE35B6DED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latin typeface="Georgia"/>
              </a:rPr>
              <a:t>Which Stock Would We Buy?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47F8DA-5EC6-796A-7096-D1752F81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19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EB6DC8-1390-49DE-B9C8-30CBEE47940D}"/>
              </a:ext>
            </a:extLst>
          </p:cNvPr>
          <p:cNvSpPr txBox="1"/>
          <p:nvPr/>
        </p:nvSpPr>
        <p:spPr>
          <a:xfrm>
            <a:off x="837465" y="2609913"/>
            <a:ext cx="10909897" cy="286232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FF5F03"/>
                </a:solidFill>
              </a:rPr>
              <a:t>Recommendation: </a:t>
            </a:r>
            <a:r>
              <a:rPr lang="en-US">
                <a:solidFill>
                  <a:srgbClr val="12284B"/>
                </a:solidFill>
              </a:rPr>
              <a:t>Buy Lowe’s</a:t>
            </a:r>
          </a:p>
          <a:p>
            <a:endParaRPr lang="en-US">
              <a:solidFill>
                <a:srgbClr val="12284B"/>
              </a:solidFill>
            </a:endParaRPr>
          </a:p>
          <a:p>
            <a:r>
              <a:rPr lang="en-US" b="1">
                <a:solidFill>
                  <a:srgbClr val="FF5F03"/>
                </a:solidFill>
              </a:rPr>
              <a:t>Why?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/>
              <a:t>Higher ROIC (29.6%) → stronger operational efficiency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/>
              <a:t>Undervalued: trades </a:t>
            </a:r>
            <a:r>
              <a:rPr lang="en-US" b="1"/>
              <a:t>~6% below DCF-based </a:t>
            </a:r>
            <a:r>
              <a:rPr lang="en-US"/>
              <a:t>fair value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/>
              <a:t>P/E is </a:t>
            </a:r>
            <a:r>
              <a:rPr lang="en-US" b="1"/>
              <a:t>~24% lower</a:t>
            </a:r>
            <a:r>
              <a:rPr lang="en-US"/>
              <a:t> than Home Depot despite more efficient capital use</a:t>
            </a:r>
          </a:p>
          <a:p>
            <a:endParaRPr lang="en-US"/>
          </a:p>
          <a:p>
            <a:r>
              <a:rPr lang="en-US" b="1">
                <a:solidFill>
                  <a:srgbClr val="FF5F03"/>
                </a:solidFill>
              </a:rPr>
              <a:t>Home Depot: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/>
              <a:t>High-quality business, but valuation looks stretched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/>
              <a:t>Current share price </a:t>
            </a:r>
            <a:r>
              <a:rPr lang="en-US" b="1"/>
              <a:t>exceeds</a:t>
            </a:r>
            <a:r>
              <a:rPr lang="en-US"/>
              <a:t> DCF valuation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4BB502D-11FB-2AB1-9F0C-E13AEB7B66A1}"/>
              </a:ext>
            </a:extLst>
          </p:cNvPr>
          <p:cNvSpPr txBox="1">
            <a:spLocks/>
          </p:cNvSpPr>
          <p:nvPr/>
        </p:nvSpPr>
        <p:spPr>
          <a:xfrm>
            <a:off x="837466" y="1860336"/>
            <a:ext cx="10909897" cy="599096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12284B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en-US" sz="1800" i="1"/>
              <a:t>“If forced to choose between two good companies, pick the one priced like it’s not.”</a:t>
            </a:r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1E5986B2-70DB-8258-AC63-DE7D93087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8203" y1="35742" x2="58398" y2="38574"/>
                        <a14:foregroundMark x1="68555" y1="37305" x2="76855" y2="38867"/>
                        <a14:foregroundMark x1="76855" y1="38867" x2="78711" y2="39844"/>
                        <a14:foregroundMark x1="39453" y1="46484" x2="39453" y2="46484"/>
                        <a14:foregroundMark x1="39551" y1="42480" x2="39551" y2="42480"/>
                        <a14:foregroundMark x1="25977" y1="41797" x2="25977" y2="41797"/>
                        <a14:backgroundMark x1="40527" y1="47266" x2="40527" y2="47266"/>
                        <a14:backgroundMark x1="39941" y1="44434" x2="39941" y2="44434"/>
                        <a14:backgroundMark x1="21094" y1="41797" x2="21094" y2="41797"/>
                        <a14:backgroundMark x1="26855" y1="41797" x2="26855" y2="41797"/>
                        <a14:backgroundMark x1="21484" y1="41309" x2="21484" y2="41309"/>
                        <a14:backgroundMark x1="41113" y1="41113" x2="41113" y2="411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299" y="2510542"/>
            <a:ext cx="3061063" cy="30610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FB08D640-3129-EF67-802B-732C074B6F81}"/>
              </a:ext>
            </a:extLst>
          </p:cNvPr>
          <p:cNvSpPr txBox="1">
            <a:spLocks/>
          </p:cNvSpPr>
          <p:nvPr/>
        </p:nvSpPr>
        <p:spPr>
          <a:xfrm>
            <a:off x="714722" y="6132602"/>
            <a:ext cx="1805722" cy="26461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i="0" kern="1200">
                <a:solidFill>
                  <a:schemeClr val="bg1"/>
                </a:solidFill>
                <a:latin typeface="Arial Black" panose="020B0604020202020204" pitchFamily="34" charset="0"/>
                <a:ea typeface="Source Sans Pro" panose="020B0503030403020204" pitchFamily="34" charset="0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latin typeface="Arial Black"/>
                <a:ea typeface="Source Sans Pro"/>
              </a:rPr>
              <a:t>Final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542389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08F99-78C4-7BAF-4640-7BFCEF412A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7CB637F1-8521-343E-B9ED-760428D138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222188"/>
            <a:ext cx="1805722" cy="264615"/>
          </a:xfrm>
          <a:noFill/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>
                <a:latin typeface="Arial Black"/>
                <a:ea typeface="Source Sans Pro"/>
              </a:rPr>
              <a:t>Thankyou!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47C070-83D8-0E09-9CBC-2FE11B937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5DA76-2DD3-144A-9C84-6B8D9531DA2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75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6A621C-1AC2-27D2-F163-DF5098A9E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/>
              <a:t>Questions?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2FE83278-A387-400D-8A3E-FBDE08AAE93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7466" y="6170702"/>
            <a:ext cx="1805722" cy="264615"/>
          </a:xfrm>
          <a:noFill/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ctr">
              <a:buNone/>
              <a:defRPr sz="1400" b="1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en-US">
                <a:latin typeface="Arial Black"/>
                <a:ea typeface="Source Sans Pro"/>
              </a:rPr>
              <a:t>Questions?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28F363-D511-98CA-E42C-90A966ACD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Georgia"/>
              </a:rPr>
              <a:t>22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25140"/>
      </p:ext>
    </p:extLst>
  </p:cSld>
  <p:clrMapOvr>
    <a:masterClrMapping/>
  </p:clrMapOvr>
</p:sld>
</file>

<file path=ppt/theme/theme1.xml><?xml version="1.0" encoding="utf-8"?>
<a:theme xmlns:a="http://schemas.openxmlformats.org/drawingml/2006/main" name="StratCom ppt">
  <a:themeElements>
    <a:clrScheme name="Illini Theme">
      <a:dk1>
        <a:srgbClr val="13294B"/>
      </a:dk1>
      <a:lt1>
        <a:srgbClr val="FEFFFF"/>
      </a:lt1>
      <a:dk2>
        <a:srgbClr val="F55F06"/>
      </a:dk2>
      <a:lt2>
        <a:srgbClr val="C8C6C7"/>
      </a:lt2>
      <a:accent1>
        <a:srgbClr val="2870CD"/>
      </a:accent1>
      <a:accent2>
        <a:srgbClr val="3CB3E4"/>
      </a:accent2>
      <a:accent3>
        <a:srgbClr val="F8B316"/>
      </a:accent3>
      <a:accent4>
        <a:srgbClr val="196130"/>
      </a:accent4>
      <a:accent5>
        <a:srgbClr val="267E8D"/>
      </a:accent5>
      <a:accent6>
        <a:srgbClr val="7C3D13"/>
      </a:accent6>
      <a:hlink>
        <a:srgbClr val="C84013"/>
      </a:hlink>
      <a:folHlink>
        <a:srgbClr val="13294B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21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StratCom ppt</vt:lpstr>
      <vt:lpstr>Home Depot vs. Lowe’s Financial Comparison and Valuation  Analysis</vt:lpstr>
      <vt:lpstr>Overview</vt:lpstr>
      <vt:lpstr>Industry &amp; Company Overview</vt:lpstr>
      <vt:lpstr>Home Improvement Retail Industry Overview</vt:lpstr>
      <vt:lpstr>Lowe’s Overview</vt:lpstr>
      <vt:lpstr>Home Depot Overview</vt:lpstr>
      <vt:lpstr>Lowe's FY24-25 Normalized Statement</vt:lpstr>
      <vt:lpstr>Lowe's FY23-24 Normalized Statement</vt:lpstr>
      <vt:lpstr>Home Depot FY24-25 Normalized Statement</vt:lpstr>
      <vt:lpstr>Home Depot FY23-24 Normalized Statement</vt:lpstr>
      <vt:lpstr>Lowe's DCF</vt:lpstr>
      <vt:lpstr>PowerPoint Presentation</vt:lpstr>
      <vt:lpstr>Home Depot DCF</vt:lpstr>
      <vt:lpstr>Home Depot DCF</vt:lpstr>
      <vt:lpstr>Multiple Comparison</vt:lpstr>
      <vt:lpstr>Valuation Comparison: Lowe’s vs. Home Depot (2025-26) </vt:lpstr>
      <vt:lpstr>Valuation Comparison: Lowe’s vs. Home Depot (2025) II</vt:lpstr>
      <vt:lpstr>Final Recommendation</vt:lpstr>
      <vt:lpstr>Which Stock Would We Buy?</vt:lpstr>
      <vt:lpstr>PowerPoint Presentation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of the Chancellor</dc:title>
  <dc:creator>Marcum, Cassidy Leigh</dc:creator>
  <cp:revision>3</cp:revision>
  <dcterms:created xsi:type="dcterms:W3CDTF">2023-11-29T19:20:00Z</dcterms:created>
  <dcterms:modified xsi:type="dcterms:W3CDTF">2025-05-01T05:20:21Z</dcterms:modified>
</cp:coreProperties>
</file>