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6858000" cy="9144000"/>
  <p:embeddedFontLst>
    <p:embeddedFont>
      <p:font typeface="Arial Black" panose="020B0A04020102020204" pitchFamily="34" charset="0"/>
      <p:regular r:id="rId15"/>
      <p:bold r:id="rId16"/>
    </p:embeddedFont>
    <p:embeddedFont>
      <p:font typeface="Roboto" panose="02000000000000000000" pitchFamily="2" charset="0"/>
      <p:regular r:id="rId17"/>
      <p:bold r:id="rId18"/>
      <p:italic r:id="rId19"/>
      <p:boldItalic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23de02f2c81_0_2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23de02f2c81_0_2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23de02f2c81_0_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23de02f2c81_0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23de02f2c81_0_2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23de02f2c81_0_2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23de02f2c81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23de02f2c81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23de02f2c81_0_2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23de02f2c81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23de02f2c81_0_2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23de02f2c81_0_2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23de02f2c81_0_2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23de02f2c81_0_2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23de02f2c81_0_2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23de02f2c81_0_2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23de02f2c81_0_3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23de02f2c81_0_3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23de02f2c81_0_3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23de02f2c81_0_3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16;p2"/>
          <p:cNvSpPr txBox="1">
            <a:spLocks noGrp="1"/>
          </p:cNvSpPr>
          <p:nvPr>
            <p:ph type="ctrTitle"/>
          </p:nvPr>
        </p:nvSpPr>
        <p:spPr>
          <a:xfrm>
            <a:off x="598100" y="1775222"/>
            <a:ext cx="8222100" cy="8388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a:endParaRPr/>
          </a:p>
        </p:txBody>
      </p:sp>
      <p:sp>
        <p:nvSpPr>
          <p:cNvPr id="17" name="Google Shape;17;p2"/>
          <p:cNvSpPr txBox="1">
            <a:spLocks noGrp="1"/>
          </p:cNvSpPr>
          <p:nvPr>
            <p:ph type="subTitle" idx="1"/>
          </p:nvPr>
        </p:nvSpPr>
        <p:spPr>
          <a:xfrm>
            <a:off x="598088" y="2715913"/>
            <a:ext cx="8222100" cy="4329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18" name="Google Shape;18;p2"/>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 name="Google Shape;26;p3"/>
          <p:cNvSpPr txBox="1">
            <a:spLocks noGrp="1"/>
          </p:cNvSpPr>
          <p:nvPr>
            <p:ph type="title"/>
          </p:nvPr>
        </p:nvSpPr>
        <p:spPr>
          <a:xfrm>
            <a:off x="598100" y="2152347"/>
            <a:ext cx="8222100" cy="838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a:endParaRPr/>
          </a:p>
        </p:txBody>
      </p:sp>
      <p:sp>
        <p:nvSpPr>
          <p:cNvPr id="27" name="Google Shape;27;p3"/>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4"/>
            <p:cNvSpPr/>
            <p:nvPr/>
          </p:nvSpPr>
          <p:spPr>
            <a:xfrm>
              <a:off x="7170274" y="3903669"/>
              <a:ext cx="989100" cy="9879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4"/>
            <p:cNvSpPr/>
            <p:nvPr/>
          </p:nvSpPr>
          <p:spPr>
            <a:xfrm>
              <a:off x="0" y="4891594"/>
              <a:ext cx="9144000" cy="252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 name="Google Shape;35;p4"/>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6" name="Google Shape;36;p4"/>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37" name="Google Shape;37;p4"/>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8"/>
        <p:cNvGrpSpPr/>
        <p:nvPr/>
      </p:nvGrpSpPr>
      <p:grpSpPr>
        <a:xfrm>
          <a:off x="0" y="0"/>
          <a:ext cx="0" cy="0"/>
          <a:chOff x="0" y="0"/>
          <a:chExt cx="0" cy="0"/>
        </a:xfrm>
      </p:grpSpPr>
      <p:sp>
        <p:nvSpPr>
          <p:cNvPr id="39" name="Google Shape;39;p5"/>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0" name="Google Shape;40;p5"/>
          <p:cNvSpPr txBox="1">
            <a:spLocks noGrp="1"/>
          </p:cNvSpPr>
          <p:nvPr>
            <p:ph type="body" idx="1"/>
          </p:nvPr>
        </p:nvSpPr>
        <p:spPr>
          <a:xfrm>
            <a:off x="311700" y="1229975"/>
            <a:ext cx="3999900" cy="3339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1" name="Google Shape;41;p5"/>
          <p:cNvSpPr txBox="1">
            <a:spLocks noGrp="1"/>
          </p:cNvSpPr>
          <p:nvPr>
            <p:ph type="body" idx="2"/>
          </p:nvPr>
        </p:nvSpPr>
        <p:spPr>
          <a:xfrm>
            <a:off x="4832400" y="1229975"/>
            <a:ext cx="3999900" cy="3339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2" name="Google Shape;42;p5"/>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3"/>
        <p:cNvGrpSpPr/>
        <p:nvPr/>
      </p:nvGrpSpPr>
      <p:grpSpPr>
        <a:xfrm>
          <a:off x="0" y="0"/>
          <a:ext cx="0" cy="0"/>
          <a:chOff x="0" y="0"/>
          <a:chExt cx="0" cy="0"/>
        </a:xfrm>
      </p:grpSpPr>
      <p:sp>
        <p:nvSpPr>
          <p:cNvPr id="44" name="Google Shape;44;p6"/>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5" name="Google Shape;45;p6"/>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6"/>
        <p:cNvGrpSpPr/>
        <p:nvPr/>
      </p:nvGrpSpPr>
      <p:grpSpPr>
        <a:xfrm>
          <a:off x="0" y="0"/>
          <a:ext cx="0" cy="0"/>
          <a:chOff x="0" y="0"/>
          <a:chExt cx="0" cy="0"/>
        </a:xfrm>
      </p:grpSpPr>
      <p:sp>
        <p:nvSpPr>
          <p:cNvPr id="47" name="Google Shape;47;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8" name="Google Shape;48;p7"/>
          <p:cNvSpPr txBox="1">
            <a:spLocks noGrp="1"/>
          </p:cNvSpPr>
          <p:nvPr>
            <p:ph type="body" idx="1"/>
          </p:nvPr>
        </p:nvSpPr>
        <p:spPr>
          <a:xfrm>
            <a:off x="311700" y="1465804"/>
            <a:ext cx="2808000" cy="31032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9" name="Google Shape;49;p7"/>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4"/>
        </a:solidFill>
        <a:effectLst/>
      </p:bgPr>
    </p:bg>
    <p:spTree>
      <p:nvGrpSpPr>
        <p:cNvPr id="1"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8"/>
            <p:cNvSpPr/>
            <p:nvPr/>
          </p:nvSpPr>
          <p:spPr>
            <a:xfrm rot="10800000" flipH="1">
              <a:off x="7113588" y="107"/>
              <a:ext cx="1015200" cy="10152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 name="Google Shape;57;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58" name="Google Shape;58;p8"/>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1" name="Google Shape;61;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62" name="Google Shape;62;p9"/>
          <p:cNvSpPr txBox="1">
            <a:spLocks noGrp="1"/>
          </p:cNvSpPr>
          <p:nvPr>
            <p:ph type="title"/>
          </p:nvPr>
        </p:nvSpPr>
        <p:spPr>
          <a:xfrm>
            <a:off x="265500" y="1151100"/>
            <a:ext cx="4045200" cy="15645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63" name="Google Shape;63;p9"/>
          <p:cNvSpPr txBox="1">
            <a:spLocks noGrp="1"/>
          </p:cNvSpPr>
          <p:nvPr>
            <p:ph type="subTitle" idx="1"/>
          </p:nvPr>
        </p:nvSpPr>
        <p:spPr>
          <a:xfrm>
            <a:off x="265500" y="2769001"/>
            <a:ext cx="4045200" cy="12693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64" name="Google Shape;64;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65" name="Google Shape;65;p9"/>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6"/>
        <p:cNvGrpSpPr/>
        <p:nvPr/>
      </p:nvGrpSpPr>
      <p:grpSpPr>
        <a:xfrm>
          <a:off x="0" y="0"/>
          <a:ext cx="0" cy="0"/>
          <a:chOff x="0" y="0"/>
          <a:chExt cx="0" cy="0"/>
        </a:xfrm>
      </p:grpSpPr>
      <p:sp>
        <p:nvSpPr>
          <p:cNvPr id="67" name="Google Shape;67;p10"/>
          <p:cNvSpPr txBox="1">
            <a:spLocks noGrp="1"/>
          </p:cNvSpPr>
          <p:nvPr>
            <p:ph type="body" idx="1"/>
          </p:nvPr>
        </p:nvSpPr>
        <p:spPr>
          <a:xfrm>
            <a:off x="319500" y="423057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68" name="Google Shape;68;p10"/>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1"/>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 name="Google Shape;76;p11"/>
          <p:cNvSpPr txBox="1">
            <a:spLocks noGrp="1"/>
          </p:cNvSpPr>
          <p:nvPr>
            <p:ph type="title" hasCustomPrompt="1"/>
          </p:nvPr>
        </p:nvSpPr>
        <p:spPr>
          <a:xfrm>
            <a:off x="311700" y="1256050"/>
            <a:ext cx="8520600" cy="20307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a:spLocks noGrp="1"/>
          </p:cNvSpPr>
          <p:nvPr>
            <p:ph type="body" idx="1"/>
          </p:nvPr>
        </p:nvSpPr>
        <p:spPr>
          <a:xfrm>
            <a:off x="311700" y="3369225"/>
            <a:ext cx="8520600" cy="12819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Clr>
                <a:schemeClr val="lt1"/>
              </a:buClr>
              <a:buSzPts val="1800"/>
              <a:buChar char="●"/>
              <a:defRPr>
                <a:solidFill>
                  <a:schemeClr val="lt1"/>
                </a:solidFill>
              </a:defRPr>
            </a:lvl1pPr>
            <a:lvl2pPr marL="914400" lvl="1" indent="-317500" algn="ctr">
              <a:spcBef>
                <a:spcPts val="0"/>
              </a:spcBef>
              <a:spcAft>
                <a:spcPts val="0"/>
              </a:spcAft>
              <a:buClr>
                <a:schemeClr val="lt1"/>
              </a:buClr>
              <a:buSzPts val="1400"/>
              <a:buChar char="○"/>
              <a:defRPr>
                <a:solidFill>
                  <a:schemeClr val="lt1"/>
                </a:solidFill>
              </a:defRPr>
            </a:lvl2pPr>
            <a:lvl3pPr marL="1371600" lvl="2" indent="-317500" algn="ctr">
              <a:spcBef>
                <a:spcPts val="0"/>
              </a:spcBef>
              <a:spcAft>
                <a:spcPts val="0"/>
              </a:spcAft>
              <a:buClr>
                <a:schemeClr val="lt1"/>
              </a:buClr>
              <a:buSzPts val="1400"/>
              <a:buChar char="■"/>
              <a:defRPr>
                <a:solidFill>
                  <a:schemeClr val="lt1"/>
                </a:solidFill>
              </a:defRPr>
            </a:lvl3pPr>
            <a:lvl4pPr marL="1828800" lvl="3" indent="-317500" algn="ctr">
              <a:spcBef>
                <a:spcPts val="0"/>
              </a:spcBef>
              <a:spcAft>
                <a:spcPts val="0"/>
              </a:spcAft>
              <a:buClr>
                <a:schemeClr val="lt1"/>
              </a:buClr>
              <a:buSzPts val="1400"/>
              <a:buChar char="●"/>
              <a:defRPr>
                <a:solidFill>
                  <a:schemeClr val="lt1"/>
                </a:solidFill>
              </a:defRPr>
            </a:lvl4pPr>
            <a:lvl5pPr marL="2286000" lvl="4" indent="-317500" algn="ctr">
              <a:spcBef>
                <a:spcPts val="0"/>
              </a:spcBef>
              <a:spcAft>
                <a:spcPts val="0"/>
              </a:spcAft>
              <a:buClr>
                <a:schemeClr val="lt1"/>
              </a:buClr>
              <a:buSzPts val="1400"/>
              <a:buChar char="○"/>
              <a:defRPr>
                <a:solidFill>
                  <a:schemeClr val="lt1"/>
                </a:solidFill>
              </a:defRPr>
            </a:lvl5pPr>
            <a:lvl6pPr marL="2743200" lvl="5" indent="-317500" algn="ctr">
              <a:spcBef>
                <a:spcPts val="0"/>
              </a:spcBef>
              <a:spcAft>
                <a:spcPts val="0"/>
              </a:spcAft>
              <a:buClr>
                <a:schemeClr val="lt1"/>
              </a:buClr>
              <a:buSzPts val="1400"/>
              <a:buChar char="■"/>
              <a:defRPr>
                <a:solidFill>
                  <a:schemeClr val="lt1"/>
                </a:solidFill>
              </a:defRPr>
            </a:lvl6pPr>
            <a:lvl7pPr marL="3200400" lvl="6" indent="-317500" algn="ctr">
              <a:spcBef>
                <a:spcPts val="0"/>
              </a:spcBef>
              <a:spcAft>
                <a:spcPts val="0"/>
              </a:spcAft>
              <a:buClr>
                <a:schemeClr val="lt1"/>
              </a:buClr>
              <a:buSzPts val="1400"/>
              <a:buChar char="●"/>
              <a:defRPr>
                <a:solidFill>
                  <a:schemeClr val="lt1"/>
                </a:solidFill>
              </a:defRPr>
            </a:lvl7pPr>
            <a:lvl8pPr marL="3657600" lvl="7" indent="-317500" algn="ctr">
              <a:spcBef>
                <a:spcPts val="0"/>
              </a:spcBef>
              <a:spcAft>
                <a:spcPts val="0"/>
              </a:spcAft>
              <a:buClr>
                <a:schemeClr val="lt1"/>
              </a:buClr>
              <a:buSzPts val="1400"/>
              <a:buChar char="○"/>
              <a:defRPr>
                <a:solidFill>
                  <a:schemeClr val="lt1"/>
                </a:solidFill>
              </a:defRPr>
            </a:lvl8pPr>
            <a:lvl9pPr marL="4114800" lvl="8" indent="-317500" algn="ctr">
              <a:spcBef>
                <a:spcPts val="0"/>
              </a:spcBef>
              <a:spcAft>
                <a:spcPts val="0"/>
              </a:spcAft>
              <a:buClr>
                <a:schemeClr val="lt1"/>
              </a:buClr>
              <a:buSzPts val="1400"/>
              <a:buChar char="■"/>
              <a:defRPr>
                <a:solidFill>
                  <a:schemeClr val="lt1"/>
                </a:solidFill>
              </a:defRPr>
            </a:lvl9pPr>
          </a:lstStyle>
          <a:p>
            <a:endParaRPr/>
          </a:p>
        </p:txBody>
      </p:sp>
      <p:sp>
        <p:nvSpPr>
          <p:cNvPr id="78" name="Google Shape;78;p11"/>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eometr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marL="914400" lvl="1"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marL="1371600" lvl="2"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marL="1828800" lvl="3"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marL="2286000" lvl="4"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marL="2743200" lvl="5"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marL="3200400" lvl="6"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marL="3657600" lvl="7"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marL="4114800" lvl="8"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3"/>
          <p:cNvSpPr txBox="1">
            <a:spLocks noGrp="1"/>
          </p:cNvSpPr>
          <p:nvPr>
            <p:ph type="ctrTitle"/>
          </p:nvPr>
        </p:nvSpPr>
        <p:spPr>
          <a:xfrm>
            <a:off x="598100" y="1775222"/>
            <a:ext cx="8222100" cy="838800"/>
          </a:xfrm>
          <a:prstGeom prst="rect">
            <a:avLst/>
          </a:prstGeom>
        </p:spPr>
        <p:txBody>
          <a:bodyPr spcFirstLastPara="1" wrap="square" lIns="91425" tIns="91425" rIns="91425" bIns="91425" anchor="b" anchorCtr="0">
            <a:normAutofit fontScale="90000"/>
          </a:bodyPr>
          <a:lstStyle/>
          <a:p>
            <a:pPr marL="0" lvl="0" indent="0" algn="l" rtl="0">
              <a:spcBef>
                <a:spcPts val="0"/>
              </a:spcBef>
              <a:spcAft>
                <a:spcPts val="0"/>
              </a:spcAft>
              <a:buNone/>
            </a:pPr>
            <a:r>
              <a:rPr lang="en" sz="3800">
                <a:solidFill>
                  <a:srgbClr val="FFFFFF"/>
                </a:solidFill>
              </a:rPr>
              <a:t>IE 616 Decision Analysis and Game Theory</a:t>
            </a:r>
            <a:endParaRPr/>
          </a:p>
        </p:txBody>
      </p:sp>
      <p:sp>
        <p:nvSpPr>
          <p:cNvPr id="86" name="Google Shape;86;p13"/>
          <p:cNvSpPr txBox="1">
            <a:spLocks noGrp="1"/>
          </p:cNvSpPr>
          <p:nvPr>
            <p:ph type="subTitle" idx="1"/>
          </p:nvPr>
        </p:nvSpPr>
        <p:spPr>
          <a:xfrm>
            <a:off x="598100" y="2715972"/>
            <a:ext cx="8222100" cy="2104500"/>
          </a:xfrm>
          <a:prstGeom prst="rect">
            <a:avLst/>
          </a:prstGeom>
        </p:spPr>
        <p:txBody>
          <a:bodyPr spcFirstLastPara="1" wrap="square" lIns="91425" tIns="91425" rIns="91425" bIns="91425" anchor="t" anchorCtr="0">
            <a:normAutofit/>
          </a:bodyPr>
          <a:lstStyle/>
          <a:p>
            <a:pPr marL="0" lvl="0" indent="0" algn="l" rtl="0">
              <a:lnSpc>
                <a:spcPct val="115000"/>
              </a:lnSpc>
              <a:spcBef>
                <a:spcPts val="0"/>
              </a:spcBef>
              <a:spcAft>
                <a:spcPts val="0"/>
              </a:spcAft>
              <a:buNone/>
            </a:pPr>
            <a:r>
              <a:rPr lang="en" dirty="0">
                <a:solidFill>
                  <a:srgbClr val="FFFFFF"/>
                </a:solidFill>
              </a:rPr>
              <a:t>Mini project Presentation</a:t>
            </a:r>
            <a:endParaRPr dirty="0">
              <a:solidFill>
                <a:srgbClr val="FFFFFF"/>
              </a:solidFill>
            </a:endParaRPr>
          </a:p>
          <a:p>
            <a:pPr marL="0" lvl="0" indent="0" algn="l" rtl="0">
              <a:lnSpc>
                <a:spcPct val="115000"/>
              </a:lnSpc>
              <a:spcBef>
                <a:spcPts val="0"/>
              </a:spcBef>
              <a:spcAft>
                <a:spcPts val="0"/>
              </a:spcAft>
              <a:buNone/>
            </a:pPr>
            <a:r>
              <a:rPr lang="en" dirty="0">
                <a:solidFill>
                  <a:srgbClr val="FFFFFF"/>
                </a:solidFill>
              </a:rPr>
              <a:t>Guided By : Prof Urban Larsson</a:t>
            </a:r>
            <a:endParaRPr dirty="0">
              <a:solidFill>
                <a:srgbClr val="FFFFFF"/>
              </a:solidFill>
            </a:endParaRPr>
          </a:p>
          <a:p>
            <a:pPr marL="0" lvl="0" indent="0" algn="l" rtl="0">
              <a:lnSpc>
                <a:spcPct val="115000"/>
              </a:lnSpc>
              <a:spcBef>
                <a:spcPts val="0"/>
              </a:spcBef>
              <a:spcAft>
                <a:spcPts val="0"/>
              </a:spcAft>
              <a:buNone/>
            </a:pPr>
            <a:endParaRPr dirty="0">
              <a:solidFill>
                <a:srgbClr val="FFFFFF"/>
              </a:solidFill>
            </a:endParaRPr>
          </a:p>
          <a:p>
            <a:pPr marL="0" lvl="0" indent="0" algn="l" rtl="0">
              <a:lnSpc>
                <a:spcPct val="115000"/>
              </a:lnSpc>
              <a:spcBef>
                <a:spcPts val="0"/>
              </a:spcBef>
              <a:spcAft>
                <a:spcPts val="0"/>
              </a:spcAft>
              <a:buNone/>
            </a:pPr>
            <a:r>
              <a:rPr lang="en" dirty="0">
                <a:solidFill>
                  <a:srgbClr val="FFFFFF"/>
                </a:solidFill>
              </a:rPr>
              <a:t>Submitted by :  Sharang Mantri (18B080022)</a:t>
            </a:r>
            <a:endParaRPr dirty="0">
              <a:solidFill>
                <a:srgbClr val="FFFFFF"/>
              </a:solidFill>
            </a:endParaRPr>
          </a:p>
          <a:p>
            <a:pPr marL="0" lvl="0" indent="0" algn="l" rtl="0">
              <a:lnSpc>
                <a:spcPct val="115000"/>
              </a:lnSpc>
              <a:spcBef>
                <a:spcPts val="0"/>
              </a:spcBef>
              <a:spcAft>
                <a:spcPts val="0"/>
              </a:spcAft>
              <a:buNone/>
            </a:pPr>
            <a:r>
              <a:rPr lang="en" dirty="0">
                <a:solidFill>
                  <a:srgbClr val="FFFFFF"/>
                </a:solidFill>
              </a:rPr>
              <a:t>  		Prakhar Patel (180020065)</a:t>
            </a:r>
            <a:endParaRPr dirty="0">
              <a:solidFill>
                <a:srgbClr val="FFFFFF"/>
              </a:solidFill>
            </a:endParaRPr>
          </a:p>
          <a:p>
            <a:pPr marL="0" lvl="0" indent="0" algn="l" rtl="0">
              <a:spcBef>
                <a:spcPts val="0"/>
              </a:spcBef>
              <a:spcAft>
                <a:spcPts val="0"/>
              </a:spcAft>
              <a:buNone/>
            </a:pP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4"/>
          <p:cNvSpPr txBox="1">
            <a:spLocks noGrp="1"/>
          </p:cNvSpPr>
          <p:nvPr>
            <p:ph type="title"/>
          </p:nvPr>
        </p:nvSpPr>
        <p:spPr>
          <a:xfrm>
            <a:off x="311700" y="410000"/>
            <a:ext cx="8520600" cy="819900"/>
          </a:xfrm>
          <a:prstGeom prst="rect">
            <a:avLst/>
          </a:prstGeom>
        </p:spPr>
        <p:txBody>
          <a:bodyPr spcFirstLastPara="1" wrap="square" lIns="91425" tIns="91425" rIns="91425" bIns="91425" anchor="t" anchorCtr="0">
            <a:normAutofit/>
          </a:bodyPr>
          <a:lstStyle/>
          <a:p>
            <a:pPr marL="0" lvl="0" indent="0" algn="ctr" rtl="0">
              <a:lnSpc>
                <a:spcPct val="115000"/>
              </a:lnSpc>
              <a:spcBef>
                <a:spcPts val="0"/>
              </a:spcBef>
              <a:spcAft>
                <a:spcPts val="0"/>
              </a:spcAft>
              <a:buNone/>
            </a:pPr>
            <a:r>
              <a:rPr lang="en" sz="2688">
                <a:solidFill>
                  <a:srgbClr val="000000"/>
                </a:solidFill>
                <a:latin typeface="Arial Black"/>
                <a:ea typeface="Arial Black"/>
                <a:cs typeface="Arial Black"/>
                <a:sym typeface="Arial Black"/>
              </a:rPr>
              <a:t>Sequential Version of Cournot Duopoly</a:t>
            </a:r>
            <a:endParaRPr sz="3888"/>
          </a:p>
        </p:txBody>
      </p:sp>
      <p:sp>
        <p:nvSpPr>
          <p:cNvPr id="92" name="Google Shape;92;p14"/>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2 Firms, F1 and F2 with F1 being the market leader or for our game has the !st mover advantage</a:t>
            </a:r>
            <a:endParaRPr/>
          </a:p>
          <a:p>
            <a:pPr marL="457200" lvl="0" indent="-342900" algn="l" rtl="0">
              <a:spcBef>
                <a:spcPts val="0"/>
              </a:spcBef>
              <a:spcAft>
                <a:spcPts val="0"/>
              </a:spcAft>
              <a:buSzPts val="1800"/>
              <a:buChar char="●"/>
            </a:pPr>
            <a:r>
              <a:rPr lang="en"/>
              <a:t>Firm 1 selects the quantity in 1st move to maximise its profit and based on that firm 2 decides its quantity to maximise its profit.</a:t>
            </a:r>
            <a:endParaRPr/>
          </a:p>
          <a:p>
            <a:pPr marL="457200" lvl="0" indent="-342900" algn="l" rtl="0">
              <a:spcBef>
                <a:spcPts val="0"/>
              </a:spcBef>
              <a:spcAft>
                <a:spcPts val="0"/>
              </a:spcAft>
              <a:buSzPts val="1800"/>
              <a:buChar char="●"/>
            </a:pPr>
            <a:r>
              <a:rPr lang="en"/>
              <a:t>We also compared the output of the firms and total market output of the firms for Cournot Duopoly Game and worked to find the better market conditions in strictly </a:t>
            </a:r>
            <a:r>
              <a:rPr lang="en" sz="2200" b="1"/>
              <a:t>Economic Sense</a:t>
            </a:r>
            <a:endParaRPr sz="2200" b="1"/>
          </a:p>
          <a:p>
            <a:pPr marL="457200" lvl="0" indent="0" algn="l" rtl="0">
              <a:spcBef>
                <a:spcPts val="1200"/>
              </a:spcBef>
              <a:spcAft>
                <a:spcPts val="120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5"/>
          <p:cNvSpPr txBox="1"/>
          <p:nvPr/>
        </p:nvSpPr>
        <p:spPr>
          <a:xfrm>
            <a:off x="310600" y="173925"/>
            <a:ext cx="8733900" cy="738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a:latin typeface="Arial Black"/>
                <a:ea typeface="Arial Black"/>
                <a:cs typeface="Arial Black"/>
                <a:sym typeface="Arial Black"/>
              </a:rPr>
              <a:t>Real Life Examples of Cournot Duopoly and our Sequential Game of Quantity Competition between 2 or more firms</a:t>
            </a:r>
            <a:endParaRPr sz="1800">
              <a:latin typeface="Arial Black"/>
              <a:ea typeface="Arial Black"/>
              <a:cs typeface="Arial Black"/>
              <a:sym typeface="Arial Black"/>
            </a:endParaRPr>
          </a:p>
        </p:txBody>
      </p:sp>
      <p:sp>
        <p:nvSpPr>
          <p:cNvPr id="98" name="Google Shape;98;p15"/>
          <p:cNvSpPr txBox="1"/>
          <p:nvPr/>
        </p:nvSpPr>
        <p:spPr>
          <a:xfrm>
            <a:off x="397575" y="1155425"/>
            <a:ext cx="3155700" cy="1293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t>Cournot Duopoly</a:t>
            </a:r>
            <a:endParaRPr sz="1800"/>
          </a:p>
          <a:p>
            <a:pPr marL="457200" lvl="0" indent="-342900" algn="l" rtl="0">
              <a:spcBef>
                <a:spcPts val="0"/>
              </a:spcBef>
              <a:spcAft>
                <a:spcPts val="0"/>
              </a:spcAft>
              <a:buSzPts val="1800"/>
              <a:buChar char="●"/>
            </a:pPr>
            <a:r>
              <a:rPr lang="en" sz="1800"/>
              <a:t>Pepsi and Coca-Cola</a:t>
            </a:r>
            <a:endParaRPr sz="1800"/>
          </a:p>
          <a:p>
            <a:pPr marL="457200" lvl="0" indent="-342900" algn="l" rtl="0">
              <a:spcBef>
                <a:spcPts val="0"/>
              </a:spcBef>
              <a:spcAft>
                <a:spcPts val="0"/>
              </a:spcAft>
              <a:buSzPts val="1800"/>
              <a:buChar char="●"/>
            </a:pPr>
            <a:r>
              <a:rPr lang="en" sz="1800"/>
              <a:t>Pizza Hut and Domino's</a:t>
            </a:r>
            <a:endParaRPr sz="1800"/>
          </a:p>
          <a:p>
            <a:pPr marL="457200" lvl="0" indent="-342900" algn="l" rtl="0">
              <a:spcBef>
                <a:spcPts val="0"/>
              </a:spcBef>
              <a:spcAft>
                <a:spcPts val="0"/>
              </a:spcAft>
              <a:buSzPts val="1800"/>
              <a:buChar char="●"/>
            </a:pPr>
            <a:r>
              <a:rPr lang="en" sz="1800"/>
              <a:t>TCS and Infosys</a:t>
            </a:r>
            <a:endParaRPr sz="1800"/>
          </a:p>
        </p:txBody>
      </p:sp>
      <p:sp>
        <p:nvSpPr>
          <p:cNvPr id="99" name="Google Shape;99;p15"/>
          <p:cNvSpPr txBox="1"/>
          <p:nvPr/>
        </p:nvSpPr>
        <p:spPr>
          <a:xfrm>
            <a:off x="4311100" y="1155425"/>
            <a:ext cx="4572000" cy="2955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t>Sequential Games (Advantage to firm 1)</a:t>
            </a:r>
            <a:endParaRPr sz="1800"/>
          </a:p>
          <a:p>
            <a:pPr marL="457200" lvl="0" indent="-342900" algn="l" rtl="0">
              <a:spcBef>
                <a:spcPts val="0"/>
              </a:spcBef>
              <a:spcAft>
                <a:spcPts val="0"/>
              </a:spcAft>
              <a:buSzPts val="1800"/>
              <a:buChar char="●"/>
            </a:pPr>
            <a:r>
              <a:rPr lang="en" sz="1800"/>
              <a:t>Oil Production Between OPEC and Non-OPEC countries</a:t>
            </a:r>
            <a:endParaRPr sz="1800"/>
          </a:p>
          <a:p>
            <a:pPr marL="457200" lvl="0" indent="-342900" algn="l" rtl="0">
              <a:spcBef>
                <a:spcPts val="0"/>
              </a:spcBef>
              <a:spcAft>
                <a:spcPts val="0"/>
              </a:spcAft>
              <a:buSzPts val="1800"/>
              <a:buChar char="●"/>
            </a:pPr>
            <a:r>
              <a:rPr lang="en" sz="1800"/>
              <a:t>Mcdonalds and Burger King , Wendy’s</a:t>
            </a:r>
            <a:endParaRPr sz="1800"/>
          </a:p>
          <a:p>
            <a:pPr marL="457200" lvl="0" indent="-342900" algn="l" rtl="0">
              <a:spcBef>
                <a:spcPts val="0"/>
              </a:spcBef>
              <a:spcAft>
                <a:spcPts val="0"/>
              </a:spcAft>
              <a:buSzPts val="1800"/>
              <a:buChar char="●"/>
            </a:pPr>
            <a:r>
              <a:rPr lang="en" sz="1800"/>
              <a:t>Airlines Companies: Early days of competition between British Airways and Virgin Atlantic, American Airlines and Other airlines at major International airport in USA</a:t>
            </a:r>
            <a:endParaRPr sz="1800"/>
          </a:p>
          <a:p>
            <a:pPr marL="457200" lvl="0" indent="-342900" algn="l" rtl="0">
              <a:spcBef>
                <a:spcPts val="0"/>
              </a:spcBef>
              <a:spcAft>
                <a:spcPts val="0"/>
              </a:spcAft>
              <a:buSzPts val="1800"/>
              <a:buChar char="●"/>
            </a:pPr>
            <a:r>
              <a:rPr lang="en" sz="1800"/>
              <a:t>EVs with Tesla and Other </a:t>
            </a:r>
            <a:endParaRPr sz="1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6"/>
          <p:cNvSpPr txBox="1"/>
          <p:nvPr/>
        </p:nvSpPr>
        <p:spPr>
          <a:xfrm>
            <a:off x="397575" y="347875"/>
            <a:ext cx="83985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t>Basic Keywords: Nash Equilibrium, Marginal Cost, Cournot Duopoly, Backward Induction, Profit Maximization, Game Theory and Economic Output</a:t>
            </a:r>
            <a:endParaRPr sz="1600"/>
          </a:p>
        </p:txBody>
      </p:sp>
      <p:sp>
        <p:nvSpPr>
          <p:cNvPr id="105" name="Google Shape;105;p16"/>
          <p:cNvSpPr txBox="1"/>
          <p:nvPr/>
        </p:nvSpPr>
        <p:spPr>
          <a:xfrm>
            <a:off x="571500" y="1056025"/>
            <a:ext cx="8398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Roboto"/>
              <a:ea typeface="Roboto"/>
              <a:cs typeface="Roboto"/>
              <a:sym typeface="Roboto"/>
            </a:endParaRPr>
          </a:p>
        </p:txBody>
      </p:sp>
      <p:sp>
        <p:nvSpPr>
          <p:cNvPr id="106" name="Google Shape;106;p16"/>
          <p:cNvSpPr txBox="1"/>
          <p:nvPr/>
        </p:nvSpPr>
        <p:spPr>
          <a:xfrm>
            <a:off x="521800" y="1143000"/>
            <a:ext cx="5665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Roboto"/>
              <a:ea typeface="Roboto"/>
              <a:cs typeface="Roboto"/>
              <a:sym typeface="Roboto"/>
            </a:endParaRPr>
          </a:p>
        </p:txBody>
      </p:sp>
      <p:sp>
        <p:nvSpPr>
          <p:cNvPr id="107" name="Google Shape;107;p16"/>
          <p:cNvSpPr txBox="1"/>
          <p:nvPr/>
        </p:nvSpPr>
        <p:spPr>
          <a:xfrm>
            <a:off x="621200" y="1155425"/>
            <a:ext cx="7802100" cy="3848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a:latin typeface="Arial Black"/>
                <a:ea typeface="Arial Black"/>
                <a:cs typeface="Arial Black"/>
                <a:sym typeface="Arial Black"/>
              </a:rPr>
              <a:t>Basic Points of game</a:t>
            </a:r>
            <a:endParaRPr sz="1700">
              <a:latin typeface="Arial Black"/>
              <a:ea typeface="Arial Black"/>
              <a:cs typeface="Arial Black"/>
              <a:sym typeface="Arial Black"/>
            </a:endParaRPr>
          </a:p>
          <a:p>
            <a:pPr marL="457200" lvl="0" indent="-336550" algn="l" rtl="0">
              <a:spcBef>
                <a:spcPts val="0"/>
              </a:spcBef>
              <a:spcAft>
                <a:spcPts val="0"/>
              </a:spcAft>
              <a:buSzPts val="1700"/>
              <a:buChar char="●"/>
            </a:pPr>
            <a:r>
              <a:rPr lang="en" sz="1700"/>
              <a:t>2 Firms F1 and F2</a:t>
            </a:r>
            <a:endParaRPr sz="1700"/>
          </a:p>
          <a:p>
            <a:pPr marL="457200" lvl="0" indent="-336550" algn="l" rtl="0">
              <a:spcBef>
                <a:spcPts val="0"/>
              </a:spcBef>
              <a:spcAft>
                <a:spcPts val="0"/>
              </a:spcAft>
              <a:buSzPts val="1700"/>
              <a:buChar char="●"/>
            </a:pPr>
            <a:r>
              <a:rPr lang="en" sz="1700"/>
              <a:t>Producing Quantities q1 &amp; q2 in the sequential games and q</a:t>
            </a:r>
            <a:r>
              <a:rPr lang="en" sz="1700" baseline="-25000"/>
              <a:t>1</a:t>
            </a:r>
            <a:r>
              <a:rPr lang="en" sz="1700" b="1" baseline="30000"/>
              <a:t>c</a:t>
            </a:r>
            <a:r>
              <a:rPr lang="en" sz="1700" b="1"/>
              <a:t> </a:t>
            </a:r>
            <a:r>
              <a:rPr lang="en" sz="1700"/>
              <a:t>&amp; q</a:t>
            </a:r>
            <a:r>
              <a:rPr lang="en" sz="1700" baseline="-25000"/>
              <a:t>2</a:t>
            </a:r>
            <a:r>
              <a:rPr lang="en" sz="1700" b="1" baseline="30000"/>
              <a:t>c </a:t>
            </a:r>
            <a:r>
              <a:rPr lang="en" sz="1700" b="1"/>
              <a:t> </a:t>
            </a:r>
            <a:r>
              <a:rPr lang="en" sz="1700"/>
              <a:t>in cournot Duopoly</a:t>
            </a:r>
            <a:endParaRPr sz="1700"/>
          </a:p>
          <a:p>
            <a:pPr marL="457200" lvl="0" indent="-336550" algn="l" rtl="0">
              <a:spcBef>
                <a:spcPts val="0"/>
              </a:spcBef>
              <a:spcAft>
                <a:spcPts val="0"/>
              </a:spcAft>
              <a:buSzPts val="1700"/>
              <a:buChar char="●"/>
            </a:pPr>
            <a:r>
              <a:rPr lang="en" sz="1700"/>
              <a:t>Marginal Cost of 2 firms C1 and C2 and profit earned are 𝛑1  and 𝛑2 in sequential and  𝜋1c &amp; 𝜋2c are cournot solutions</a:t>
            </a:r>
            <a:endParaRPr sz="1700"/>
          </a:p>
          <a:p>
            <a:pPr marL="457200" lvl="0" indent="-336550" algn="l" rtl="0">
              <a:spcBef>
                <a:spcPts val="0"/>
              </a:spcBef>
              <a:spcAft>
                <a:spcPts val="0"/>
              </a:spcAft>
              <a:buSzPts val="1700"/>
              <a:buChar char="●"/>
            </a:pPr>
            <a:r>
              <a:rPr lang="en" sz="1700"/>
              <a:t>Total Economic Output Q = q1 + q2</a:t>
            </a:r>
            <a:endParaRPr sz="1700"/>
          </a:p>
          <a:p>
            <a:pPr marL="457200" lvl="0" indent="-336550" algn="l" rtl="0">
              <a:spcBef>
                <a:spcPts val="0"/>
              </a:spcBef>
              <a:spcAft>
                <a:spcPts val="0"/>
              </a:spcAft>
              <a:buSzPts val="1700"/>
              <a:buChar char="●"/>
            </a:pPr>
            <a:r>
              <a:rPr lang="en" sz="1700"/>
              <a:t>Inverse Demand Curve   P = a - b(q1 + q2)</a:t>
            </a:r>
            <a:endParaRPr sz="1700"/>
          </a:p>
          <a:p>
            <a:pPr marL="457200" lvl="0" indent="-336550" algn="l" rtl="0">
              <a:spcBef>
                <a:spcPts val="0"/>
              </a:spcBef>
              <a:spcAft>
                <a:spcPts val="0"/>
              </a:spcAft>
              <a:buSzPts val="1700"/>
              <a:buChar char="●"/>
            </a:pPr>
            <a:r>
              <a:rPr lang="en" sz="1700"/>
              <a:t>F1 moving 1st i.e. F1 decides the quantity q1 first that it will produce to maximise its profits &amp; F2 chooses q2 as the best response to F1’s selection of q1 to maximise its profits.</a:t>
            </a:r>
            <a:endParaRPr sz="1700"/>
          </a:p>
          <a:p>
            <a:pPr marL="457200" lvl="0" indent="0" algn="l" rtl="0">
              <a:spcBef>
                <a:spcPts val="0"/>
              </a:spcBef>
              <a:spcAft>
                <a:spcPts val="0"/>
              </a:spcAft>
              <a:buNone/>
            </a:pPr>
            <a:r>
              <a:rPr lang="en" sz="1700"/>
              <a:t>Here, since F1 knows F2 will select q2 based on q1, F1 will perform backward induction to find its best strategy for selecting q1</a:t>
            </a:r>
            <a:endParaRPr sz="1700"/>
          </a:p>
          <a:p>
            <a:pPr marL="0" lvl="0" indent="0" algn="l" rtl="0">
              <a:spcBef>
                <a:spcPts val="0"/>
              </a:spcBef>
              <a:spcAft>
                <a:spcPts val="0"/>
              </a:spcAft>
              <a:buNone/>
            </a:pPr>
            <a:endParaRPr sz="17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7"/>
          <p:cNvSpPr txBox="1">
            <a:spLocks noGrp="1"/>
          </p:cNvSpPr>
          <p:nvPr>
            <p:ph type="body" idx="1"/>
          </p:nvPr>
        </p:nvSpPr>
        <p:spPr>
          <a:xfrm>
            <a:off x="311700" y="323025"/>
            <a:ext cx="8520600" cy="42459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sz="1700">
                <a:latin typeface="Arial"/>
                <a:ea typeface="Arial"/>
                <a:cs typeface="Arial"/>
                <a:sym typeface="Arial"/>
              </a:rPr>
              <a:t>After applying backward induction to profit of F2 and using that result for profit maximization of F1we get </a:t>
            </a:r>
            <a:endParaRPr sz="1700">
              <a:latin typeface="Arial"/>
              <a:ea typeface="Arial"/>
              <a:cs typeface="Arial"/>
              <a:sym typeface="Arial"/>
            </a:endParaRPr>
          </a:p>
          <a:p>
            <a:pPr marL="457200" lvl="0" indent="-336550" algn="l" rtl="0">
              <a:spcBef>
                <a:spcPts val="1200"/>
              </a:spcBef>
              <a:spcAft>
                <a:spcPts val="0"/>
              </a:spcAft>
              <a:buSzPts val="1700"/>
              <a:buFont typeface="Arial"/>
              <a:buChar char="●"/>
            </a:pPr>
            <a:r>
              <a:rPr lang="en" sz="1700">
                <a:latin typeface="Arial"/>
                <a:ea typeface="Arial"/>
                <a:cs typeface="Arial"/>
                <a:sym typeface="Arial"/>
              </a:rPr>
              <a:t>q1* = (a + C2 - 2C1)/2b   			</a:t>
            </a:r>
            <a:endParaRPr sz="1700">
              <a:latin typeface="Arial"/>
              <a:ea typeface="Arial"/>
              <a:cs typeface="Arial"/>
              <a:sym typeface="Arial"/>
            </a:endParaRPr>
          </a:p>
          <a:p>
            <a:pPr marL="457200" lvl="0" indent="-336550" algn="l" rtl="0">
              <a:spcBef>
                <a:spcPts val="0"/>
              </a:spcBef>
              <a:spcAft>
                <a:spcPts val="0"/>
              </a:spcAft>
              <a:buSzPts val="1700"/>
              <a:buFont typeface="Arial"/>
              <a:buChar char="●"/>
            </a:pPr>
            <a:r>
              <a:rPr lang="en" sz="1700">
                <a:latin typeface="Arial"/>
                <a:ea typeface="Arial"/>
                <a:cs typeface="Arial"/>
                <a:sym typeface="Arial"/>
              </a:rPr>
              <a:t> q2* = (a - 3C2 + 2C1)/4b  			Q* = q1* + q2* </a:t>
            </a:r>
            <a:endParaRPr sz="1700">
              <a:latin typeface="Arial"/>
              <a:ea typeface="Arial"/>
              <a:cs typeface="Arial"/>
              <a:sym typeface="Arial"/>
            </a:endParaRPr>
          </a:p>
          <a:p>
            <a:pPr marL="457200" lvl="0" indent="-336550" algn="l" rtl="0">
              <a:spcBef>
                <a:spcPts val="0"/>
              </a:spcBef>
              <a:spcAft>
                <a:spcPts val="0"/>
              </a:spcAft>
              <a:buSzPts val="1700"/>
              <a:buFont typeface="Arial"/>
              <a:buChar char="●"/>
            </a:pPr>
            <a:r>
              <a:rPr lang="en" sz="1700">
                <a:latin typeface="Arial"/>
                <a:ea typeface="Arial"/>
                <a:cs typeface="Arial"/>
                <a:sym typeface="Arial"/>
              </a:rPr>
              <a:t> P* = (a + C2 + 2C1)/4   			Q* = (3a - C2 - 2C1)/4b	</a:t>
            </a:r>
            <a:endParaRPr sz="1700">
              <a:latin typeface="Arial"/>
              <a:ea typeface="Arial"/>
              <a:cs typeface="Arial"/>
              <a:sym typeface="Arial"/>
            </a:endParaRPr>
          </a:p>
          <a:p>
            <a:pPr marL="457200" lvl="0" indent="-336550" algn="l" rtl="0">
              <a:spcBef>
                <a:spcPts val="0"/>
              </a:spcBef>
              <a:spcAft>
                <a:spcPts val="0"/>
              </a:spcAft>
              <a:buSzPts val="1700"/>
              <a:buFont typeface="Arial"/>
              <a:buChar char="●"/>
            </a:pPr>
            <a:r>
              <a:rPr lang="en" sz="1700">
                <a:latin typeface="Arial"/>
                <a:ea typeface="Arial"/>
                <a:cs typeface="Arial"/>
                <a:sym typeface="Arial"/>
              </a:rPr>
              <a:t>  𝜋1* = (a + C2 - 2C1)2/8b    </a:t>
            </a:r>
            <a:endParaRPr sz="1700">
              <a:latin typeface="Arial"/>
              <a:ea typeface="Arial"/>
              <a:cs typeface="Arial"/>
              <a:sym typeface="Arial"/>
            </a:endParaRPr>
          </a:p>
          <a:p>
            <a:pPr marL="457200" lvl="0" indent="-336550" algn="l" rtl="0">
              <a:spcBef>
                <a:spcPts val="0"/>
              </a:spcBef>
              <a:spcAft>
                <a:spcPts val="0"/>
              </a:spcAft>
              <a:buSzPts val="1700"/>
              <a:buFont typeface="Arial"/>
              <a:buChar char="●"/>
            </a:pPr>
            <a:r>
              <a:rPr lang="en" sz="1700">
                <a:latin typeface="Arial"/>
                <a:ea typeface="Arial"/>
                <a:cs typeface="Arial"/>
                <a:sym typeface="Arial"/>
              </a:rPr>
              <a:t> 𝜋2* =  (a - 3C2 + 2C1)2/16b</a:t>
            </a:r>
            <a:endParaRPr sz="1700">
              <a:latin typeface="Arial"/>
              <a:ea typeface="Arial"/>
              <a:cs typeface="Arial"/>
              <a:sym typeface="Arial"/>
            </a:endParaRPr>
          </a:p>
          <a:p>
            <a:pPr marL="0" lvl="0" indent="0" algn="l" rtl="0">
              <a:spcBef>
                <a:spcPts val="1200"/>
              </a:spcBef>
              <a:spcAft>
                <a:spcPts val="0"/>
              </a:spcAft>
              <a:buNone/>
            </a:pPr>
            <a:r>
              <a:rPr lang="en" sz="1700">
                <a:latin typeface="Arial"/>
                <a:ea typeface="Arial"/>
                <a:cs typeface="Arial"/>
                <a:sym typeface="Arial"/>
              </a:rPr>
              <a:t>While using same C1 and C2 for Cournot Duopoly we get</a:t>
            </a:r>
            <a:endParaRPr sz="1700">
              <a:latin typeface="Arial"/>
              <a:ea typeface="Arial"/>
              <a:cs typeface="Arial"/>
              <a:sym typeface="Arial"/>
            </a:endParaRPr>
          </a:p>
          <a:p>
            <a:pPr marL="457200" lvl="0" indent="-336550" algn="l" rtl="0">
              <a:spcBef>
                <a:spcPts val="1200"/>
              </a:spcBef>
              <a:spcAft>
                <a:spcPts val="0"/>
              </a:spcAft>
              <a:buSzPts val="1700"/>
              <a:buFont typeface="Arial"/>
              <a:buChar char="●"/>
            </a:pPr>
            <a:r>
              <a:rPr lang="en" sz="1700">
                <a:latin typeface="Arial"/>
                <a:ea typeface="Arial"/>
                <a:cs typeface="Arial"/>
                <a:sym typeface="Arial"/>
              </a:rPr>
              <a:t> q1c = (a + C2 - 2C1)/3b</a:t>
            </a:r>
            <a:endParaRPr sz="1700">
              <a:latin typeface="Arial"/>
              <a:ea typeface="Arial"/>
              <a:cs typeface="Arial"/>
              <a:sym typeface="Arial"/>
            </a:endParaRPr>
          </a:p>
          <a:p>
            <a:pPr marL="457200" lvl="0" indent="-336550" algn="l" rtl="0">
              <a:spcBef>
                <a:spcPts val="0"/>
              </a:spcBef>
              <a:spcAft>
                <a:spcPts val="0"/>
              </a:spcAft>
              <a:buSzPts val="1700"/>
              <a:buFont typeface="Arial"/>
              <a:buChar char="●"/>
            </a:pPr>
            <a:r>
              <a:rPr lang="en" sz="1700">
                <a:latin typeface="Arial"/>
                <a:ea typeface="Arial"/>
                <a:cs typeface="Arial"/>
                <a:sym typeface="Arial"/>
              </a:rPr>
              <a:t> q2c = (a + C1 - 2C2)/3b			Qc = q1c + q2c = (2a - C1 - 2C2)/3b</a:t>
            </a:r>
            <a:endParaRPr sz="1700">
              <a:latin typeface="Arial"/>
              <a:ea typeface="Arial"/>
              <a:cs typeface="Arial"/>
              <a:sym typeface="Arial"/>
            </a:endParaRPr>
          </a:p>
          <a:p>
            <a:pPr marL="457200" lvl="0" indent="-336550" algn="l" rtl="0">
              <a:spcBef>
                <a:spcPts val="0"/>
              </a:spcBef>
              <a:spcAft>
                <a:spcPts val="0"/>
              </a:spcAft>
              <a:buSzPts val="1700"/>
              <a:buFont typeface="Arial"/>
              <a:buChar char="●"/>
            </a:pPr>
            <a:r>
              <a:rPr lang="en" sz="1700">
                <a:latin typeface="Arial"/>
                <a:ea typeface="Arial"/>
                <a:cs typeface="Arial"/>
                <a:sym typeface="Arial"/>
              </a:rPr>
              <a:t> Pc = (a + C1 + C2)/3,</a:t>
            </a:r>
            <a:endParaRPr sz="1700">
              <a:latin typeface="Arial"/>
              <a:ea typeface="Arial"/>
              <a:cs typeface="Arial"/>
              <a:sym typeface="Arial"/>
            </a:endParaRPr>
          </a:p>
          <a:p>
            <a:pPr marL="457200" lvl="0" indent="-336550" algn="l" rtl="0">
              <a:spcBef>
                <a:spcPts val="0"/>
              </a:spcBef>
              <a:spcAft>
                <a:spcPts val="0"/>
              </a:spcAft>
              <a:buSzPts val="1700"/>
              <a:buFont typeface="Arial"/>
              <a:buChar char="●"/>
            </a:pPr>
            <a:r>
              <a:rPr lang="en" sz="1700">
                <a:latin typeface="Arial"/>
                <a:ea typeface="Arial"/>
                <a:cs typeface="Arial"/>
                <a:sym typeface="Arial"/>
              </a:rPr>
              <a:t> 𝜋1c = (a + C2 - 2C1)2/9b,   </a:t>
            </a:r>
            <a:endParaRPr sz="1700">
              <a:latin typeface="Arial"/>
              <a:ea typeface="Arial"/>
              <a:cs typeface="Arial"/>
              <a:sym typeface="Arial"/>
            </a:endParaRPr>
          </a:p>
          <a:p>
            <a:pPr marL="457200" lvl="0" indent="-336550" algn="l" rtl="0">
              <a:spcBef>
                <a:spcPts val="0"/>
              </a:spcBef>
              <a:spcAft>
                <a:spcPts val="0"/>
              </a:spcAft>
              <a:buSzPts val="1700"/>
              <a:buFont typeface="Arial"/>
              <a:buChar char="●"/>
            </a:pPr>
            <a:r>
              <a:rPr lang="en" sz="1700">
                <a:latin typeface="Arial"/>
                <a:ea typeface="Arial"/>
                <a:cs typeface="Arial"/>
                <a:sym typeface="Arial"/>
              </a:rPr>
              <a:t> 𝜋2c =  (a + C1 - 2C2)2/9b</a:t>
            </a:r>
            <a:endParaRPr sz="1700">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8"/>
          <p:cNvSpPr txBox="1">
            <a:spLocks noGrp="1"/>
          </p:cNvSpPr>
          <p:nvPr>
            <p:ph type="body" idx="1"/>
          </p:nvPr>
        </p:nvSpPr>
        <p:spPr>
          <a:xfrm>
            <a:off x="311700" y="695625"/>
            <a:ext cx="8520600" cy="3339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700">
                <a:latin typeface="Arial"/>
                <a:ea typeface="Arial"/>
                <a:cs typeface="Arial"/>
                <a:sym typeface="Arial"/>
              </a:rPr>
              <a:t>From the direct comparison, we can say that for any values of C1 &amp; C2:</a:t>
            </a:r>
            <a:endParaRPr sz="1700">
              <a:latin typeface="Arial"/>
              <a:ea typeface="Arial"/>
              <a:cs typeface="Arial"/>
              <a:sym typeface="Arial"/>
            </a:endParaRPr>
          </a:p>
          <a:p>
            <a:pPr marL="0" lvl="0" indent="0" algn="l" rtl="0">
              <a:spcBef>
                <a:spcPts val="1200"/>
              </a:spcBef>
              <a:spcAft>
                <a:spcPts val="0"/>
              </a:spcAft>
              <a:buNone/>
            </a:pPr>
            <a:r>
              <a:rPr lang="en" sz="1700">
                <a:latin typeface="Arial"/>
                <a:ea typeface="Arial"/>
                <a:cs typeface="Arial"/>
                <a:sym typeface="Arial"/>
              </a:rPr>
              <a:t>q1* &gt; q1c i.e. F1 has a 1st player advantage if the cournot game is played in sequential ways, and F1 will always be better off than the standard cournot solution that we get for profits of F1.</a:t>
            </a:r>
            <a:endParaRPr sz="1700">
              <a:latin typeface="Arial"/>
              <a:ea typeface="Arial"/>
              <a:cs typeface="Arial"/>
              <a:sym typeface="Arial"/>
            </a:endParaRPr>
          </a:p>
          <a:p>
            <a:pPr marL="0" lvl="0" indent="0" algn="l" rtl="0">
              <a:spcBef>
                <a:spcPts val="1200"/>
              </a:spcBef>
              <a:spcAft>
                <a:spcPts val="0"/>
              </a:spcAft>
              <a:buNone/>
            </a:pPr>
            <a:r>
              <a:rPr lang="en" sz="1700">
                <a:latin typeface="Arial"/>
                <a:ea typeface="Arial"/>
                <a:cs typeface="Arial"/>
                <a:sym typeface="Arial"/>
              </a:rPr>
              <a:t>Thus, we can say our game will have 1st player advantage</a:t>
            </a:r>
            <a:endParaRPr sz="1700">
              <a:latin typeface="Arial"/>
              <a:ea typeface="Arial"/>
              <a:cs typeface="Arial"/>
              <a:sym typeface="Arial"/>
            </a:endParaRPr>
          </a:p>
          <a:p>
            <a:pPr marL="0" lvl="0" indent="0" algn="l" rtl="0">
              <a:spcBef>
                <a:spcPts val="1200"/>
              </a:spcBef>
              <a:spcAft>
                <a:spcPts val="0"/>
              </a:spcAft>
              <a:buNone/>
            </a:pPr>
            <a:endParaRPr/>
          </a:p>
          <a:p>
            <a:pPr marL="0" lvl="0" indent="0" algn="l" rtl="0">
              <a:spcBef>
                <a:spcPts val="1200"/>
              </a:spcBef>
              <a:spcAft>
                <a:spcPts val="1200"/>
              </a:spcAft>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9"/>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Case 1 : C1 = C2 = C</a:t>
            </a:r>
            <a:endParaRPr/>
          </a:p>
        </p:txBody>
      </p:sp>
      <p:sp>
        <p:nvSpPr>
          <p:cNvPr id="123" name="Google Shape;123;p19"/>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rmAutofit lnSpcReduction="20000"/>
          </a:bodyPr>
          <a:lstStyle/>
          <a:p>
            <a:pPr marL="0" lvl="0" indent="0" algn="l" rtl="0">
              <a:spcBef>
                <a:spcPts val="0"/>
              </a:spcBef>
              <a:spcAft>
                <a:spcPts val="0"/>
              </a:spcAft>
              <a:buNone/>
            </a:pPr>
            <a:r>
              <a:rPr lang="en"/>
              <a:t> </a:t>
            </a:r>
            <a:r>
              <a:rPr lang="en" sz="1700">
                <a:latin typeface="Arial"/>
                <a:ea typeface="Arial"/>
                <a:cs typeface="Arial"/>
                <a:sym typeface="Arial"/>
              </a:rPr>
              <a:t>q1* = (a - C)/2b,   		 q2* = (a - C)/4b,   		 P* = (a + 3C)/4,</a:t>
            </a:r>
            <a:endParaRPr sz="1700">
              <a:latin typeface="Arial"/>
              <a:ea typeface="Arial"/>
              <a:cs typeface="Arial"/>
              <a:sym typeface="Arial"/>
            </a:endParaRPr>
          </a:p>
          <a:p>
            <a:pPr marL="0" lvl="0" indent="0" algn="l" rtl="0">
              <a:spcBef>
                <a:spcPts val="1200"/>
              </a:spcBef>
              <a:spcAft>
                <a:spcPts val="0"/>
              </a:spcAft>
              <a:buNone/>
            </a:pPr>
            <a:r>
              <a:rPr lang="en" sz="1700">
                <a:latin typeface="Arial"/>
                <a:ea typeface="Arial"/>
                <a:cs typeface="Arial"/>
                <a:sym typeface="Arial"/>
              </a:rPr>
              <a:t>  𝜋1* = (a - C)2/8b,  	𝜋2* = (a - C)2/16b,  	Q* = 3(a - C)/4b,</a:t>
            </a:r>
            <a:endParaRPr sz="1700">
              <a:latin typeface="Arial"/>
              <a:ea typeface="Arial"/>
              <a:cs typeface="Arial"/>
              <a:sym typeface="Arial"/>
            </a:endParaRPr>
          </a:p>
          <a:p>
            <a:pPr marL="0" lvl="0" indent="0" algn="l" rtl="0">
              <a:spcBef>
                <a:spcPts val="1200"/>
              </a:spcBef>
              <a:spcAft>
                <a:spcPts val="0"/>
              </a:spcAft>
              <a:buNone/>
            </a:pPr>
            <a:r>
              <a:rPr lang="en" sz="1700">
                <a:latin typeface="Arial"/>
                <a:ea typeface="Arial"/>
                <a:cs typeface="Arial"/>
                <a:sym typeface="Arial"/>
              </a:rPr>
              <a:t>  q1c = (a - C)/3b,  	 q2c = (a - C)/3b,   	PC = (a + 2C)/3,</a:t>
            </a:r>
            <a:endParaRPr sz="1700">
              <a:latin typeface="Arial"/>
              <a:ea typeface="Arial"/>
              <a:cs typeface="Arial"/>
              <a:sym typeface="Arial"/>
            </a:endParaRPr>
          </a:p>
          <a:p>
            <a:pPr marL="0" lvl="0" indent="0" algn="l" rtl="0">
              <a:spcBef>
                <a:spcPts val="1200"/>
              </a:spcBef>
              <a:spcAft>
                <a:spcPts val="0"/>
              </a:spcAft>
              <a:buNone/>
            </a:pPr>
            <a:r>
              <a:rPr lang="en" sz="1700">
                <a:latin typeface="Arial"/>
                <a:ea typeface="Arial"/>
                <a:cs typeface="Arial"/>
                <a:sym typeface="Arial"/>
              </a:rPr>
              <a:t>   𝜋1c = (a - C)2/9b, 	 𝜋2c = (a - C)2/9b, 	 Qc = 2(a-C)/3b</a:t>
            </a:r>
            <a:endParaRPr sz="1700">
              <a:latin typeface="Arial"/>
              <a:ea typeface="Arial"/>
              <a:cs typeface="Arial"/>
              <a:sym typeface="Arial"/>
            </a:endParaRPr>
          </a:p>
          <a:p>
            <a:pPr marL="0" lvl="0" indent="0" algn="l" rtl="0">
              <a:spcBef>
                <a:spcPts val="1200"/>
              </a:spcBef>
              <a:spcAft>
                <a:spcPts val="0"/>
              </a:spcAft>
              <a:buNone/>
            </a:pPr>
            <a:r>
              <a:rPr lang="en" sz="1700" b="1">
                <a:solidFill>
                  <a:srgbClr val="000000"/>
                </a:solidFill>
                <a:latin typeface="Arial"/>
                <a:ea typeface="Arial"/>
                <a:cs typeface="Arial"/>
                <a:sym typeface="Arial"/>
              </a:rPr>
              <a:t>q</a:t>
            </a:r>
            <a:r>
              <a:rPr lang="en" sz="1700" b="1" baseline="-25000">
                <a:solidFill>
                  <a:srgbClr val="000000"/>
                </a:solidFill>
                <a:latin typeface="Arial"/>
                <a:ea typeface="Arial"/>
                <a:cs typeface="Arial"/>
                <a:sym typeface="Arial"/>
              </a:rPr>
              <a:t>1</a:t>
            </a:r>
            <a:r>
              <a:rPr lang="en" sz="1700" b="1">
                <a:solidFill>
                  <a:srgbClr val="000000"/>
                </a:solidFill>
                <a:latin typeface="Arial"/>
                <a:ea typeface="Arial"/>
                <a:cs typeface="Arial"/>
                <a:sym typeface="Arial"/>
              </a:rPr>
              <a:t>* &gt; q</a:t>
            </a:r>
            <a:r>
              <a:rPr lang="en" sz="1700" b="1" baseline="-25000">
                <a:solidFill>
                  <a:srgbClr val="000000"/>
                </a:solidFill>
                <a:latin typeface="Arial"/>
                <a:ea typeface="Arial"/>
                <a:cs typeface="Arial"/>
                <a:sym typeface="Arial"/>
              </a:rPr>
              <a:t>1</a:t>
            </a:r>
            <a:r>
              <a:rPr lang="en" sz="1700" b="1" baseline="30000">
                <a:solidFill>
                  <a:srgbClr val="000000"/>
                </a:solidFill>
                <a:latin typeface="Arial"/>
                <a:ea typeface="Arial"/>
                <a:cs typeface="Arial"/>
                <a:sym typeface="Arial"/>
              </a:rPr>
              <a:t>c</a:t>
            </a:r>
            <a:r>
              <a:rPr lang="en" sz="1700" b="1">
                <a:solidFill>
                  <a:srgbClr val="000000"/>
                </a:solidFill>
                <a:latin typeface="Arial"/>
                <a:ea typeface="Arial"/>
                <a:cs typeface="Arial"/>
                <a:sym typeface="Arial"/>
              </a:rPr>
              <a:t> =  q</a:t>
            </a:r>
            <a:r>
              <a:rPr lang="en" sz="1700" b="1" baseline="-25000">
                <a:solidFill>
                  <a:srgbClr val="000000"/>
                </a:solidFill>
                <a:latin typeface="Arial"/>
                <a:ea typeface="Arial"/>
                <a:cs typeface="Arial"/>
                <a:sym typeface="Arial"/>
              </a:rPr>
              <a:t>2</a:t>
            </a:r>
            <a:r>
              <a:rPr lang="en" sz="1700" b="1" baseline="30000">
                <a:solidFill>
                  <a:srgbClr val="000000"/>
                </a:solidFill>
                <a:latin typeface="Arial"/>
                <a:ea typeface="Arial"/>
                <a:cs typeface="Arial"/>
                <a:sym typeface="Arial"/>
              </a:rPr>
              <a:t>c</a:t>
            </a:r>
            <a:r>
              <a:rPr lang="en" sz="1700" b="1">
                <a:solidFill>
                  <a:srgbClr val="000000"/>
                </a:solidFill>
                <a:latin typeface="Arial"/>
                <a:ea typeface="Arial"/>
                <a:cs typeface="Arial"/>
                <a:sym typeface="Arial"/>
              </a:rPr>
              <a:t> &gt; q</a:t>
            </a:r>
            <a:r>
              <a:rPr lang="en" sz="1700" b="1" baseline="-25000">
                <a:solidFill>
                  <a:srgbClr val="000000"/>
                </a:solidFill>
                <a:latin typeface="Arial"/>
                <a:ea typeface="Arial"/>
                <a:cs typeface="Arial"/>
                <a:sym typeface="Arial"/>
              </a:rPr>
              <a:t>2</a:t>
            </a:r>
            <a:r>
              <a:rPr lang="en" sz="1700" b="1">
                <a:solidFill>
                  <a:srgbClr val="000000"/>
                </a:solidFill>
                <a:latin typeface="Arial"/>
                <a:ea typeface="Arial"/>
                <a:cs typeface="Arial"/>
                <a:sym typeface="Arial"/>
              </a:rPr>
              <a:t>*,		</a:t>
            </a:r>
            <a:r>
              <a:rPr lang="en" b="1">
                <a:solidFill>
                  <a:srgbClr val="000000"/>
                </a:solidFill>
                <a:latin typeface="Arial"/>
                <a:ea typeface="Arial"/>
                <a:cs typeface="Arial"/>
                <a:sym typeface="Arial"/>
              </a:rPr>
              <a:t>Q* &gt; Q</a:t>
            </a:r>
            <a:r>
              <a:rPr lang="en" b="1" baseline="30000">
                <a:solidFill>
                  <a:srgbClr val="000000"/>
                </a:solidFill>
                <a:latin typeface="Arial"/>
                <a:ea typeface="Arial"/>
                <a:cs typeface="Arial"/>
                <a:sym typeface="Arial"/>
              </a:rPr>
              <a:t>c</a:t>
            </a:r>
            <a:endParaRPr sz="1700" b="1">
              <a:solidFill>
                <a:srgbClr val="000000"/>
              </a:solidFill>
              <a:latin typeface="Arial"/>
              <a:ea typeface="Arial"/>
              <a:cs typeface="Arial"/>
              <a:sym typeface="Arial"/>
            </a:endParaRPr>
          </a:p>
          <a:p>
            <a:pPr marL="0" lvl="0" indent="0" algn="l" rtl="0">
              <a:spcBef>
                <a:spcPts val="0"/>
              </a:spcBef>
              <a:spcAft>
                <a:spcPts val="0"/>
              </a:spcAft>
              <a:buNone/>
            </a:pPr>
            <a:endParaRPr sz="1700" b="1">
              <a:solidFill>
                <a:srgbClr val="000000"/>
              </a:solidFill>
              <a:latin typeface="Arial"/>
              <a:ea typeface="Arial"/>
              <a:cs typeface="Arial"/>
              <a:sym typeface="Arial"/>
            </a:endParaRPr>
          </a:p>
          <a:p>
            <a:pPr marL="0" lvl="0" indent="0" algn="l" rtl="0">
              <a:spcBef>
                <a:spcPts val="0"/>
              </a:spcBef>
              <a:spcAft>
                <a:spcPts val="0"/>
              </a:spcAft>
              <a:buNone/>
            </a:pPr>
            <a:r>
              <a:rPr lang="en" sz="1700" b="1">
                <a:solidFill>
                  <a:srgbClr val="000000"/>
                </a:solidFill>
                <a:latin typeface="Arial"/>
                <a:ea typeface="Arial"/>
                <a:cs typeface="Arial"/>
                <a:sym typeface="Arial"/>
              </a:rPr>
              <a:t>𝜋</a:t>
            </a:r>
            <a:r>
              <a:rPr lang="en" sz="1700" b="1" baseline="-25000">
                <a:solidFill>
                  <a:srgbClr val="000000"/>
                </a:solidFill>
                <a:latin typeface="Arial"/>
                <a:ea typeface="Arial"/>
                <a:cs typeface="Arial"/>
                <a:sym typeface="Arial"/>
              </a:rPr>
              <a:t>1</a:t>
            </a:r>
            <a:r>
              <a:rPr lang="en" sz="1700" b="1">
                <a:solidFill>
                  <a:srgbClr val="000000"/>
                </a:solidFill>
                <a:latin typeface="Arial"/>
                <a:ea typeface="Arial"/>
                <a:cs typeface="Arial"/>
                <a:sym typeface="Arial"/>
              </a:rPr>
              <a:t>* &gt; 𝜋</a:t>
            </a:r>
            <a:r>
              <a:rPr lang="en" sz="1700" b="1" baseline="-25000">
                <a:solidFill>
                  <a:srgbClr val="000000"/>
                </a:solidFill>
                <a:latin typeface="Arial"/>
                <a:ea typeface="Arial"/>
                <a:cs typeface="Arial"/>
                <a:sym typeface="Arial"/>
              </a:rPr>
              <a:t>1</a:t>
            </a:r>
            <a:r>
              <a:rPr lang="en" sz="1700" b="1" baseline="30000">
                <a:solidFill>
                  <a:srgbClr val="000000"/>
                </a:solidFill>
                <a:latin typeface="Arial"/>
                <a:ea typeface="Arial"/>
                <a:cs typeface="Arial"/>
                <a:sym typeface="Arial"/>
              </a:rPr>
              <a:t>c</a:t>
            </a:r>
            <a:r>
              <a:rPr lang="en" sz="1700" b="1">
                <a:solidFill>
                  <a:srgbClr val="000000"/>
                </a:solidFill>
                <a:latin typeface="Arial"/>
                <a:ea typeface="Arial"/>
                <a:cs typeface="Arial"/>
                <a:sym typeface="Arial"/>
              </a:rPr>
              <a:t> =  𝜋</a:t>
            </a:r>
            <a:r>
              <a:rPr lang="en" sz="1700" b="1" baseline="-25000">
                <a:solidFill>
                  <a:srgbClr val="000000"/>
                </a:solidFill>
                <a:latin typeface="Arial"/>
                <a:ea typeface="Arial"/>
                <a:cs typeface="Arial"/>
                <a:sym typeface="Arial"/>
              </a:rPr>
              <a:t>2</a:t>
            </a:r>
            <a:r>
              <a:rPr lang="en" sz="1700" b="1" baseline="30000">
                <a:solidFill>
                  <a:srgbClr val="000000"/>
                </a:solidFill>
                <a:latin typeface="Arial"/>
                <a:ea typeface="Arial"/>
                <a:cs typeface="Arial"/>
                <a:sym typeface="Arial"/>
              </a:rPr>
              <a:t>c</a:t>
            </a:r>
            <a:r>
              <a:rPr lang="en" sz="1700" b="1">
                <a:solidFill>
                  <a:srgbClr val="000000"/>
                </a:solidFill>
                <a:latin typeface="Arial"/>
                <a:ea typeface="Arial"/>
                <a:cs typeface="Arial"/>
                <a:sym typeface="Arial"/>
              </a:rPr>
              <a:t> &gt; 𝜋</a:t>
            </a:r>
            <a:r>
              <a:rPr lang="en" sz="1700" b="1" baseline="-25000">
                <a:solidFill>
                  <a:srgbClr val="000000"/>
                </a:solidFill>
                <a:latin typeface="Arial"/>
                <a:ea typeface="Arial"/>
                <a:cs typeface="Arial"/>
                <a:sym typeface="Arial"/>
              </a:rPr>
              <a:t>2</a:t>
            </a:r>
            <a:r>
              <a:rPr lang="en" sz="1700" b="1">
                <a:solidFill>
                  <a:srgbClr val="000000"/>
                </a:solidFill>
                <a:latin typeface="Arial"/>
                <a:ea typeface="Arial"/>
                <a:cs typeface="Arial"/>
                <a:sym typeface="Arial"/>
              </a:rPr>
              <a:t>*		</a:t>
            </a:r>
            <a:r>
              <a:rPr lang="en" sz="1700">
                <a:solidFill>
                  <a:srgbClr val="000000"/>
                </a:solidFill>
                <a:latin typeface="Arial"/>
                <a:ea typeface="Arial"/>
                <a:cs typeface="Arial"/>
                <a:sym typeface="Arial"/>
              </a:rPr>
              <a:t>i.e. the market is better off in such a situation in an economic sense, even though F2 because of the second player disadvantage is making less, overall the market is more quantity for consumers</a:t>
            </a:r>
            <a:endParaRPr sz="1700">
              <a:solidFill>
                <a:srgbClr val="000000"/>
              </a:solidFill>
              <a:latin typeface="Arial"/>
              <a:ea typeface="Arial"/>
              <a:cs typeface="Arial"/>
              <a:sym typeface="Arial"/>
            </a:endParaRPr>
          </a:p>
          <a:p>
            <a:pPr marL="0" lvl="0" indent="0" algn="l" rtl="0">
              <a:spcBef>
                <a:spcPts val="0"/>
              </a:spcBef>
              <a:spcAft>
                <a:spcPts val="1200"/>
              </a:spcAft>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0"/>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Case 2: When q1* = q2* we get  C1 = (a + 5C2)/6</a:t>
            </a:r>
            <a:endParaRPr/>
          </a:p>
        </p:txBody>
      </p:sp>
      <p:sp>
        <p:nvSpPr>
          <p:cNvPr id="129" name="Google Shape;129;p20"/>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rmAutofit fontScale="85000" lnSpcReduction="20000"/>
          </a:bodyPr>
          <a:lstStyle/>
          <a:p>
            <a:pPr marL="0" lvl="0" indent="0" algn="l" rtl="0">
              <a:spcBef>
                <a:spcPts val="0"/>
              </a:spcBef>
              <a:spcAft>
                <a:spcPts val="0"/>
              </a:spcAft>
              <a:buNone/>
            </a:pPr>
            <a:r>
              <a:rPr lang="en" sz="1700">
                <a:latin typeface="Arial"/>
                <a:ea typeface="Arial"/>
                <a:cs typeface="Arial"/>
                <a:sym typeface="Arial"/>
              </a:rPr>
              <a:t>And if we put     (a - C2)/3 = k, we get </a:t>
            </a:r>
            <a:endParaRPr sz="1700">
              <a:latin typeface="Arial"/>
              <a:ea typeface="Arial"/>
              <a:cs typeface="Arial"/>
              <a:sym typeface="Arial"/>
            </a:endParaRPr>
          </a:p>
          <a:p>
            <a:pPr marL="0" lvl="0" indent="0" algn="l" rtl="0">
              <a:spcBef>
                <a:spcPts val="1200"/>
              </a:spcBef>
              <a:spcAft>
                <a:spcPts val="0"/>
              </a:spcAft>
              <a:buNone/>
            </a:pPr>
            <a:r>
              <a:rPr lang="en" sz="1700">
                <a:solidFill>
                  <a:srgbClr val="000000"/>
                </a:solidFill>
                <a:latin typeface="Arial"/>
                <a:ea typeface="Arial"/>
                <a:cs typeface="Arial"/>
                <a:sym typeface="Arial"/>
              </a:rPr>
              <a:t>q</a:t>
            </a:r>
            <a:r>
              <a:rPr lang="en" sz="1700" baseline="-25000">
                <a:solidFill>
                  <a:srgbClr val="000000"/>
                </a:solidFill>
                <a:latin typeface="Arial"/>
                <a:ea typeface="Arial"/>
                <a:cs typeface="Arial"/>
                <a:sym typeface="Arial"/>
              </a:rPr>
              <a:t>1</a:t>
            </a:r>
            <a:r>
              <a:rPr lang="en" sz="1700">
                <a:solidFill>
                  <a:srgbClr val="000000"/>
                </a:solidFill>
                <a:latin typeface="Arial"/>
                <a:ea typeface="Arial"/>
                <a:cs typeface="Arial"/>
                <a:sym typeface="Arial"/>
              </a:rPr>
              <a:t>* = k/b,   q</a:t>
            </a:r>
            <a:r>
              <a:rPr lang="en" sz="1700" baseline="-25000">
                <a:solidFill>
                  <a:srgbClr val="000000"/>
                </a:solidFill>
                <a:latin typeface="Arial"/>
                <a:ea typeface="Arial"/>
                <a:cs typeface="Arial"/>
                <a:sym typeface="Arial"/>
              </a:rPr>
              <a:t>2</a:t>
            </a:r>
            <a:r>
              <a:rPr lang="en" sz="1700">
                <a:solidFill>
                  <a:srgbClr val="000000"/>
                </a:solidFill>
                <a:latin typeface="Arial"/>
                <a:ea typeface="Arial"/>
                <a:cs typeface="Arial"/>
                <a:sym typeface="Arial"/>
              </a:rPr>
              <a:t>* = k/b,   P* = (a + 2C</a:t>
            </a:r>
            <a:r>
              <a:rPr lang="en" sz="1700" baseline="-25000">
                <a:solidFill>
                  <a:srgbClr val="000000"/>
                </a:solidFill>
                <a:latin typeface="Arial"/>
                <a:ea typeface="Arial"/>
                <a:cs typeface="Arial"/>
                <a:sym typeface="Arial"/>
              </a:rPr>
              <a:t>2</a:t>
            </a:r>
            <a:r>
              <a:rPr lang="en" sz="1700">
                <a:solidFill>
                  <a:srgbClr val="000000"/>
                </a:solidFill>
                <a:latin typeface="Arial"/>
                <a:ea typeface="Arial"/>
                <a:cs typeface="Arial"/>
                <a:sym typeface="Arial"/>
              </a:rPr>
              <a:t>)/3,   Q* = 2k/b</a:t>
            </a:r>
            <a:endParaRPr sz="1700">
              <a:solidFill>
                <a:srgbClr val="000000"/>
              </a:solidFill>
              <a:latin typeface="Arial"/>
              <a:ea typeface="Arial"/>
              <a:cs typeface="Arial"/>
              <a:sym typeface="Arial"/>
            </a:endParaRPr>
          </a:p>
          <a:p>
            <a:pPr marL="0" lvl="0" indent="0" algn="l" rtl="0">
              <a:spcBef>
                <a:spcPts val="0"/>
              </a:spcBef>
              <a:spcAft>
                <a:spcPts val="0"/>
              </a:spcAft>
              <a:buNone/>
            </a:pPr>
            <a:r>
              <a:rPr lang="en" sz="1700">
                <a:solidFill>
                  <a:srgbClr val="000000"/>
                </a:solidFill>
                <a:latin typeface="Arial"/>
                <a:ea typeface="Arial"/>
                <a:cs typeface="Arial"/>
                <a:sym typeface="Arial"/>
              </a:rPr>
              <a:t>𝜋</a:t>
            </a:r>
            <a:r>
              <a:rPr lang="en" sz="1700" baseline="-25000">
                <a:solidFill>
                  <a:srgbClr val="000000"/>
                </a:solidFill>
                <a:latin typeface="Arial"/>
                <a:ea typeface="Arial"/>
                <a:cs typeface="Arial"/>
                <a:sym typeface="Arial"/>
              </a:rPr>
              <a:t>1</a:t>
            </a:r>
            <a:r>
              <a:rPr lang="en" sz="1700">
                <a:solidFill>
                  <a:srgbClr val="000000"/>
                </a:solidFill>
                <a:latin typeface="Arial"/>
                <a:ea typeface="Arial"/>
                <a:cs typeface="Arial"/>
                <a:sym typeface="Arial"/>
              </a:rPr>
              <a:t>* = k</a:t>
            </a:r>
            <a:r>
              <a:rPr lang="en" sz="1700" b="1" baseline="30000">
                <a:solidFill>
                  <a:srgbClr val="000000"/>
                </a:solidFill>
                <a:latin typeface="Arial"/>
                <a:ea typeface="Arial"/>
                <a:cs typeface="Arial"/>
                <a:sym typeface="Arial"/>
              </a:rPr>
              <a:t>2</a:t>
            </a:r>
            <a:r>
              <a:rPr lang="en" sz="1700" b="1">
                <a:solidFill>
                  <a:srgbClr val="000000"/>
                </a:solidFill>
                <a:latin typeface="Arial"/>
                <a:ea typeface="Arial"/>
                <a:cs typeface="Arial"/>
                <a:sym typeface="Arial"/>
              </a:rPr>
              <a:t>/</a:t>
            </a:r>
            <a:r>
              <a:rPr lang="en" sz="1700">
                <a:solidFill>
                  <a:srgbClr val="000000"/>
                </a:solidFill>
                <a:latin typeface="Arial"/>
                <a:ea typeface="Arial"/>
                <a:cs typeface="Arial"/>
                <a:sym typeface="Arial"/>
              </a:rPr>
              <a:t>2b,   𝜋</a:t>
            </a:r>
            <a:r>
              <a:rPr lang="en" sz="1700" baseline="-25000">
                <a:solidFill>
                  <a:srgbClr val="000000"/>
                </a:solidFill>
                <a:latin typeface="Arial"/>
                <a:ea typeface="Arial"/>
                <a:cs typeface="Arial"/>
                <a:sym typeface="Arial"/>
              </a:rPr>
              <a:t>2</a:t>
            </a:r>
            <a:r>
              <a:rPr lang="en" sz="1700">
                <a:solidFill>
                  <a:srgbClr val="000000"/>
                </a:solidFill>
                <a:latin typeface="Arial"/>
                <a:ea typeface="Arial"/>
                <a:cs typeface="Arial"/>
                <a:sym typeface="Arial"/>
              </a:rPr>
              <a:t>* = k</a:t>
            </a:r>
            <a:r>
              <a:rPr lang="en" sz="1700" b="1" baseline="30000">
                <a:solidFill>
                  <a:srgbClr val="000000"/>
                </a:solidFill>
                <a:latin typeface="Arial"/>
                <a:ea typeface="Arial"/>
                <a:cs typeface="Arial"/>
                <a:sym typeface="Arial"/>
              </a:rPr>
              <a:t>2</a:t>
            </a:r>
            <a:r>
              <a:rPr lang="en" sz="1700" b="1">
                <a:solidFill>
                  <a:srgbClr val="000000"/>
                </a:solidFill>
                <a:latin typeface="Arial"/>
                <a:ea typeface="Arial"/>
                <a:cs typeface="Arial"/>
                <a:sym typeface="Arial"/>
              </a:rPr>
              <a:t>/</a:t>
            </a:r>
            <a:r>
              <a:rPr lang="en" sz="1700">
                <a:solidFill>
                  <a:srgbClr val="000000"/>
                </a:solidFill>
                <a:latin typeface="Arial"/>
                <a:ea typeface="Arial"/>
                <a:cs typeface="Arial"/>
                <a:sym typeface="Arial"/>
              </a:rPr>
              <a:t>b</a:t>
            </a:r>
            <a:endParaRPr sz="1700">
              <a:solidFill>
                <a:srgbClr val="000000"/>
              </a:solidFill>
              <a:latin typeface="Arial"/>
              <a:ea typeface="Arial"/>
              <a:cs typeface="Arial"/>
              <a:sym typeface="Arial"/>
            </a:endParaRPr>
          </a:p>
          <a:p>
            <a:pPr marL="0" lvl="0" indent="0" algn="l" rtl="0">
              <a:spcBef>
                <a:spcPts val="0"/>
              </a:spcBef>
              <a:spcAft>
                <a:spcPts val="0"/>
              </a:spcAft>
              <a:buNone/>
            </a:pPr>
            <a:endParaRPr sz="1700">
              <a:solidFill>
                <a:srgbClr val="000000"/>
              </a:solidFill>
              <a:latin typeface="Arial"/>
              <a:ea typeface="Arial"/>
              <a:cs typeface="Arial"/>
              <a:sym typeface="Arial"/>
            </a:endParaRPr>
          </a:p>
          <a:p>
            <a:pPr marL="0" lvl="0" indent="0" algn="l" rtl="0">
              <a:spcBef>
                <a:spcPts val="0"/>
              </a:spcBef>
              <a:spcAft>
                <a:spcPts val="0"/>
              </a:spcAft>
              <a:buNone/>
            </a:pPr>
            <a:r>
              <a:rPr lang="en" sz="1700">
                <a:solidFill>
                  <a:srgbClr val="000000"/>
                </a:solidFill>
                <a:latin typeface="Arial"/>
                <a:ea typeface="Arial"/>
                <a:cs typeface="Arial"/>
                <a:sym typeface="Arial"/>
              </a:rPr>
              <a:t>q</a:t>
            </a:r>
            <a:r>
              <a:rPr lang="en" sz="1700" baseline="-25000">
                <a:solidFill>
                  <a:srgbClr val="000000"/>
                </a:solidFill>
                <a:latin typeface="Arial"/>
                <a:ea typeface="Arial"/>
                <a:cs typeface="Arial"/>
                <a:sym typeface="Arial"/>
              </a:rPr>
              <a:t>1</a:t>
            </a:r>
            <a:r>
              <a:rPr lang="en" sz="1700" b="1" baseline="30000">
                <a:solidFill>
                  <a:srgbClr val="000000"/>
                </a:solidFill>
                <a:latin typeface="Arial"/>
                <a:ea typeface="Arial"/>
                <a:cs typeface="Arial"/>
                <a:sym typeface="Arial"/>
              </a:rPr>
              <a:t>c</a:t>
            </a:r>
            <a:r>
              <a:rPr lang="en" sz="1700" b="1">
                <a:solidFill>
                  <a:srgbClr val="000000"/>
                </a:solidFill>
                <a:latin typeface="Arial"/>
                <a:ea typeface="Arial"/>
                <a:cs typeface="Arial"/>
                <a:sym typeface="Arial"/>
              </a:rPr>
              <a:t> </a:t>
            </a:r>
            <a:r>
              <a:rPr lang="en" sz="1700">
                <a:solidFill>
                  <a:srgbClr val="000000"/>
                </a:solidFill>
                <a:latin typeface="Arial"/>
                <a:ea typeface="Arial"/>
                <a:cs typeface="Arial"/>
                <a:sym typeface="Arial"/>
              </a:rPr>
              <a:t>= 2k/3b,   q</a:t>
            </a:r>
            <a:r>
              <a:rPr lang="en" sz="1700" baseline="-25000">
                <a:solidFill>
                  <a:srgbClr val="000000"/>
                </a:solidFill>
                <a:latin typeface="Arial"/>
                <a:ea typeface="Arial"/>
                <a:cs typeface="Arial"/>
                <a:sym typeface="Arial"/>
              </a:rPr>
              <a:t>2</a:t>
            </a:r>
            <a:r>
              <a:rPr lang="en" sz="1700" b="1" baseline="30000">
                <a:solidFill>
                  <a:srgbClr val="000000"/>
                </a:solidFill>
                <a:latin typeface="Arial"/>
                <a:ea typeface="Arial"/>
                <a:cs typeface="Arial"/>
                <a:sym typeface="Arial"/>
              </a:rPr>
              <a:t>c</a:t>
            </a:r>
            <a:r>
              <a:rPr lang="en" sz="1700" b="1">
                <a:solidFill>
                  <a:srgbClr val="000000"/>
                </a:solidFill>
                <a:latin typeface="Arial"/>
                <a:ea typeface="Arial"/>
                <a:cs typeface="Arial"/>
                <a:sym typeface="Arial"/>
              </a:rPr>
              <a:t> </a:t>
            </a:r>
            <a:r>
              <a:rPr lang="en" sz="1700">
                <a:solidFill>
                  <a:srgbClr val="000000"/>
                </a:solidFill>
                <a:latin typeface="Arial"/>
                <a:ea typeface="Arial"/>
                <a:cs typeface="Arial"/>
                <a:sym typeface="Arial"/>
              </a:rPr>
              <a:t>= 7k/6b,   P</a:t>
            </a:r>
            <a:r>
              <a:rPr lang="en" sz="1700" baseline="30000">
                <a:solidFill>
                  <a:srgbClr val="000000"/>
                </a:solidFill>
                <a:latin typeface="Arial"/>
                <a:ea typeface="Arial"/>
                <a:cs typeface="Arial"/>
                <a:sym typeface="Arial"/>
              </a:rPr>
              <a:t>C</a:t>
            </a:r>
            <a:r>
              <a:rPr lang="en" sz="1700">
                <a:solidFill>
                  <a:srgbClr val="000000"/>
                </a:solidFill>
                <a:latin typeface="Arial"/>
                <a:ea typeface="Arial"/>
                <a:cs typeface="Arial"/>
                <a:sym typeface="Arial"/>
              </a:rPr>
              <a:t> = (7 + 11C</a:t>
            </a:r>
            <a:r>
              <a:rPr lang="en" sz="1700" baseline="-25000">
                <a:solidFill>
                  <a:srgbClr val="000000"/>
                </a:solidFill>
                <a:latin typeface="Arial"/>
                <a:ea typeface="Arial"/>
                <a:cs typeface="Arial"/>
                <a:sym typeface="Arial"/>
              </a:rPr>
              <a:t>2</a:t>
            </a:r>
            <a:r>
              <a:rPr lang="en" sz="1700">
                <a:solidFill>
                  <a:srgbClr val="000000"/>
                </a:solidFill>
                <a:latin typeface="Arial"/>
                <a:ea typeface="Arial"/>
                <a:cs typeface="Arial"/>
                <a:sym typeface="Arial"/>
              </a:rPr>
              <a:t>)/18,   Q</a:t>
            </a:r>
            <a:r>
              <a:rPr lang="en" sz="1700" b="1" baseline="30000">
                <a:solidFill>
                  <a:srgbClr val="000000"/>
                </a:solidFill>
                <a:latin typeface="Arial"/>
                <a:ea typeface="Arial"/>
                <a:cs typeface="Arial"/>
                <a:sym typeface="Arial"/>
              </a:rPr>
              <a:t>c</a:t>
            </a:r>
            <a:r>
              <a:rPr lang="en" sz="1700">
                <a:solidFill>
                  <a:srgbClr val="000000"/>
                </a:solidFill>
                <a:latin typeface="Arial"/>
                <a:ea typeface="Arial"/>
                <a:cs typeface="Arial"/>
                <a:sym typeface="Arial"/>
              </a:rPr>
              <a:t> = 11k/6b,    </a:t>
            </a:r>
            <a:endParaRPr sz="1700">
              <a:solidFill>
                <a:srgbClr val="000000"/>
              </a:solidFill>
              <a:latin typeface="Arial"/>
              <a:ea typeface="Arial"/>
              <a:cs typeface="Arial"/>
              <a:sym typeface="Arial"/>
            </a:endParaRPr>
          </a:p>
          <a:p>
            <a:pPr marL="0" lvl="0" indent="0" algn="l" rtl="0">
              <a:spcBef>
                <a:spcPts val="0"/>
              </a:spcBef>
              <a:spcAft>
                <a:spcPts val="0"/>
              </a:spcAft>
              <a:buNone/>
            </a:pPr>
            <a:r>
              <a:rPr lang="en" sz="1700">
                <a:solidFill>
                  <a:srgbClr val="000000"/>
                </a:solidFill>
                <a:latin typeface="Arial"/>
                <a:ea typeface="Arial"/>
                <a:cs typeface="Arial"/>
                <a:sym typeface="Arial"/>
              </a:rPr>
              <a:t>𝜋</a:t>
            </a:r>
            <a:r>
              <a:rPr lang="en" sz="1700" baseline="-25000">
                <a:solidFill>
                  <a:srgbClr val="000000"/>
                </a:solidFill>
                <a:latin typeface="Arial"/>
                <a:ea typeface="Arial"/>
                <a:cs typeface="Arial"/>
                <a:sym typeface="Arial"/>
              </a:rPr>
              <a:t>1</a:t>
            </a:r>
            <a:r>
              <a:rPr lang="en" sz="1700" b="1" baseline="30000">
                <a:solidFill>
                  <a:srgbClr val="000000"/>
                </a:solidFill>
                <a:latin typeface="Arial"/>
                <a:ea typeface="Arial"/>
                <a:cs typeface="Arial"/>
                <a:sym typeface="Arial"/>
              </a:rPr>
              <a:t>c</a:t>
            </a:r>
            <a:r>
              <a:rPr lang="en" sz="1700" b="1">
                <a:solidFill>
                  <a:srgbClr val="000000"/>
                </a:solidFill>
                <a:latin typeface="Arial"/>
                <a:ea typeface="Arial"/>
                <a:cs typeface="Arial"/>
                <a:sym typeface="Arial"/>
              </a:rPr>
              <a:t> </a:t>
            </a:r>
            <a:r>
              <a:rPr lang="en" sz="1700">
                <a:solidFill>
                  <a:srgbClr val="000000"/>
                </a:solidFill>
                <a:latin typeface="Arial"/>
                <a:ea typeface="Arial"/>
                <a:cs typeface="Arial"/>
                <a:sym typeface="Arial"/>
              </a:rPr>
              <a:t>= (2k/3)</a:t>
            </a:r>
            <a:r>
              <a:rPr lang="en" sz="1700" b="1" baseline="30000">
                <a:solidFill>
                  <a:srgbClr val="000000"/>
                </a:solidFill>
                <a:latin typeface="Arial"/>
                <a:ea typeface="Arial"/>
                <a:cs typeface="Arial"/>
                <a:sym typeface="Arial"/>
              </a:rPr>
              <a:t>2</a:t>
            </a:r>
            <a:r>
              <a:rPr lang="en" sz="1700">
                <a:solidFill>
                  <a:srgbClr val="000000"/>
                </a:solidFill>
                <a:latin typeface="Arial"/>
                <a:ea typeface="Arial"/>
                <a:cs typeface="Arial"/>
                <a:sym typeface="Arial"/>
              </a:rPr>
              <a:t>/b,   𝜋</a:t>
            </a:r>
            <a:r>
              <a:rPr lang="en" sz="1700" baseline="-25000">
                <a:solidFill>
                  <a:srgbClr val="000000"/>
                </a:solidFill>
                <a:latin typeface="Arial"/>
                <a:ea typeface="Arial"/>
                <a:cs typeface="Arial"/>
                <a:sym typeface="Arial"/>
              </a:rPr>
              <a:t>2</a:t>
            </a:r>
            <a:r>
              <a:rPr lang="en" sz="1700" b="1" baseline="30000">
                <a:solidFill>
                  <a:srgbClr val="000000"/>
                </a:solidFill>
                <a:latin typeface="Arial"/>
                <a:ea typeface="Arial"/>
                <a:cs typeface="Arial"/>
                <a:sym typeface="Arial"/>
              </a:rPr>
              <a:t>c</a:t>
            </a:r>
            <a:r>
              <a:rPr lang="en" sz="1700" b="1">
                <a:solidFill>
                  <a:srgbClr val="000000"/>
                </a:solidFill>
                <a:latin typeface="Arial"/>
                <a:ea typeface="Arial"/>
                <a:cs typeface="Arial"/>
                <a:sym typeface="Arial"/>
              </a:rPr>
              <a:t> </a:t>
            </a:r>
            <a:r>
              <a:rPr lang="en" sz="1700">
                <a:solidFill>
                  <a:srgbClr val="000000"/>
                </a:solidFill>
                <a:latin typeface="Arial"/>
                <a:ea typeface="Arial"/>
                <a:cs typeface="Arial"/>
                <a:sym typeface="Arial"/>
              </a:rPr>
              <a:t>= (7k/6)</a:t>
            </a:r>
            <a:r>
              <a:rPr lang="en" sz="1700" b="1" baseline="30000">
                <a:solidFill>
                  <a:srgbClr val="000000"/>
                </a:solidFill>
                <a:latin typeface="Arial"/>
                <a:ea typeface="Arial"/>
                <a:cs typeface="Arial"/>
                <a:sym typeface="Arial"/>
              </a:rPr>
              <a:t>2</a:t>
            </a:r>
            <a:r>
              <a:rPr lang="en" sz="1700">
                <a:solidFill>
                  <a:srgbClr val="000000"/>
                </a:solidFill>
                <a:latin typeface="Arial"/>
                <a:ea typeface="Arial"/>
                <a:cs typeface="Arial"/>
                <a:sym typeface="Arial"/>
              </a:rPr>
              <a:t>/b</a:t>
            </a:r>
            <a:endParaRPr sz="1700">
              <a:solidFill>
                <a:srgbClr val="000000"/>
              </a:solidFill>
              <a:latin typeface="Arial"/>
              <a:ea typeface="Arial"/>
              <a:cs typeface="Arial"/>
              <a:sym typeface="Arial"/>
            </a:endParaRPr>
          </a:p>
          <a:p>
            <a:pPr marL="0" lvl="0" indent="0" algn="l" rtl="0">
              <a:spcBef>
                <a:spcPts val="0"/>
              </a:spcBef>
              <a:spcAft>
                <a:spcPts val="0"/>
              </a:spcAft>
              <a:buNone/>
            </a:pPr>
            <a:endParaRPr sz="1700">
              <a:solidFill>
                <a:srgbClr val="000000"/>
              </a:solidFill>
              <a:latin typeface="Arial"/>
              <a:ea typeface="Arial"/>
              <a:cs typeface="Arial"/>
              <a:sym typeface="Arial"/>
            </a:endParaRPr>
          </a:p>
          <a:p>
            <a:pPr marL="0" lvl="0" indent="0" algn="l" rtl="0">
              <a:spcBef>
                <a:spcPts val="0"/>
              </a:spcBef>
              <a:spcAft>
                <a:spcPts val="0"/>
              </a:spcAft>
              <a:buNone/>
            </a:pPr>
            <a:r>
              <a:rPr lang="en" sz="2017" b="1">
                <a:solidFill>
                  <a:srgbClr val="000000"/>
                </a:solidFill>
                <a:latin typeface="Arial"/>
                <a:ea typeface="Arial"/>
                <a:cs typeface="Arial"/>
                <a:sym typeface="Arial"/>
              </a:rPr>
              <a:t>q</a:t>
            </a:r>
            <a:r>
              <a:rPr lang="en" sz="2017" b="1" baseline="-25000">
                <a:solidFill>
                  <a:srgbClr val="000000"/>
                </a:solidFill>
                <a:latin typeface="Arial"/>
                <a:ea typeface="Arial"/>
                <a:cs typeface="Arial"/>
                <a:sym typeface="Arial"/>
              </a:rPr>
              <a:t>2</a:t>
            </a:r>
            <a:r>
              <a:rPr lang="en" sz="2017" b="1" baseline="30000">
                <a:solidFill>
                  <a:srgbClr val="000000"/>
                </a:solidFill>
                <a:latin typeface="Arial"/>
                <a:ea typeface="Arial"/>
                <a:cs typeface="Arial"/>
                <a:sym typeface="Arial"/>
              </a:rPr>
              <a:t>c </a:t>
            </a:r>
            <a:r>
              <a:rPr lang="en" sz="2017" b="1">
                <a:solidFill>
                  <a:srgbClr val="000000"/>
                </a:solidFill>
                <a:latin typeface="Arial"/>
                <a:ea typeface="Arial"/>
                <a:cs typeface="Arial"/>
                <a:sym typeface="Arial"/>
              </a:rPr>
              <a:t>&gt; q</a:t>
            </a:r>
            <a:r>
              <a:rPr lang="en" sz="2017" b="1" baseline="-25000">
                <a:solidFill>
                  <a:srgbClr val="000000"/>
                </a:solidFill>
                <a:latin typeface="Arial"/>
                <a:ea typeface="Arial"/>
                <a:cs typeface="Arial"/>
                <a:sym typeface="Arial"/>
              </a:rPr>
              <a:t>2</a:t>
            </a:r>
            <a:r>
              <a:rPr lang="en" sz="2017" b="1">
                <a:solidFill>
                  <a:srgbClr val="000000"/>
                </a:solidFill>
                <a:latin typeface="Arial"/>
                <a:ea typeface="Arial"/>
                <a:cs typeface="Arial"/>
                <a:sym typeface="Arial"/>
              </a:rPr>
              <a:t>* =  q</a:t>
            </a:r>
            <a:r>
              <a:rPr lang="en" sz="2017" b="1" baseline="-25000">
                <a:solidFill>
                  <a:srgbClr val="000000"/>
                </a:solidFill>
                <a:latin typeface="Arial"/>
                <a:ea typeface="Arial"/>
                <a:cs typeface="Arial"/>
                <a:sym typeface="Arial"/>
              </a:rPr>
              <a:t>1</a:t>
            </a:r>
            <a:r>
              <a:rPr lang="en" sz="2017" b="1">
                <a:solidFill>
                  <a:srgbClr val="000000"/>
                </a:solidFill>
                <a:latin typeface="Arial"/>
                <a:ea typeface="Arial"/>
                <a:cs typeface="Arial"/>
                <a:sym typeface="Arial"/>
              </a:rPr>
              <a:t>*</a:t>
            </a:r>
            <a:r>
              <a:rPr lang="en" sz="2017" b="1" baseline="30000">
                <a:solidFill>
                  <a:srgbClr val="000000"/>
                </a:solidFill>
                <a:latin typeface="Arial"/>
                <a:ea typeface="Arial"/>
                <a:cs typeface="Arial"/>
                <a:sym typeface="Arial"/>
              </a:rPr>
              <a:t> </a:t>
            </a:r>
            <a:r>
              <a:rPr lang="en" sz="2017" b="1">
                <a:solidFill>
                  <a:srgbClr val="000000"/>
                </a:solidFill>
                <a:latin typeface="Arial"/>
                <a:ea typeface="Arial"/>
                <a:cs typeface="Arial"/>
                <a:sym typeface="Arial"/>
              </a:rPr>
              <a:t>&gt; q</a:t>
            </a:r>
            <a:r>
              <a:rPr lang="en" sz="2017" b="1" baseline="-25000">
                <a:solidFill>
                  <a:srgbClr val="000000"/>
                </a:solidFill>
                <a:latin typeface="Arial"/>
                <a:ea typeface="Arial"/>
                <a:cs typeface="Arial"/>
                <a:sym typeface="Arial"/>
              </a:rPr>
              <a:t>1</a:t>
            </a:r>
            <a:r>
              <a:rPr lang="en" sz="2017" b="1" baseline="30000">
                <a:solidFill>
                  <a:srgbClr val="000000"/>
                </a:solidFill>
                <a:latin typeface="Arial"/>
                <a:ea typeface="Arial"/>
                <a:cs typeface="Arial"/>
                <a:sym typeface="Arial"/>
              </a:rPr>
              <a:t>c</a:t>
            </a:r>
            <a:r>
              <a:rPr lang="en" sz="2017" b="1">
                <a:solidFill>
                  <a:srgbClr val="000000"/>
                </a:solidFill>
                <a:latin typeface="Arial"/>
                <a:ea typeface="Arial"/>
                <a:cs typeface="Arial"/>
                <a:sym typeface="Arial"/>
              </a:rPr>
              <a:t>, 			</a:t>
            </a:r>
            <a:endParaRPr sz="2017" b="1" baseline="30000">
              <a:solidFill>
                <a:srgbClr val="000000"/>
              </a:solidFill>
              <a:latin typeface="Arial"/>
              <a:ea typeface="Arial"/>
              <a:cs typeface="Arial"/>
              <a:sym typeface="Arial"/>
            </a:endParaRPr>
          </a:p>
          <a:p>
            <a:pPr marL="0" lvl="0" indent="0" algn="l" rtl="0">
              <a:spcBef>
                <a:spcPts val="0"/>
              </a:spcBef>
              <a:spcAft>
                <a:spcPts val="0"/>
              </a:spcAft>
              <a:buNone/>
            </a:pPr>
            <a:endParaRPr sz="2017" b="1" baseline="30000">
              <a:solidFill>
                <a:srgbClr val="000000"/>
              </a:solidFill>
              <a:latin typeface="Arial"/>
              <a:ea typeface="Arial"/>
              <a:cs typeface="Arial"/>
              <a:sym typeface="Arial"/>
            </a:endParaRPr>
          </a:p>
          <a:p>
            <a:pPr marL="0" lvl="0" indent="0" algn="l" rtl="0">
              <a:spcBef>
                <a:spcPts val="0"/>
              </a:spcBef>
              <a:spcAft>
                <a:spcPts val="0"/>
              </a:spcAft>
              <a:buNone/>
            </a:pPr>
            <a:r>
              <a:rPr lang="en" sz="2017" b="1">
                <a:solidFill>
                  <a:srgbClr val="000000"/>
                </a:solidFill>
                <a:latin typeface="Arial"/>
                <a:ea typeface="Arial"/>
                <a:cs typeface="Arial"/>
                <a:sym typeface="Arial"/>
              </a:rPr>
              <a:t>𝜋</a:t>
            </a:r>
            <a:r>
              <a:rPr lang="en" sz="2017" b="1" baseline="-25000">
                <a:solidFill>
                  <a:srgbClr val="000000"/>
                </a:solidFill>
                <a:latin typeface="Arial"/>
                <a:ea typeface="Arial"/>
                <a:cs typeface="Arial"/>
                <a:sym typeface="Arial"/>
              </a:rPr>
              <a:t>2</a:t>
            </a:r>
            <a:r>
              <a:rPr lang="en" sz="2017" b="1" baseline="30000">
                <a:solidFill>
                  <a:srgbClr val="000000"/>
                </a:solidFill>
                <a:latin typeface="Arial"/>
                <a:ea typeface="Arial"/>
                <a:cs typeface="Arial"/>
                <a:sym typeface="Arial"/>
              </a:rPr>
              <a:t>c</a:t>
            </a:r>
            <a:r>
              <a:rPr lang="en" sz="2017" b="1">
                <a:solidFill>
                  <a:srgbClr val="000000"/>
                </a:solidFill>
                <a:latin typeface="Arial"/>
                <a:ea typeface="Arial"/>
                <a:cs typeface="Arial"/>
                <a:sym typeface="Arial"/>
              </a:rPr>
              <a:t> &gt; 𝜋</a:t>
            </a:r>
            <a:r>
              <a:rPr lang="en" sz="2017" b="1" baseline="-25000">
                <a:solidFill>
                  <a:srgbClr val="000000"/>
                </a:solidFill>
                <a:latin typeface="Arial"/>
                <a:ea typeface="Arial"/>
                <a:cs typeface="Arial"/>
                <a:sym typeface="Arial"/>
              </a:rPr>
              <a:t>2</a:t>
            </a:r>
            <a:r>
              <a:rPr lang="en" sz="2017" b="1">
                <a:solidFill>
                  <a:srgbClr val="000000"/>
                </a:solidFill>
                <a:latin typeface="Arial"/>
                <a:ea typeface="Arial"/>
                <a:cs typeface="Arial"/>
                <a:sym typeface="Arial"/>
              </a:rPr>
              <a:t>*</a:t>
            </a:r>
            <a:r>
              <a:rPr lang="en" sz="2017" b="1" baseline="30000">
                <a:solidFill>
                  <a:srgbClr val="000000"/>
                </a:solidFill>
                <a:latin typeface="Arial"/>
                <a:ea typeface="Arial"/>
                <a:cs typeface="Arial"/>
                <a:sym typeface="Arial"/>
              </a:rPr>
              <a:t> </a:t>
            </a:r>
            <a:r>
              <a:rPr lang="en" sz="2017" b="1">
                <a:solidFill>
                  <a:srgbClr val="000000"/>
                </a:solidFill>
                <a:latin typeface="Arial"/>
                <a:ea typeface="Arial"/>
                <a:cs typeface="Arial"/>
                <a:sym typeface="Arial"/>
              </a:rPr>
              <a:t>&gt; 𝜋</a:t>
            </a:r>
            <a:r>
              <a:rPr lang="en" sz="2017" b="1" baseline="-25000">
                <a:solidFill>
                  <a:srgbClr val="000000"/>
                </a:solidFill>
                <a:latin typeface="Arial"/>
                <a:ea typeface="Arial"/>
                <a:cs typeface="Arial"/>
                <a:sym typeface="Arial"/>
              </a:rPr>
              <a:t>1</a:t>
            </a:r>
            <a:r>
              <a:rPr lang="en" sz="2017" b="1">
                <a:solidFill>
                  <a:srgbClr val="000000"/>
                </a:solidFill>
                <a:latin typeface="Arial"/>
                <a:ea typeface="Arial"/>
                <a:cs typeface="Arial"/>
                <a:sym typeface="Arial"/>
              </a:rPr>
              <a:t>* &gt; 𝜋</a:t>
            </a:r>
            <a:r>
              <a:rPr lang="en" sz="2017" b="1" baseline="-25000">
                <a:solidFill>
                  <a:srgbClr val="000000"/>
                </a:solidFill>
                <a:latin typeface="Arial"/>
                <a:ea typeface="Arial"/>
                <a:cs typeface="Arial"/>
                <a:sym typeface="Arial"/>
              </a:rPr>
              <a:t>1</a:t>
            </a:r>
            <a:r>
              <a:rPr lang="en" sz="2017" b="1" baseline="30000">
                <a:solidFill>
                  <a:srgbClr val="000000"/>
                </a:solidFill>
                <a:latin typeface="Arial"/>
                <a:ea typeface="Arial"/>
                <a:cs typeface="Arial"/>
                <a:sym typeface="Arial"/>
              </a:rPr>
              <a:t>c</a:t>
            </a:r>
            <a:endParaRPr sz="2017" b="1">
              <a:solidFill>
                <a:srgbClr val="000000"/>
              </a:solidFill>
              <a:latin typeface="Arial"/>
              <a:ea typeface="Arial"/>
              <a:cs typeface="Arial"/>
              <a:sym typeface="Arial"/>
            </a:endParaRPr>
          </a:p>
          <a:p>
            <a:pPr marL="0" lvl="0" indent="0" algn="l" rtl="0">
              <a:spcBef>
                <a:spcPts val="0"/>
              </a:spcBef>
              <a:spcAft>
                <a:spcPts val="0"/>
              </a:spcAft>
              <a:buNone/>
            </a:pPr>
            <a:endParaRPr sz="2017" b="1">
              <a:solidFill>
                <a:srgbClr val="000000"/>
              </a:solidFill>
              <a:latin typeface="Arial"/>
              <a:ea typeface="Arial"/>
              <a:cs typeface="Arial"/>
              <a:sym typeface="Arial"/>
            </a:endParaRPr>
          </a:p>
          <a:p>
            <a:pPr marL="0" lvl="0" indent="0" algn="l" rtl="0">
              <a:spcBef>
                <a:spcPts val="0"/>
              </a:spcBef>
              <a:spcAft>
                <a:spcPts val="0"/>
              </a:spcAft>
              <a:buNone/>
            </a:pPr>
            <a:r>
              <a:rPr lang="en" sz="2017" b="1">
                <a:solidFill>
                  <a:srgbClr val="000000"/>
                </a:solidFill>
                <a:latin typeface="Arial"/>
                <a:ea typeface="Arial"/>
                <a:cs typeface="Arial"/>
                <a:sym typeface="Arial"/>
              </a:rPr>
              <a:t>Q* &gt; Q</a:t>
            </a:r>
            <a:r>
              <a:rPr lang="en" sz="2017" b="1" baseline="30000">
                <a:solidFill>
                  <a:srgbClr val="000000"/>
                </a:solidFill>
                <a:latin typeface="Arial"/>
                <a:ea typeface="Arial"/>
                <a:cs typeface="Arial"/>
                <a:sym typeface="Arial"/>
              </a:rPr>
              <a:t>c</a:t>
            </a:r>
            <a:endParaRPr sz="2017" b="1" baseline="30000">
              <a:solidFill>
                <a:srgbClr val="000000"/>
              </a:solidFill>
              <a:latin typeface="Arial"/>
              <a:ea typeface="Arial"/>
              <a:cs typeface="Arial"/>
              <a:sym typeface="Arial"/>
            </a:endParaRPr>
          </a:p>
          <a:p>
            <a:pPr marL="0" lvl="0" indent="0" algn="l" rtl="0">
              <a:spcBef>
                <a:spcPts val="0"/>
              </a:spcBef>
              <a:spcAft>
                <a:spcPts val="0"/>
              </a:spcAft>
              <a:buNone/>
            </a:pPr>
            <a:endParaRPr sz="1700">
              <a:solidFill>
                <a:srgbClr val="000000"/>
              </a:solidFill>
              <a:latin typeface="Arial"/>
              <a:ea typeface="Arial"/>
              <a:cs typeface="Arial"/>
              <a:sym typeface="Arial"/>
            </a:endParaRPr>
          </a:p>
        </p:txBody>
      </p:sp>
      <p:sp>
        <p:nvSpPr>
          <p:cNvPr id="130" name="Google Shape;130;p20"/>
          <p:cNvSpPr txBox="1"/>
          <p:nvPr/>
        </p:nvSpPr>
        <p:spPr>
          <a:xfrm>
            <a:off x="3317175" y="2956900"/>
            <a:ext cx="3814200" cy="1477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500"/>
              <a:t>we see when we made q</a:t>
            </a:r>
            <a:r>
              <a:rPr lang="en" sz="1500" baseline="-25000"/>
              <a:t>2</a:t>
            </a:r>
            <a:r>
              <a:rPr lang="en" sz="1500"/>
              <a:t>* =  q</a:t>
            </a:r>
            <a:r>
              <a:rPr lang="en" sz="1500" baseline="-25000"/>
              <a:t>1</a:t>
            </a:r>
            <a:r>
              <a:rPr lang="en" sz="1500"/>
              <a:t>* &amp; counter the 1st player advantage in quantity produced in our game, firm 2 is having more advantage both in quantity &amp; profit in cournot games, while 𝜋</a:t>
            </a:r>
            <a:r>
              <a:rPr lang="en" sz="1500" baseline="-25000"/>
              <a:t>1</a:t>
            </a:r>
            <a:r>
              <a:rPr lang="en" sz="1500" b="1" baseline="30000"/>
              <a:t>c</a:t>
            </a:r>
            <a:r>
              <a:rPr lang="en" sz="1500" b="1"/>
              <a:t> </a:t>
            </a:r>
            <a:r>
              <a:rPr lang="en" sz="1500"/>
              <a:t>is worst off</a:t>
            </a:r>
            <a:endParaRPr sz="1700">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1"/>
          <p:cNvSpPr txBox="1">
            <a:spLocks noGrp="1"/>
          </p:cNvSpPr>
          <p:nvPr>
            <p:ph type="title"/>
          </p:nvPr>
        </p:nvSpPr>
        <p:spPr>
          <a:xfrm>
            <a:off x="311700" y="410000"/>
            <a:ext cx="8520600" cy="1056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en" sz="2300"/>
              <a:t>Case 3: 𝜋2* = 𝜋1*, we get  C1 = [(√2 -1)a + (3 + √2)C2]/(2 + 2√2)</a:t>
            </a:r>
            <a:endParaRPr sz="2300"/>
          </a:p>
        </p:txBody>
      </p:sp>
      <p:sp>
        <p:nvSpPr>
          <p:cNvPr id="136" name="Google Shape;136;p21"/>
          <p:cNvSpPr txBox="1">
            <a:spLocks noGrp="1"/>
          </p:cNvSpPr>
          <p:nvPr>
            <p:ph type="body" idx="1"/>
          </p:nvPr>
        </p:nvSpPr>
        <p:spPr>
          <a:xfrm>
            <a:off x="262000" y="976800"/>
            <a:ext cx="8520600" cy="380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700">
                <a:solidFill>
                  <a:srgbClr val="000000"/>
                </a:solidFill>
                <a:latin typeface="Arial"/>
                <a:ea typeface="Arial"/>
                <a:cs typeface="Arial"/>
                <a:sym typeface="Arial"/>
              </a:rPr>
              <a:t>we put, (a - C</a:t>
            </a:r>
            <a:r>
              <a:rPr lang="en" sz="1700" baseline="-25000">
                <a:solidFill>
                  <a:srgbClr val="000000"/>
                </a:solidFill>
                <a:latin typeface="Arial"/>
                <a:ea typeface="Arial"/>
                <a:cs typeface="Arial"/>
                <a:sym typeface="Arial"/>
              </a:rPr>
              <a:t>2</a:t>
            </a:r>
            <a:r>
              <a:rPr lang="en" sz="1700">
                <a:solidFill>
                  <a:srgbClr val="000000"/>
                </a:solidFill>
                <a:latin typeface="Arial"/>
                <a:ea typeface="Arial"/>
                <a:cs typeface="Arial"/>
                <a:sym typeface="Arial"/>
              </a:rPr>
              <a:t>)/(1 + √2) = ℓ we get </a:t>
            </a:r>
            <a:endParaRPr sz="1700">
              <a:solidFill>
                <a:srgbClr val="000000"/>
              </a:solidFill>
              <a:latin typeface="Arial"/>
              <a:ea typeface="Arial"/>
              <a:cs typeface="Arial"/>
              <a:sym typeface="Arial"/>
            </a:endParaRPr>
          </a:p>
          <a:p>
            <a:pPr marL="0" lvl="0" indent="0" algn="l" rtl="0">
              <a:spcBef>
                <a:spcPts val="0"/>
              </a:spcBef>
              <a:spcAft>
                <a:spcPts val="0"/>
              </a:spcAft>
              <a:buNone/>
            </a:pPr>
            <a:r>
              <a:rPr lang="en" sz="1700">
                <a:solidFill>
                  <a:srgbClr val="000000"/>
                </a:solidFill>
                <a:latin typeface="Arial"/>
                <a:ea typeface="Arial"/>
                <a:cs typeface="Arial"/>
                <a:sym typeface="Arial"/>
              </a:rPr>
              <a:t>q</a:t>
            </a:r>
            <a:r>
              <a:rPr lang="en" sz="1700" baseline="-25000">
                <a:solidFill>
                  <a:srgbClr val="000000"/>
                </a:solidFill>
                <a:latin typeface="Arial"/>
                <a:ea typeface="Arial"/>
                <a:cs typeface="Arial"/>
                <a:sym typeface="Arial"/>
              </a:rPr>
              <a:t>1</a:t>
            </a:r>
            <a:r>
              <a:rPr lang="en" sz="1700">
                <a:solidFill>
                  <a:srgbClr val="000000"/>
                </a:solidFill>
                <a:latin typeface="Arial"/>
                <a:ea typeface="Arial"/>
                <a:cs typeface="Arial"/>
                <a:sym typeface="Arial"/>
              </a:rPr>
              <a:t>* = ℓ/b,   q</a:t>
            </a:r>
            <a:r>
              <a:rPr lang="en" sz="1700" baseline="-25000">
                <a:solidFill>
                  <a:srgbClr val="000000"/>
                </a:solidFill>
                <a:latin typeface="Arial"/>
                <a:ea typeface="Arial"/>
                <a:cs typeface="Arial"/>
                <a:sym typeface="Arial"/>
              </a:rPr>
              <a:t>2</a:t>
            </a:r>
            <a:r>
              <a:rPr lang="en" sz="1700">
                <a:solidFill>
                  <a:srgbClr val="000000"/>
                </a:solidFill>
                <a:latin typeface="Arial"/>
                <a:ea typeface="Arial"/>
                <a:cs typeface="Arial"/>
                <a:sym typeface="Arial"/>
              </a:rPr>
              <a:t>* = ℓ/√2b,   Q* = ℓ(1 + √2)/√2b</a:t>
            </a:r>
            <a:endParaRPr sz="1700">
              <a:solidFill>
                <a:srgbClr val="000000"/>
              </a:solidFill>
              <a:latin typeface="Arial"/>
              <a:ea typeface="Arial"/>
              <a:cs typeface="Arial"/>
              <a:sym typeface="Arial"/>
            </a:endParaRPr>
          </a:p>
          <a:p>
            <a:pPr marL="0" lvl="0" indent="0" algn="l" rtl="0">
              <a:spcBef>
                <a:spcPts val="0"/>
              </a:spcBef>
              <a:spcAft>
                <a:spcPts val="0"/>
              </a:spcAft>
              <a:buNone/>
            </a:pPr>
            <a:r>
              <a:rPr lang="en" sz="1700">
                <a:solidFill>
                  <a:srgbClr val="000000"/>
                </a:solidFill>
                <a:latin typeface="Arial"/>
                <a:ea typeface="Arial"/>
                <a:cs typeface="Arial"/>
                <a:sym typeface="Arial"/>
              </a:rPr>
              <a:t>P* = [a + C</a:t>
            </a:r>
            <a:r>
              <a:rPr lang="en" sz="1700" baseline="-25000">
                <a:solidFill>
                  <a:srgbClr val="000000"/>
                </a:solidFill>
                <a:latin typeface="Arial"/>
                <a:ea typeface="Arial"/>
                <a:cs typeface="Arial"/>
                <a:sym typeface="Arial"/>
              </a:rPr>
              <a:t>2</a:t>
            </a:r>
            <a:r>
              <a:rPr lang="en" sz="1700">
                <a:solidFill>
                  <a:srgbClr val="000000"/>
                </a:solidFill>
                <a:latin typeface="Arial"/>
                <a:ea typeface="Arial"/>
                <a:cs typeface="Arial"/>
                <a:sym typeface="Arial"/>
              </a:rPr>
              <a:t>(1 + √2)]/√2(1 + √2),    𝜋</a:t>
            </a:r>
            <a:r>
              <a:rPr lang="en" sz="1700" baseline="-25000">
                <a:solidFill>
                  <a:srgbClr val="000000"/>
                </a:solidFill>
                <a:latin typeface="Arial"/>
                <a:ea typeface="Arial"/>
                <a:cs typeface="Arial"/>
                <a:sym typeface="Arial"/>
              </a:rPr>
              <a:t>1</a:t>
            </a:r>
            <a:r>
              <a:rPr lang="en" sz="1700">
                <a:solidFill>
                  <a:srgbClr val="000000"/>
                </a:solidFill>
                <a:latin typeface="Arial"/>
                <a:ea typeface="Arial"/>
                <a:cs typeface="Arial"/>
                <a:sym typeface="Arial"/>
              </a:rPr>
              <a:t>* = 𝜋</a:t>
            </a:r>
            <a:r>
              <a:rPr lang="en" sz="1700" baseline="-25000">
                <a:solidFill>
                  <a:srgbClr val="000000"/>
                </a:solidFill>
                <a:latin typeface="Arial"/>
                <a:ea typeface="Arial"/>
                <a:cs typeface="Arial"/>
                <a:sym typeface="Arial"/>
              </a:rPr>
              <a:t>2</a:t>
            </a:r>
            <a:r>
              <a:rPr lang="en" sz="1700">
                <a:solidFill>
                  <a:srgbClr val="000000"/>
                </a:solidFill>
                <a:latin typeface="Arial"/>
                <a:ea typeface="Arial"/>
                <a:cs typeface="Arial"/>
                <a:sym typeface="Arial"/>
              </a:rPr>
              <a:t>* = ℓ</a:t>
            </a:r>
            <a:r>
              <a:rPr lang="en" sz="1700" b="1" baseline="30000">
                <a:solidFill>
                  <a:srgbClr val="000000"/>
                </a:solidFill>
                <a:latin typeface="Arial"/>
                <a:ea typeface="Arial"/>
                <a:cs typeface="Arial"/>
                <a:sym typeface="Arial"/>
              </a:rPr>
              <a:t>2</a:t>
            </a:r>
            <a:r>
              <a:rPr lang="en" sz="1700">
                <a:solidFill>
                  <a:srgbClr val="000000"/>
                </a:solidFill>
                <a:latin typeface="Arial"/>
                <a:ea typeface="Arial"/>
                <a:cs typeface="Arial"/>
                <a:sym typeface="Arial"/>
              </a:rPr>
              <a:t>/2b</a:t>
            </a:r>
            <a:endParaRPr sz="1700">
              <a:solidFill>
                <a:srgbClr val="000000"/>
              </a:solidFill>
              <a:latin typeface="Arial"/>
              <a:ea typeface="Arial"/>
              <a:cs typeface="Arial"/>
              <a:sym typeface="Arial"/>
            </a:endParaRPr>
          </a:p>
          <a:p>
            <a:pPr marL="0" lvl="0" indent="0" algn="l" rtl="0">
              <a:spcBef>
                <a:spcPts val="0"/>
              </a:spcBef>
              <a:spcAft>
                <a:spcPts val="0"/>
              </a:spcAft>
              <a:buNone/>
            </a:pPr>
            <a:endParaRPr sz="1700">
              <a:solidFill>
                <a:srgbClr val="000000"/>
              </a:solidFill>
              <a:latin typeface="Arial"/>
              <a:ea typeface="Arial"/>
              <a:cs typeface="Arial"/>
              <a:sym typeface="Arial"/>
            </a:endParaRPr>
          </a:p>
          <a:p>
            <a:pPr marL="0" lvl="0" indent="0" algn="l" rtl="0">
              <a:spcBef>
                <a:spcPts val="0"/>
              </a:spcBef>
              <a:spcAft>
                <a:spcPts val="0"/>
              </a:spcAft>
              <a:buNone/>
            </a:pPr>
            <a:r>
              <a:rPr lang="en" sz="1700">
                <a:solidFill>
                  <a:srgbClr val="000000"/>
                </a:solidFill>
                <a:latin typeface="Arial"/>
                <a:ea typeface="Arial"/>
                <a:cs typeface="Arial"/>
                <a:sym typeface="Arial"/>
              </a:rPr>
              <a:t>q</a:t>
            </a:r>
            <a:r>
              <a:rPr lang="en" sz="1700" baseline="-25000">
                <a:solidFill>
                  <a:srgbClr val="000000"/>
                </a:solidFill>
                <a:latin typeface="Arial"/>
                <a:ea typeface="Arial"/>
                <a:cs typeface="Arial"/>
                <a:sym typeface="Arial"/>
              </a:rPr>
              <a:t>1</a:t>
            </a:r>
            <a:r>
              <a:rPr lang="en" sz="1700" b="1" baseline="30000">
                <a:solidFill>
                  <a:srgbClr val="000000"/>
                </a:solidFill>
                <a:latin typeface="Arial"/>
                <a:ea typeface="Arial"/>
                <a:cs typeface="Arial"/>
                <a:sym typeface="Arial"/>
              </a:rPr>
              <a:t>c  </a:t>
            </a:r>
            <a:r>
              <a:rPr lang="en" sz="1700">
                <a:solidFill>
                  <a:srgbClr val="000000"/>
                </a:solidFill>
                <a:latin typeface="Arial"/>
                <a:ea typeface="Arial"/>
                <a:cs typeface="Arial"/>
                <a:sym typeface="Arial"/>
              </a:rPr>
              <a:t>=  2ℓ/3b,   q</a:t>
            </a:r>
            <a:r>
              <a:rPr lang="en" sz="1700" baseline="-25000">
                <a:solidFill>
                  <a:srgbClr val="000000"/>
                </a:solidFill>
                <a:latin typeface="Arial"/>
                <a:ea typeface="Arial"/>
                <a:cs typeface="Arial"/>
                <a:sym typeface="Arial"/>
              </a:rPr>
              <a:t>2</a:t>
            </a:r>
            <a:r>
              <a:rPr lang="en" sz="1700" b="1" baseline="30000">
                <a:solidFill>
                  <a:srgbClr val="000000"/>
                </a:solidFill>
                <a:latin typeface="Arial"/>
                <a:ea typeface="Arial"/>
                <a:cs typeface="Arial"/>
                <a:sym typeface="Arial"/>
              </a:rPr>
              <a:t>c  </a:t>
            </a:r>
            <a:r>
              <a:rPr lang="en" sz="1700">
                <a:solidFill>
                  <a:srgbClr val="000000"/>
                </a:solidFill>
                <a:latin typeface="Arial"/>
                <a:ea typeface="Arial"/>
                <a:cs typeface="Arial"/>
                <a:sym typeface="Arial"/>
              </a:rPr>
              <a:t>=  (1 + 3√2)ℓ/6b,   Q*  =  (5 + 3√2)ℓ/6b,</a:t>
            </a:r>
            <a:endParaRPr sz="1700">
              <a:solidFill>
                <a:srgbClr val="000000"/>
              </a:solidFill>
              <a:latin typeface="Arial"/>
              <a:ea typeface="Arial"/>
              <a:cs typeface="Arial"/>
              <a:sym typeface="Arial"/>
            </a:endParaRPr>
          </a:p>
          <a:p>
            <a:pPr marL="0" lvl="0" indent="0" algn="l" rtl="0">
              <a:spcBef>
                <a:spcPts val="0"/>
              </a:spcBef>
              <a:spcAft>
                <a:spcPts val="0"/>
              </a:spcAft>
              <a:buNone/>
            </a:pPr>
            <a:r>
              <a:rPr lang="en" sz="1700">
                <a:solidFill>
                  <a:srgbClr val="000000"/>
                </a:solidFill>
                <a:latin typeface="Arial"/>
                <a:ea typeface="Arial"/>
                <a:cs typeface="Arial"/>
                <a:sym typeface="Arial"/>
              </a:rPr>
              <a:t> P</a:t>
            </a:r>
            <a:r>
              <a:rPr lang="en" sz="1700" baseline="30000">
                <a:solidFill>
                  <a:srgbClr val="000000"/>
                </a:solidFill>
                <a:latin typeface="Arial"/>
                <a:ea typeface="Arial"/>
                <a:cs typeface="Arial"/>
                <a:sym typeface="Arial"/>
              </a:rPr>
              <a:t>C</a:t>
            </a:r>
            <a:r>
              <a:rPr lang="en" sz="1700">
                <a:solidFill>
                  <a:srgbClr val="000000"/>
                </a:solidFill>
                <a:latin typeface="Arial"/>
                <a:ea typeface="Arial"/>
                <a:cs typeface="Arial"/>
                <a:sym typeface="Arial"/>
              </a:rPr>
              <a:t> = [(1 + 3√2)a + (5 + 3√2)C</a:t>
            </a:r>
            <a:r>
              <a:rPr lang="en" sz="1700" baseline="-25000">
                <a:solidFill>
                  <a:srgbClr val="000000"/>
                </a:solidFill>
                <a:latin typeface="Arial"/>
                <a:ea typeface="Arial"/>
                <a:cs typeface="Arial"/>
                <a:sym typeface="Arial"/>
              </a:rPr>
              <a:t>2</a:t>
            </a:r>
            <a:r>
              <a:rPr lang="en" sz="1700">
                <a:solidFill>
                  <a:srgbClr val="000000"/>
                </a:solidFill>
                <a:latin typeface="Arial"/>
                <a:ea typeface="Arial"/>
                <a:cs typeface="Arial"/>
                <a:sym typeface="Arial"/>
              </a:rPr>
              <a:t>]/6(1 + √2),  𝜋</a:t>
            </a:r>
            <a:r>
              <a:rPr lang="en" sz="1700" baseline="-25000">
                <a:solidFill>
                  <a:srgbClr val="000000"/>
                </a:solidFill>
                <a:latin typeface="Arial"/>
                <a:ea typeface="Arial"/>
                <a:cs typeface="Arial"/>
                <a:sym typeface="Arial"/>
              </a:rPr>
              <a:t>1</a:t>
            </a:r>
            <a:r>
              <a:rPr lang="en" sz="1700" b="1" baseline="30000">
                <a:solidFill>
                  <a:srgbClr val="000000"/>
                </a:solidFill>
                <a:latin typeface="Arial"/>
                <a:ea typeface="Arial"/>
                <a:cs typeface="Arial"/>
                <a:sym typeface="Arial"/>
              </a:rPr>
              <a:t>c</a:t>
            </a:r>
            <a:r>
              <a:rPr lang="en" sz="1700" b="1">
                <a:solidFill>
                  <a:srgbClr val="000000"/>
                </a:solidFill>
                <a:latin typeface="Arial"/>
                <a:ea typeface="Arial"/>
                <a:cs typeface="Arial"/>
                <a:sym typeface="Arial"/>
              </a:rPr>
              <a:t> </a:t>
            </a:r>
            <a:r>
              <a:rPr lang="en" sz="1700">
                <a:solidFill>
                  <a:srgbClr val="000000"/>
                </a:solidFill>
                <a:latin typeface="Arial"/>
                <a:ea typeface="Arial"/>
                <a:cs typeface="Arial"/>
                <a:sym typeface="Arial"/>
              </a:rPr>
              <a:t>= 4ℓ</a:t>
            </a:r>
            <a:r>
              <a:rPr lang="en" sz="1700" b="1" baseline="30000">
                <a:solidFill>
                  <a:srgbClr val="000000"/>
                </a:solidFill>
                <a:latin typeface="Arial"/>
                <a:ea typeface="Arial"/>
                <a:cs typeface="Arial"/>
                <a:sym typeface="Arial"/>
              </a:rPr>
              <a:t>2</a:t>
            </a:r>
            <a:r>
              <a:rPr lang="en" sz="1700">
                <a:solidFill>
                  <a:srgbClr val="000000"/>
                </a:solidFill>
                <a:latin typeface="Arial"/>
                <a:ea typeface="Arial"/>
                <a:cs typeface="Arial"/>
                <a:sym typeface="Arial"/>
              </a:rPr>
              <a:t>/9b,    𝜋</a:t>
            </a:r>
            <a:r>
              <a:rPr lang="en" sz="1700" baseline="-25000">
                <a:solidFill>
                  <a:srgbClr val="000000"/>
                </a:solidFill>
                <a:latin typeface="Arial"/>
                <a:ea typeface="Arial"/>
                <a:cs typeface="Arial"/>
                <a:sym typeface="Arial"/>
              </a:rPr>
              <a:t>2</a:t>
            </a:r>
            <a:r>
              <a:rPr lang="en" sz="1700" b="1" baseline="30000">
                <a:solidFill>
                  <a:srgbClr val="000000"/>
                </a:solidFill>
                <a:latin typeface="Arial"/>
                <a:ea typeface="Arial"/>
                <a:cs typeface="Arial"/>
                <a:sym typeface="Arial"/>
              </a:rPr>
              <a:t>c</a:t>
            </a:r>
            <a:r>
              <a:rPr lang="en" sz="1700" b="1">
                <a:solidFill>
                  <a:srgbClr val="000000"/>
                </a:solidFill>
                <a:latin typeface="Arial"/>
                <a:ea typeface="Arial"/>
                <a:cs typeface="Arial"/>
                <a:sym typeface="Arial"/>
              </a:rPr>
              <a:t> </a:t>
            </a:r>
            <a:r>
              <a:rPr lang="en" sz="1700">
                <a:solidFill>
                  <a:srgbClr val="000000"/>
                </a:solidFill>
                <a:latin typeface="Arial"/>
                <a:ea typeface="Arial"/>
                <a:cs typeface="Arial"/>
                <a:sym typeface="Arial"/>
              </a:rPr>
              <a:t>= [(1 + 3√2)/6]</a:t>
            </a:r>
            <a:r>
              <a:rPr lang="en" sz="1700" baseline="30000">
                <a:solidFill>
                  <a:srgbClr val="000000"/>
                </a:solidFill>
                <a:latin typeface="Arial"/>
                <a:ea typeface="Arial"/>
                <a:cs typeface="Arial"/>
                <a:sym typeface="Arial"/>
              </a:rPr>
              <a:t>2</a:t>
            </a:r>
            <a:r>
              <a:rPr lang="en" sz="1700">
                <a:solidFill>
                  <a:srgbClr val="000000"/>
                </a:solidFill>
                <a:latin typeface="Arial"/>
                <a:ea typeface="Arial"/>
                <a:cs typeface="Arial"/>
                <a:sym typeface="Arial"/>
              </a:rPr>
              <a:t>ℓ</a:t>
            </a:r>
            <a:r>
              <a:rPr lang="en" sz="1700" b="1" baseline="30000">
                <a:solidFill>
                  <a:srgbClr val="000000"/>
                </a:solidFill>
                <a:latin typeface="Arial"/>
                <a:ea typeface="Arial"/>
                <a:cs typeface="Arial"/>
                <a:sym typeface="Arial"/>
              </a:rPr>
              <a:t>2</a:t>
            </a:r>
            <a:r>
              <a:rPr lang="en" sz="1700">
                <a:solidFill>
                  <a:srgbClr val="000000"/>
                </a:solidFill>
                <a:latin typeface="Arial"/>
                <a:ea typeface="Arial"/>
                <a:cs typeface="Arial"/>
                <a:sym typeface="Arial"/>
              </a:rPr>
              <a:t>/b</a:t>
            </a:r>
            <a:endParaRPr sz="1700">
              <a:solidFill>
                <a:srgbClr val="000000"/>
              </a:solidFill>
              <a:latin typeface="Arial"/>
              <a:ea typeface="Arial"/>
              <a:cs typeface="Arial"/>
              <a:sym typeface="Arial"/>
            </a:endParaRPr>
          </a:p>
          <a:p>
            <a:pPr marL="0" lvl="0" indent="0" algn="l" rtl="0">
              <a:spcBef>
                <a:spcPts val="0"/>
              </a:spcBef>
              <a:spcAft>
                <a:spcPts val="0"/>
              </a:spcAft>
              <a:buNone/>
            </a:pPr>
            <a:endParaRPr sz="1700">
              <a:solidFill>
                <a:srgbClr val="000000"/>
              </a:solidFill>
              <a:latin typeface="Arial"/>
              <a:ea typeface="Arial"/>
              <a:cs typeface="Arial"/>
              <a:sym typeface="Arial"/>
            </a:endParaRPr>
          </a:p>
          <a:p>
            <a:pPr marL="0" lvl="0" indent="0" algn="l" rtl="0">
              <a:spcBef>
                <a:spcPts val="0"/>
              </a:spcBef>
              <a:spcAft>
                <a:spcPts val="0"/>
              </a:spcAft>
              <a:buNone/>
            </a:pPr>
            <a:r>
              <a:rPr lang="en" sz="1700" b="1">
                <a:solidFill>
                  <a:srgbClr val="000000"/>
                </a:solidFill>
                <a:latin typeface="Arial"/>
                <a:ea typeface="Arial"/>
                <a:cs typeface="Arial"/>
                <a:sym typeface="Arial"/>
              </a:rPr>
              <a:t>q</a:t>
            </a:r>
            <a:r>
              <a:rPr lang="en" sz="1700" b="1" baseline="-25000">
                <a:solidFill>
                  <a:srgbClr val="000000"/>
                </a:solidFill>
                <a:latin typeface="Arial"/>
                <a:ea typeface="Arial"/>
                <a:cs typeface="Arial"/>
                <a:sym typeface="Arial"/>
              </a:rPr>
              <a:t>1</a:t>
            </a:r>
            <a:r>
              <a:rPr lang="en" sz="1700" b="1">
                <a:solidFill>
                  <a:srgbClr val="000000"/>
                </a:solidFill>
                <a:latin typeface="Arial"/>
                <a:ea typeface="Arial"/>
                <a:cs typeface="Arial"/>
                <a:sym typeface="Arial"/>
              </a:rPr>
              <a:t>*  &gt;  q</a:t>
            </a:r>
            <a:r>
              <a:rPr lang="en" sz="1700" b="1" baseline="-25000">
                <a:solidFill>
                  <a:srgbClr val="000000"/>
                </a:solidFill>
                <a:latin typeface="Arial"/>
                <a:ea typeface="Arial"/>
                <a:cs typeface="Arial"/>
                <a:sym typeface="Arial"/>
              </a:rPr>
              <a:t>2</a:t>
            </a:r>
            <a:r>
              <a:rPr lang="en" sz="1700" b="1" baseline="30000">
                <a:solidFill>
                  <a:srgbClr val="000000"/>
                </a:solidFill>
                <a:latin typeface="Arial"/>
                <a:ea typeface="Arial"/>
                <a:cs typeface="Arial"/>
                <a:sym typeface="Arial"/>
              </a:rPr>
              <a:t>c </a:t>
            </a:r>
            <a:r>
              <a:rPr lang="en" sz="1700" b="1">
                <a:solidFill>
                  <a:srgbClr val="000000"/>
                </a:solidFill>
                <a:latin typeface="Arial"/>
                <a:ea typeface="Arial"/>
                <a:cs typeface="Arial"/>
                <a:sym typeface="Arial"/>
              </a:rPr>
              <a:t> &gt;  q</a:t>
            </a:r>
            <a:r>
              <a:rPr lang="en" sz="1700" b="1" baseline="-25000">
                <a:solidFill>
                  <a:srgbClr val="000000"/>
                </a:solidFill>
                <a:latin typeface="Arial"/>
                <a:ea typeface="Arial"/>
                <a:cs typeface="Arial"/>
                <a:sym typeface="Arial"/>
              </a:rPr>
              <a:t>2</a:t>
            </a:r>
            <a:r>
              <a:rPr lang="en" sz="1700" b="1">
                <a:solidFill>
                  <a:srgbClr val="000000"/>
                </a:solidFill>
                <a:latin typeface="Arial"/>
                <a:ea typeface="Arial"/>
                <a:cs typeface="Arial"/>
                <a:sym typeface="Arial"/>
              </a:rPr>
              <a:t>*  &gt;  q</a:t>
            </a:r>
            <a:r>
              <a:rPr lang="en" sz="1700" b="1" baseline="-25000">
                <a:solidFill>
                  <a:srgbClr val="000000"/>
                </a:solidFill>
                <a:latin typeface="Arial"/>
                <a:ea typeface="Arial"/>
                <a:cs typeface="Arial"/>
                <a:sym typeface="Arial"/>
              </a:rPr>
              <a:t>1</a:t>
            </a:r>
            <a:r>
              <a:rPr lang="en" sz="1700" b="1" baseline="30000">
                <a:solidFill>
                  <a:srgbClr val="000000"/>
                </a:solidFill>
                <a:latin typeface="Arial"/>
                <a:ea typeface="Arial"/>
                <a:cs typeface="Arial"/>
                <a:sym typeface="Arial"/>
              </a:rPr>
              <a:t>c</a:t>
            </a:r>
            <a:endParaRPr sz="1700" b="1" baseline="30000">
              <a:solidFill>
                <a:srgbClr val="000000"/>
              </a:solidFill>
              <a:latin typeface="Arial"/>
              <a:ea typeface="Arial"/>
              <a:cs typeface="Arial"/>
              <a:sym typeface="Arial"/>
            </a:endParaRPr>
          </a:p>
          <a:p>
            <a:pPr marL="0" lvl="0" indent="0" algn="l" rtl="0">
              <a:spcBef>
                <a:spcPts val="0"/>
              </a:spcBef>
              <a:spcAft>
                <a:spcPts val="0"/>
              </a:spcAft>
              <a:buNone/>
            </a:pPr>
            <a:r>
              <a:rPr lang="en" sz="1700" b="1">
                <a:solidFill>
                  <a:srgbClr val="000000"/>
                </a:solidFill>
                <a:latin typeface="Arial"/>
                <a:ea typeface="Arial"/>
                <a:cs typeface="Arial"/>
                <a:sym typeface="Arial"/>
              </a:rPr>
              <a:t> </a:t>
            </a:r>
            <a:endParaRPr sz="1700" b="1">
              <a:solidFill>
                <a:srgbClr val="000000"/>
              </a:solidFill>
              <a:latin typeface="Arial"/>
              <a:ea typeface="Arial"/>
              <a:cs typeface="Arial"/>
              <a:sym typeface="Arial"/>
            </a:endParaRPr>
          </a:p>
          <a:p>
            <a:pPr marL="0" lvl="0" indent="0" algn="l" rtl="0">
              <a:spcBef>
                <a:spcPts val="0"/>
              </a:spcBef>
              <a:spcAft>
                <a:spcPts val="0"/>
              </a:spcAft>
              <a:buNone/>
            </a:pPr>
            <a:r>
              <a:rPr lang="en" sz="1700" b="1">
                <a:solidFill>
                  <a:srgbClr val="000000"/>
                </a:solidFill>
                <a:latin typeface="Arial"/>
                <a:ea typeface="Arial"/>
                <a:cs typeface="Arial"/>
                <a:sym typeface="Arial"/>
              </a:rPr>
              <a:t> 𝜋</a:t>
            </a:r>
            <a:r>
              <a:rPr lang="en" sz="1700" b="1" baseline="-25000">
                <a:solidFill>
                  <a:srgbClr val="000000"/>
                </a:solidFill>
                <a:latin typeface="Arial"/>
                <a:ea typeface="Arial"/>
                <a:cs typeface="Arial"/>
                <a:sym typeface="Arial"/>
              </a:rPr>
              <a:t>2</a:t>
            </a:r>
            <a:r>
              <a:rPr lang="en" sz="1700" b="1" baseline="30000">
                <a:solidFill>
                  <a:srgbClr val="000000"/>
                </a:solidFill>
                <a:latin typeface="Arial"/>
                <a:ea typeface="Arial"/>
                <a:cs typeface="Arial"/>
                <a:sym typeface="Arial"/>
              </a:rPr>
              <a:t>c</a:t>
            </a:r>
            <a:r>
              <a:rPr lang="en" sz="1700" b="1">
                <a:solidFill>
                  <a:srgbClr val="000000"/>
                </a:solidFill>
                <a:latin typeface="Arial"/>
                <a:ea typeface="Arial"/>
                <a:cs typeface="Arial"/>
                <a:sym typeface="Arial"/>
              </a:rPr>
              <a:t>   &gt;   𝜋</a:t>
            </a:r>
            <a:r>
              <a:rPr lang="en" sz="1700" b="1" baseline="-25000">
                <a:solidFill>
                  <a:srgbClr val="000000"/>
                </a:solidFill>
                <a:latin typeface="Arial"/>
                <a:ea typeface="Arial"/>
                <a:cs typeface="Arial"/>
                <a:sym typeface="Arial"/>
              </a:rPr>
              <a:t>1</a:t>
            </a:r>
            <a:r>
              <a:rPr lang="en" sz="1700" b="1">
                <a:solidFill>
                  <a:srgbClr val="000000"/>
                </a:solidFill>
                <a:latin typeface="Arial"/>
                <a:ea typeface="Arial"/>
                <a:cs typeface="Arial"/>
                <a:sym typeface="Arial"/>
              </a:rPr>
              <a:t>*   =   𝜋</a:t>
            </a:r>
            <a:r>
              <a:rPr lang="en" sz="1700" b="1" baseline="-25000">
                <a:solidFill>
                  <a:srgbClr val="000000"/>
                </a:solidFill>
                <a:latin typeface="Arial"/>
                <a:ea typeface="Arial"/>
                <a:cs typeface="Arial"/>
                <a:sym typeface="Arial"/>
              </a:rPr>
              <a:t>2</a:t>
            </a:r>
            <a:r>
              <a:rPr lang="en" sz="1700" b="1">
                <a:solidFill>
                  <a:srgbClr val="000000"/>
                </a:solidFill>
                <a:latin typeface="Arial"/>
                <a:ea typeface="Arial"/>
                <a:cs typeface="Arial"/>
                <a:sym typeface="Arial"/>
              </a:rPr>
              <a:t>*   &gt;   𝜋</a:t>
            </a:r>
            <a:r>
              <a:rPr lang="en" sz="1700" b="1" baseline="-25000">
                <a:solidFill>
                  <a:srgbClr val="000000"/>
                </a:solidFill>
                <a:latin typeface="Arial"/>
                <a:ea typeface="Arial"/>
                <a:cs typeface="Arial"/>
                <a:sym typeface="Arial"/>
              </a:rPr>
              <a:t>1</a:t>
            </a:r>
            <a:r>
              <a:rPr lang="en" sz="1700" b="1" baseline="30000">
                <a:solidFill>
                  <a:srgbClr val="000000"/>
                </a:solidFill>
                <a:latin typeface="Arial"/>
                <a:ea typeface="Arial"/>
                <a:cs typeface="Arial"/>
                <a:sym typeface="Arial"/>
              </a:rPr>
              <a:t>c</a:t>
            </a:r>
            <a:endParaRPr sz="1700" b="1">
              <a:solidFill>
                <a:srgbClr val="000000"/>
              </a:solidFill>
              <a:latin typeface="Arial"/>
              <a:ea typeface="Arial"/>
              <a:cs typeface="Arial"/>
              <a:sym typeface="Arial"/>
            </a:endParaRPr>
          </a:p>
          <a:p>
            <a:pPr marL="0" lvl="0" indent="0" algn="l" rtl="0">
              <a:spcBef>
                <a:spcPts val="0"/>
              </a:spcBef>
              <a:spcAft>
                <a:spcPts val="0"/>
              </a:spcAft>
              <a:buNone/>
            </a:pPr>
            <a:endParaRPr sz="1700" b="1">
              <a:solidFill>
                <a:srgbClr val="000000"/>
              </a:solidFill>
              <a:latin typeface="Arial"/>
              <a:ea typeface="Arial"/>
              <a:cs typeface="Arial"/>
              <a:sym typeface="Arial"/>
            </a:endParaRPr>
          </a:p>
          <a:p>
            <a:pPr marL="0" lvl="0" indent="0" algn="l" rtl="0">
              <a:spcBef>
                <a:spcPts val="0"/>
              </a:spcBef>
              <a:spcAft>
                <a:spcPts val="0"/>
              </a:spcAft>
              <a:buNone/>
            </a:pPr>
            <a:r>
              <a:rPr lang="en" sz="1700" b="1">
                <a:solidFill>
                  <a:srgbClr val="000000"/>
                </a:solidFill>
                <a:latin typeface="Arial"/>
                <a:ea typeface="Arial"/>
                <a:cs typeface="Arial"/>
                <a:sym typeface="Arial"/>
              </a:rPr>
              <a:t> Q*  &gt;  Q</a:t>
            </a:r>
            <a:r>
              <a:rPr lang="en" sz="1700" b="1" baseline="30000">
                <a:solidFill>
                  <a:srgbClr val="000000"/>
                </a:solidFill>
                <a:latin typeface="Arial"/>
                <a:ea typeface="Arial"/>
                <a:cs typeface="Arial"/>
                <a:sym typeface="Arial"/>
              </a:rPr>
              <a:t>c</a:t>
            </a:r>
            <a:r>
              <a:rPr lang="en" sz="1700" b="1">
                <a:solidFill>
                  <a:srgbClr val="000000"/>
                </a:solidFill>
                <a:latin typeface="Arial"/>
                <a:ea typeface="Arial"/>
                <a:cs typeface="Arial"/>
                <a:sym typeface="Arial"/>
              </a:rPr>
              <a:t> </a:t>
            </a:r>
            <a:endParaRPr sz="1700">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2"/>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Results</a:t>
            </a:r>
            <a:endParaRPr/>
          </a:p>
        </p:txBody>
      </p:sp>
      <p:sp>
        <p:nvSpPr>
          <p:cNvPr id="142" name="Google Shape;142;p22"/>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rmAutofit lnSpcReduction="20000"/>
          </a:bodyPr>
          <a:lstStyle/>
          <a:p>
            <a:pPr marL="457200" lvl="0" indent="-336550" algn="l" rtl="0">
              <a:spcBef>
                <a:spcPts val="0"/>
              </a:spcBef>
              <a:spcAft>
                <a:spcPts val="0"/>
              </a:spcAft>
              <a:buSzPts val="1700"/>
              <a:buFont typeface="Arial"/>
              <a:buChar char="●"/>
            </a:pPr>
            <a:r>
              <a:rPr lang="en" sz="1700">
                <a:latin typeface="Arial"/>
                <a:ea typeface="Arial"/>
                <a:cs typeface="Arial"/>
                <a:sym typeface="Arial"/>
              </a:rPr>
              <a:t>Irrespective of the relation between C1 and C2 we find out that every time firm 1 will be better off in this game due to 1st player mover advantage compared to the cournot duopoly for the same set of variables</a:t>
            </a:r>
            <a:endParaRPr sz="1700">
              <a:latin typeface="Arial"/>
              <a:ea typeface="Arial"/>
              <a:cs typeface="Arial"/>
              <a:sym typeface="Arial"/>
            </a:endParaRPr>
          </a:p>
          <a:p>
            <a:pPr marL="457200" lvl="0" indent="-336550" algn="l" rtl="0">
              <a:spcBef>
                <a:spcPts val="0"/>
              </a:spcBef>
              <a:spcAft>
                <a:spcPts val="0"/>
              </a:spcAft>
              <a:buSzPts val="1700"/>
              <a:buFont typeface="Arial"/>
              <a:buChar char="●"/>
            </a:pPr>
            <a:r>
              <a:rPr lang="en" sz="1700">
                <a:latin typeface="Arial"/>
                <a:ea typeface="Arial"/>
                <a:cs typeface="Arial"/>
                <a:sym typeface="Arial"/>
              </a:rPr>
              <a:t>For all the three cases 1) Marginal costs, C1 = C2 = C, 2) q1* = q2*, 3) 𝜋2* = 𝜋1*</a:t>
            </a:r>
            <a:endParaRPr sz="1700">
              <a:latin typeface="Arial"/>
              <a:ea typeface="Arial"/>
              <a:cs typeface="Arial"/>
              <a:sym typeface="Arial"/>
            </a:endParaRPr>
          </a:p>
          <a:p>
            <a:pPr marL="457200" lvl="0" indent="0" algn="l" rtl="0">
              <a:spcBef>
                <a:spcPts val="1200"/>
              </a:spcBef>
              <a:spcAft>
                <a:spcPts val="0"/>
              </a:spcAft>
              <a:buNone/>
            </a:pPr>
            <a:r>
              <a:rPr lang="en" sz="1700">
                <a:latin typeface="Arial"/>
                <a:ea typeface="Arial"/>
                <a:cs typeface="Arial"/>
                <a:sym typeface="Arial"/>
              </a:rPr>
              <a:t>We find out that Q* &gt; Qc, that is, the market is better off economically in all three cases of the game presented above compared to the cournot duopoly game, irrespective of the pie sharing of the outcome, that is, social justice.</a:t>
            </a:r>
            <a:endParaRPr sz="1700">
              <a:latin typeface="Arial"/>
              <a:ea typeface="Arial"/>
              <a:cs typeface="Arial"/>
              <a:sym typeface="Arial"/>
            </a:endParaRPr>
          </a:p>
          <a:p>
            <a:pPr marL="457200" lvl="0" indent="0" algn="l" rtl="0">
              <a:spcBef>
                <a:spcPts val="1200"/>
              </a:spcBef>
              <a:spcAft>
                <a:spcPts val="0"/>
              </a:spcAft>
              <a:buNone/>
            </a:pPr>
            <a:r>
              <a:rPr lang="en" sz="1700">
                <a:latin typeface="Arial"/>
                <a:ea typeface="Arial"/>
                <a:cs typeface="Arial"/>
                <a:sym typeface="Arial"/>
              </a:rPr>
              <a:t>Thus we can say providing 1st player advantage to a firm is leading to better economic outcomes for the market, not so in terms of social equilibria though.</a:t>
            </a:r>
            <a:endParaRPr sz="1700">
              <a:latin typeface="Arial"/>
              <a:ea typeface="Arial"/>
              <a:cs typeface="Arial"/>
              <a:sym typeface="Arial"/>
            </a:endParaRPr>
          </a:p>
          <a:p>
            <a:pPr marL="457200" lvl="0" indent="0" algn="l" rtl="0">
              <a:spcBef>
                <a:spcPts val="1200"/>
              </a:spcBef>
              <a:spcAft>
                <a:spcPts val="1200"/>
              </a:spcAft>
              <a:buNone/>
            </a:pPr>
            <a:endParaRPr sz="1700">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3"/>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Remarks</a:t>
            </a:r>
            <a:endParaRPr/>
          </a:p>
        </p:txBody>
      </p:sp>
      <p:sp>
        <p:nvSpPr>
          <p:cNvPr id="148" name="Google Shape;148;p23"/>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dirty="0"/>
              <a:t> More than likely and safe assumption that market leader firm, that is, firm 1 will always have better quantity produced as well as more profit because due to its large size and 1st player advantage, it has less marginal cost compared to firm 2 which is true for the examples we have presented at the start of the paper</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13B90FA-9EBF-FA3C-027F-8F42C7921E98}"/>
              </a:ext>
            </a:extLst>
          </p:cNvPr>
          <p:cNvSpPr>
            <a:spLocks noGrp="1"/>
          </p:cNvSpPr>
          <p:nvPr>
            <p:ph type="title"/>
          </p:nvPr>
        </p:nvSpPr>
        <p:spPr/>
        <p:txBody>
          <a:bodyPr/>
          <a:lstStyle/>
          <a:p>
            <a:r>
              <a:rPr lang="en-US" dirty="0"/>
              <a:t>Thank You</a:t>
            </a:r>
            <a:endParaRPr lang="en-IN" dirty="0"/>
          </a:p>
        </p:txBody>
      </p:sp>
    </p:spTree>
    <p:extLst>
      <p:ext uri="{BB962C8B-B14F-4D97-AF65-F5344CB8AC3E}">
        <p14:creationId xmlns:p14="http://schemas.microsoft.com/office/powerpoint/2010/main" val="3655171974"/>
      </p:ext>
    </p:extLst>
  </p:cSld>
  <p:clrMapOvr>
    <a:masterClrMapping/>
  </p:clrMapOvr>
</p:sld>
</file>

<file path=ppt/theme/theme1.xml><?xml version="1.0" encoding="utf-8"?>
<a:theme xmlns:a="http://schemas.openxmlformats.org/drawingml/2006/main"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1459</Words>
  <Application>Microsoft Office PowerPoint</Application>
  <PresentationFormat>On-screen Show (16:9)</PresentationFormat>
  <Paragraphs>87</Paragraphs>
  <Slides>12</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Roboto</vt:lpstr>
      <vt:lpstr>Arial</vt:lpstr>
      <vt:lpstr>Arial Black</vt:lpstr>
      <vt:lpstr>Geometric</vt:lpstr>
      <vt:lpstr>IE 616 Decision Analysis and Game Theory</vt:lpstr>
      <vt:lpstr>Sequential Version of Cournot Duopoly</vt:lpstr>
      <vt:lpstr>PowerPoint Presentation</vt:lpstr>
      <vt:lpstr>PowerPoint Presentation</vt:lpstr>
      <vt:lpstr>PowerPoint Presentation</vt:lpstr>
      <vt:lpstr>PowerPoint Presentation</vt:lpstr>
      <vt:lpstr>Case 1 : C1 = C2 = C</vt:lpstr>
      <vt:lpstr>Case 2: When q1* = q2* we get  C1 = (a + 5C2)/6</vt:lpstr>
      <vt:lpstr>Case 3: 𝜋2* = 𝜋1*, we get  C1 = [(√2 -1)a + (3 + √2)C2]/(2 + 2√2)</vt:lpstr>
      <vt:lpstr>Results</vt:lpstr>
      <vt:lpstr>Remarks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IE 616 Decision Analysis and Game Theory</dc:title>
  <cp:lastModifiedBy>Sharang Mantri</cp:lastModifiedBy>
  <cp:revision>2</cp:revision>
  <dcterms:modified xsi:type="dcterms:W3CDTF">2025-12-21T18:56:44Z</dcterms:modified>
</cp:coreProperties>
</file>