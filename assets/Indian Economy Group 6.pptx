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aleway"/>
      <p:regular r:id="rId21"/>
      <p:bold r:id="rId22"/>
      <p:italic r:id="rId23"/>
      <p:boldItalic r:id="rId24"/>
    </p:embeddedFont>
    <p:embeddedFont>
      <p:font typeface="Proxima Nova"/>
      <p:regular r:id="rId25"/>
      <p:bold r:id="rId26"/>
      <p:italic r:id="rId27"/>
      <p:boldItalic r:id="rId28"/>
    </p:embeddedFont>
    <p:embeddedFont>
      <p:font typeface="Roboto"/>
      <p:regular r:id="rId29"/>
      <p:bold r:id="rId30"/>
      <p:italic r:id="rId31"/>
      <p:boldItalic r:id="rId32"/>
    </p:embeddedFont>
    <p:embeddedFont>
      <p:font typeface="Roboto Medium"/>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65D764-178F-48F0-9419-2B000D50071C}">
  <a:tblStyle styleId="{1765D764-178F-48F0-9419-2B000D50071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4.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RobotoMedium-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RobotoMedium-italic.fntdata"/><Relationship Id="rId12" Type="http://schemas.openxmlformats.org/officeDocument/2006/relationships/slide" Target="slides/slide6.xml"/><Relationship Id="rId34" Type="http://schemas.openxmlformats.org/officeDocument/2006/relationships/font" Target="fonts/RobotoMedium-bold.fntdata"/><Relationship Id="rId15" Type="http://schemas.openxmlformats.org/officeDocument/2006/relationships/slide" Target="slides/slide9.xml"/><Relationship Id="rId37" Type="http://schemas.openxmlformats.org/officeDocument/2006/relationships/font" Target="fonts/Lato-regular.fntdata"/><Relationship Id="rId14" Type="http://schemas.openxmlformats.org/officeDocument/2006/relationships/slide" Target="slides/slide8.xml"/><Relationship Id="rId36" Type="http://schemas.openxmlformats.org/officeDocument/2006/relationships/font" Target="fonts/RobotoMedium-boldItalic.fntdata"/><Relationship Id="rId17" Type="http://schemas.openxmlformats.org/officeDocument/2006/relationships/slide" Target="slides/slide11.xml"/><Relationship Id="rId39" Type="http://schemas.openxmlformats.org/officeDocument/2006/relationships/font" Target="fonts/Lato-italic.fntdata"/><Relationship Id="rId16" Type="http://schemas.openxmlformats.org/officeDocument/2006/relationships/slide" Target="slides/slide10.xml"/><Relationship Id="rId38" Type="http://schemas.openxmlformats.org/officeDocument/2006/relationships/font" Target="fonts/La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morning everyone, and today we are group 6 and going to present the critical analysis of poverty eradication in India, specifically looking into the impact of financial inclusion.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da112b20e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da112b20e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a:solidFill>
                  <a:srgbClr val="1A9988"/>
                </a:solidFill>
                <a:highlight>
                  <a:schemeClr val="lt1"/>
                </a:highlight>
                <a:latin typeface="Proxima Nova"/>
                <a:ea typeface="Proxima Nova"/>
                <a:cs typeface="Proxima Nova"/>
                <a:sym typeface="Proxima Nova"/>
              </a:rPr>
              <a:t>Our presentation follows as presented and </a:t>
            </a:r>
            <a:r>
              <a:rPr lang="en">
                <a:solidFill>
                  <a:schemeClr val="dk1"/>
                </a:solidFill>
                <a:highlight>
                  <a:srgbClr val="FFFFFF"/>
                </a:highlight>
                <a:latin typeface="Proxima Nova"/>
                <a:ea typeface="Proxima Nova"/>
                <a:cs typeface="Proxima Nova"/>
                <a:sym typeface="Proxima Nova"/>
              </a:rPr>
              <a:t>mainly</a:t>
            </a:r>
            <a:r>
              <a:rPr lang="en">
                <a:solidFill>
                  <a:schemeClr val="dk1"/>
                </a:solidFill>
                <a:highlight>
                  <a:srgbClr val="FFFFFF"/>
                </a:highlight>
                <a:latin typeface="Proxima Nova"/>
                <a:ea typeface="Proxima Nova"/>
                <a:cs typeface="Proxima Nova"/>
                <a:sym typeface="Proxima Nova"/>
              </a:rPr>
              <a:t> analyzes the state-level poverty and financial inclusion data to examine the impact of financial inclusion on poverty alleviation. It proves that financial inclusion is an important factor in our fight against poverty. Now, as we start, it is important to consider the most basic question that why is poverty eradication an issue for any country?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d255a16575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d255a16575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1000"/>
              </a:spcBef>
              <a:spcAft>
                <a:spcPts val="0"/>
              </a:spcAft>
              <a:buClr>
                <a:schemeClr val="dk1"/>
              </a:buClr>
              <a:buSzPts val="1100"/>
              <a:buFont typeface="Arial"/>
              <a:buNone/>
            </a:pPr>
            <a:r>
              <a:rPr lang="en">
                <a:solidFill>
                  <a:schemeClr val="dk1"/>
                </a:solidFill>
                <a:highlight>
                  <a:srgbClr val="FFFFFF"/>
                </a:highlight>
                <a:latin typeface="Proxima Nova"/>
                <a:ea typeface="Proxima Nova"/>
                <a:cs typeface="Proxima Nova"/>
                <a:sym typeface="Proxima Nova"/>
              </a:rPr>
              <a:t>If we look into the bare minimum needs for human survival, poverty not only deprives the people of economic or material resources, it is also the cause for the violation of internationally recognized human rights. These rights can be economic and social such as the right to health, adequate housing, food and safe water, and the right to education or the civil and political such as the right to a fair trial, political participation, and security of a person. Even though the right to be free from poverty has not been recognized as a legal human right because of the reluctance of the governments to accept the legal responsibility, the Vienna declaration has characterized extreme poverty as the violation of human dignity which is the core of all human rights. Thus poverty eradication becomes an important issue for a country’s government as it leads to the recognition of citizens’ dignity and furthermore, ensures the acknowledgment of other human rights. </a:t>
            </a:r>
            <a:endParaRPr>
              <a:solidFill>
                <a:schemeClr val="dk1"/>
              </a:solidFill>
              <a:highlight>
                <a:srgbClr val="FFFFFF"/>
              </a:highlight>
              <a:latin typeface="Proxima Nova"/>
              <a:ea typeface="Proxima Nova"/>
              <a:cs typeface="Proxima Nova"/>
              <a:sym typeface="Proxima Nova"/>
            </a:endParaRPr>
          </a:p>
          <a:p>
            <a:pPr indent="0" lvl="0" marL="0" rtl="0" algn="l">
              <a:lnSpc>
                <a:spcPct val="125000"/>
              </a:lnSpc>
              <a:spcBef>
                <a:spcPts val="1000"/>
              </a:spcBef>
              <a:spcAft>
                <a:spcPts val="0"/>
              </a:spcAft>
              <a:buNone/>
            </a:pPr>
            <a:r>
              <a:rPr lang="en">
                <a:solidFill>
                  <a:schemeClr val="dk1"/>
                </a:solidFill>
                <a:highlight>
                  <a:srgbClr val="FFFFFF"/>
                </a:highlight>
                <a:latin typeface="Proxima Nova"/>
                <a:ea typeface="Proxima Nova"/>
                <a:cs typeface="Proxima Nova"/>
                <a:sym typeface="Proxima Nova"/>
              </a:rPr>
              <a:t>From an economic point of view, the relationship between poverty and growth is not direct. But since poverty is mainly defined as a lack of economic resources, we look into all possible correlations for this case. At an individual level, a better standard of living with basic necessities like food, shelter, health, and education would facilitate the enhancement of individual productive capacities and in turn, would add up to the country’s productive capacity which is crucial for economic growth. An overall increase in per capita income would lead to more savings and hence, more investments which could be helpful in boosting the economy. In addition, skill development and the development of technical know-how through education would incentivize technological development and therefore have a sustainable path towards growth.. </a:t>
            </a:r>
            <a:endParaRPr>
              <a:solidFill>
                <a:schemeClr val="dk1"/>
              </a:solidFill>
              <a:highlight>
                <a:srgbClr val="FFFFFF"/>
              </a:highlight>
              <a:latin typeface="Proxima Nova"/>
              <a:ea typeface="Proxima Nova"/>
              <a:cs typeface="Proxima Nova"/>
              <a:sym typeface="Proxima Nova"/>
            </a:endParaRPr>
          </a:p>
          <a:p>
            <a:pPr indent="0" lvl="0" marL="0" rtl="0" algn="l">
              <a:lnSpc>
                <a:spcPct val="125000"/>
              </a:lnSpc>
              <a:spcBef>
                <a:spcPts val="1000"/>
              </a:spcBef>
              <a:spcAft>
                <a:spcPts val="0"/>
              </a:spcAft>
              <a:buClr>
                <a:schemeClr val="dk1"/>
              </a:buClr>
              <a:buSzPts val="1100"/>
              <a:buFont typeface="Arial"/>
              <a:buNone/>
            </a:pPr>
            <a:r>
              <a:rPr lang="en">
                <a:solidFill>
                  <a:schemeClr val="dk1"/>
                </a:solidFill>
                <a:highlight>
                  <a:srgbClr val="FFFFFF"/>
                </a:highlight>
                <a:latin typeface="Proxima Nova"/>
                <a:ea typeface="Proxima Nova"/>
                <a:cs typeface="Proxima Nova"/>
                <a:sym typeface="Proxima Nova"/>
              </a:rPr>
              <a:t>Now that the world is moving towards a broader view of development through the action for sustainable development goals by the United Nations, poverty eradication is one of the 17 goals to achieve a peaceful and prosperous society. Therefore, poverty eradication is a major issue for developing countries like India and the path to the stated goal seems to be tedious because of the lack of a clear correlation of policy instruments with poverty.</a:t>
            </a:r>
            <a:endParaRPr>
              <a:solidFill>
                <a:schemeClr val="dk1"/>
              </a:solidFill>
              <a:highlight>
                <a:srgbClr val="FFFFFF"/>
              </a:highlight>
              <a:latin typeface="Proxima Nova"/>
              <a:ea typeface="Proxima Nova"/>
              <a:cs typeface="Proxima Nova"/>
              <a:sym typeface="Proxima Nova"/>
            </a:endParaRPr>
          </a:p>
          <a:p>
            <a:pPr indent="0" lvl="0" marL="0" rtl="0" algn="l">
              <a:lnSpc>
                <a:spcPct val="125000"/>
              </a:lnSpc>
              <a:spcBef>
                <a:spcPts val="0"/>
              </a:spcBef>
              <a:spcAft>
                <a:spcPts val="0"/>
              </a:spcAft>
              <a:buClr>
                <a:srgbClr val="1A9988"/>
              </a:buClr>
              <a:buSzPts val="1100"/>
              <a:buFont typeface="Arial"/>
              <a:buNone/>
            </a:pPr>
            <a:r>
              <a:rPr lang="en">
                <a:solidFill>
                  <a:srgbClr val="1A9988"/>
                </a:solidFill>
                <a:highlight>
                  <a:schemeClr val="lt1"/>
                </a:highlight>
                <a:latin typeface="Proxima Nova"/>
                <a:ea typeface="Proxima Nova"/>
                <a:cs typeface="Proxima Nova"/>
                <a:sym typeface="Proxima Nova"/>
              </a:rPr>
              <a:t>To further look into farthest possible history of poverty in India and steps taken to alleviate it, we look into some relevant literature.  </a:t>
            </a:r>
            <a:endParaRPr>
              <a:solidFill>
                <a:schemeClr val="dk1"/>
              </a:solidFill>
            </a:endParaRPr>
          </a:p>
          <a:p>
            <a:pPr indent="0" lvl="0" marL="0" rtl="0" algn="l">
              <a:lnSpc>
                <a:spcPct val="125000"/>
              </a:lnSpc>
              <a:spcBef>
                <a:spcPts val="1000"/>
              </a:spcBef>
              <a:spcAft>
                <a:spcPts val="0"/>
              </a:spcAft>
              <a:buClr>
                <a:schemeClr val="dk1"/>
              </a:buClr>
              <a:buSzPts val="1100"/>
              <a:buFont typeface="Arial"/>
              <a:buNone/>
            </a:pPr>
            <a:r>
              <a:t/>
            </a:r>
            <a:endParaRPr>
              <a:solidFill>
                <a:schemeClr val="dk1"/>
              </a:solidFill>
              <a:highlight>
                <a:srgbClr val="FFFFFF"/>
              </a:highlight>
              <a:latin typeface="Proxima Nova"/>
              <a:ea typeface="Proxima Nova"/>
              <a:cs typeface="Proxima Nova"/>
              <a:sym typeface="Proxima Nov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cda112b20e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cda112b20e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understand the situation of poverty before independence, we reviewed maddison’s paper on historical origin of poverty in India. </a:t>
            </a:r>
            <a:r>
              <a:rPr lang="en">
                <a:solidFill>
                  <a:schemeClr val="dk1"/>
                </a:solidFill>
                <a:latin typeface="Proxima Nova"/>
                <a:ea typeface="Proxima Nova"/>
                <a:cs typeface="Proxima Nova"/>
                <a:sym typeface="Proxima Nova"/>
              </a:rPr>
              <a:t>By taking this paper, we do not intend to say that 200 years of oppression was necessary to bring development and the British did not loot enough wealth from the country to push the country into poverty, but apart from that there were many structural constraints of the society due to which people were poor in the pre-colonial or during the colonial period. These structural constraints might still exist in today’s society and hence, it is necessary to discuss them as we aim towards poverty eradication.</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cdcb9fd48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cdcb9fd48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the analysis of various policies in post independence and post liberalization period.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cd97bc16e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cd97bc16e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da112b20e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cda112b20e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used the following the baseline equation to estimate the impact of financial inclusion on poverty in case of India states and union territories. </a:t>
            </a:r>
            <a:r>
              <a:rPr lang="en"/>
              <a:t>The</a:t>
            </a:r>
            <a:r>
              <a:rPr lang="en"/>
              <a:t> data set is a cross section data from 2011 as the data available for important variables was from the census. </a:t>
            </a:r>
            <a:endParaRPr/>
          </a:p>
          <a:p>
            <a:pPr indent="0" lvl="0" marL="0" rtl="0" algn="l">
              <a:spcBef>
                <a:spcPts val="0"/>
              </a:spcBef>
              <a:spcAft>
                <a:spcPts val="0"/>
              </a:spcAft>
              <a:buNone/>
            </a:pPr>
            <a:r>
              <a:t/>
            </a:r>
            <a:endParaRPr/>
          </a:p>
          <a:p>
            <a:pPr indent="0" lvl="0" marL="0" rtl="0" algn="l">
              <a:lnSpc>
                <a:spcPct val="125000"/>
              </a:lnSpc>
              <a:spcBef>
                <a:spcPts val="1000"/>
              </a:spcBef>
              <a:spcAft>
                <a:spcPts val="0"/>
              </a:spcAft>
              <a:buNone/>
            </a:pPr>
            <a:r>
              <a:rPr lang="en">
                <a:solidFill>
                  <a:schemeClr val="dk1"/>
                </a:solidFill>
                <a:latin typeface="Proxima Nova"/>
                <a:ea typeface="Proxima Nova"/>
                <a:cs typeface="Proxima Nova"/>
                <a:sym typeface="Proxima Nova"/>
              </a:rPr>
              <a:t>The data for poverty headcount is obtained from the RBI publication. The numbers are for the year 2011-12 and represent the percentage of persons below the poverty line.</a:t>
            </a:r>
            <a:endParaRPr>
              <a:solidFill>
                <a:schemeClr val="dk1"/>
              </a:solidFill>
              <a:latin typeface="Proxima Nova"/>
              <a:ea typeface="Proxima Nova"/>
              <a:cs typeface="Proxima Nova"/>
              <a:sym typeface="Proxima Nova"/>
            </a:endParaRPr>
          </a:p>
          <a:p>
            <a:pPr indent="0" lvl="0" marL="0" rtl="0" algn="l">
              <a:lnSpc>
                <a:spcPct val="125000"/>
              </a:lnSpc>
              <a:spcBef>
                <a:spcPts val="1000"/>
              </a:spcBef>
              <a:spcAft>
                <a:spcPts val="0"/>
              </a:spcAft>
              <a:buNone/>
            </a:pPr>
            <a:r>
              <a:rPr lang="en">
                <a:solidFill>
                  <a:schemeClr val="dk1"/>
                </a:solidFill>
                <a:latin typeface="Proxima Nova"/>
                <a:ea typeface="Proxima Nova"/>
                <a:cs typeface="Proxima Nova"/>
                <a:sym typeface="Proxima Nova"/>
              </a:rPr>
              <a:t>The financial inclusion index is calculated on the basis of 3 parameters that are branch penetration (BP), deposit penetration (DP), and credit penetration (CP). A CRISIL Inclusix of 100 indicates the ideal state for each of the three parameters. Branch penetration measures the ease with which people in a particular territory can access </a:t>
            </a:r>
            <a:r>
              <a:rPr lang="en">
                <a:solidFill>
                  <a:schemeClr val="dk1"/>
                </a:solidFill>
                <a:latin typeface="Proxima Nova"/>
                <a:ea typeface="Proxima Nova"/>
                <a:cs typeface="Proxima Nova"/>
                <a:sym typeface="Proxima Nova"/>
              </a:rPr>
              <a:t>financial</a:t>
            </a:r>
            <a:r>
              <a:rPr lang="en">
                <a:solidFill>
                  <a:schemeClr val="dk1"/>
                </a:solidFill>
                <a:latin typeface="Proxima Nova"/>
                <a:ea typeface="Proxima Nova"/>
                <a:cs typeface="Proxima Nova"/>
                <a:sym typeface="Proxima Nova"/>
              </a:rPr>
              <a:t> services. Credit penetration is a measure of access to credit for retail borrowers and deposit penetration is the extent of access to deposit products offered by banks in a particular territory. The premise of this correlation is that financial inclusion plays an important role in economic and social development. So, we expect the coefficient of cfii to be negative as higher financial inclusion would help in reducing poverty.</a:t>
            </a:r>
            <a:endParaRPr>
              <a:solidFill>
                <a:schemeClr val="dk1"/>
              </a:solidFill>
              <a:latin typeface="Proxima Nova"/>
              <a:ea typeface="Proxima Nova"/>
              <a:cs typeface="Proxima Nova"/>
              <a:sym typeface="Proxima Nova"/>
            </a:endParaRPr>
          </a:p>
          <a:p>
            <a:pPr indent="0" lvl="0" marL="0" rtl="0" algn="l">
              <a:lnSpc>
                <a:spcPct val="125000"/>
              </a:lnSpc>
              <a:spcBef>
                <a:spcPts val="1000"/>
              </a:spcBef>
              <a:spcAft>
                <a:spcPts val="0"/>
              </a:spcAft>
              <a:buNone/>
            </a:pPr>
            <a:r>
              <a:rPr lang="en">
                <a:solidFill>
                  <a:schemeClr val="dk1"/>
                </a:solidFill>
                <a:latin typeface="Proxima Nova"/>
                <a:ea typeface="Proxima Nova"/>
                <a:cs typeface="Proxima Nova"/>
                <a:sym typeface="Proxima Nova"/>
              </a:rPr>
              <a:t>We also take zonal councils into account for our analysis. This is done to ensure that we acknowledge the possible groupings in our sample before generalizing the results.  Zonal Councils are advisory councils and are made up of the states of India that have been grouped into five zones to foster cooperation among them. </a:t>
            </a:r>
            <a:endParaRPr>
              <a:solidFill>
                <a:schemeClr val="dk1"/>
              </a:solidFill>
              <a:latin typeface="Proxima Nova"/>
              <a:ea typeface="Proxima Nova"/>
              <a:cs typeface="Proxima Nova"/>
              <a:sym typeface="Proxima Nova"/>
            </a:endParaRPr>
          </a:p>
          <a:p>
            <a:pPr indent="0" lvl="0" marL="0" rtl="0" algn="l">
              <a:lnSpc>
                <a:spcPct val="125000"/>
              </a:lnSpc>
              <a:spcBef>
                <a:spcPts val="1000"/>
              </a:spcBef>
              <a:spcAft>
                <a:spcPts val="0"/>
              </a:spcAft>
              <a:buClr>
                <a:schemeClr val="dk1"/>
              </a:buClr>
              <a:buSzPts val="1100"/>
              <a:buFont typeface="Arial"/>
              <a:buNone/>
            </a:pPr>
            <a:r>
              <a:t/>
            </a:r>
            <a:endParaRPr>
              <a:solidFill>
                <a:schemeClr val="dk1"/>
              </a:solidFill>
              <a:latin typeface="Proxima Nova"/>
              <a:ea typeface="Proxima Nova"/>
              <a:cs typeface="Proxima Nova"/>
              <a:sym typeface="Proxima Nov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cda112b20e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cda112b20e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a:solidFill>
                  <a:schemeClr val="dk1"/>
                </a:solidFill>
                <a:latin typeface="Proxima Nova"/>
                <a:ea typeface="Proxima Nova"/>
                <a:cs typeface="Proxima Nova"/>
                <a:sym typeface="Proxima Nova"/>
              </a:rPr>
              <a:t>The coefficient for financial inclusion is significant at 5% significance level and the sign of the coefficient is in accordance with the theoretical hypothesis. As additional controls are added, the absolute magnitude and significance of the coefficient reduces but it is still significant at 5%. The coefficient for log of per capita GDP is significant at 1% level.  The coefficients of other variables are not significant at 5% significance level. The GINI coefficient can be possibly negative depending on our position on the Kuznets’ curve and further trickle down effect, but since it is highly insignificant, we do not dwell into its discussion. </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cda112b20e_0_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cda112b20e_0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1000"/>
              </a:spcBef>
              <a:spcAft>
                <a:spcPts val="0"/>
              </a:spcAft>
              <a:buClr>
                <a:schemeClr val="dk1"/>
              </a:buClr>
              <a:buSzPts val="1100"/>
              <a:buFont typeface="Arial"/>
              <a:buNone/>
            </a:pPr>
            <a:r>
              <a:rPr lang="en">
                <a:solidFill>
                  <a:schemeClr val="dk1"/>
                </a:solidFill>
                <a:latin typeface="Proxima Nova"/>
                <a:ea typeface="Proxima Nova"/>
                <a:cs typeface="Proxima Nova"/>
                <a:sym typeface="Proxima Nova"/>
              </a:rPr>
              <a:t>From the above quantitative analysis, we have found a general correlation of poverty with the financial inclusion in the states. As we plot the fitted values, we observe that even though there is strong correlation, the effect on the individual states vary greatly from each other.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cda112b20e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cda112b20e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cda112b20e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cda112b20e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 PMJDY, only deposit penetration increased sharply across regions. Even historically backward regions like North, east and NE saw a sharp </a:t>
            </a:r>
            <a:r>
              <a:rPr lang="en"/>
              <a:t>growth</a:t>
            </a:r>
            <a:r>
              <a:rPr lang="en"/>
              <a:t> in deposit penetration. The progress in branch and credit penetration is still muted and limited to developed regions. The widest regional disparity in credit penetration scores continues with the south being way ahead of other regions.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cda112b2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cda112b2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low number of credit accounts in comparison to deposit accounts reflect the underperformance on this parameter. But as we saw in the table earlier, due to increasing the presence of microfinance institutions (MFI), the east and the north-east have also shown remarkable improvement in the recent past. And south and west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cda112b2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cda112b2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Bank branches showed progress between fiscal 2013 and fiscal 2016, albeit at a modest CAGR of 7%. The number of new bank branches opened in fiscal 2016 was the lowest in the past six years. With increasing penetration of mobile phones, the idea of branchless banking is gaining popularity, resulting in moderate growth of bank branches. Microfinance branches registered a modest CAGR of 5% between fiscal 2013 and fiscal 2016.  Physical accessibility to banks is essential to the poor as they lack mobile, stable network or the required know-how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cda112b20e_0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cda112b20e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a:solidFill>
                  <a:schemeClr val="dk1"/>
                </a:solidFill>
                <a:highlight>
                  <a:srgbClr val="FFFFFF"/>
                </a:highlight>
                <a:latin typeface="Proxima Nova"/>
                <a:ea typeface="Proxima Nova"/>
                <a:cs typeface="Proxima Nova"/>
                <a:sym typeface="Proxima Nova"/>
              </a:rPr>
              <a:t>Our study proves that financial inclusion is an important factor in our fight against poverty. Despite the overwhelming evidence to increase financial inclusion, financial inclusion remains low to average in many regions according to the latest 2016 scores by CRISIL. Even other similar studies show similar results. According to Yadav, et al, The value of the financial inclusion index appears to reflect a modest increase in the degree of financial inclusion across districts from 2011–2018. The mean FII value rose from 0.121 in 2011 to 0.146 in 2018, with most central, eastern, and north-eastern districts doing poorly in financial inclusion and being under low financial inclusion. While the PMJDY is a step in the right direction and has led to substantial gains in financial inclusion, the policy needs to shift to improving other aspects of financial inclusion like credit, insurance etc. The push needs to have regional-level objectives and policy to ensure all regions have equal access to financial services. Government needs to look for more non-traditional methods to increase spread such as microfinance institutions and develop regulations that welcome such institutions. This would help to increase financial inclusion at the aggregate level but also improve access of the most underprivileged in the society. </a:t>
            </a:r>
            <a:endParaRPr>
              <a:solidFill>
                <a:schemeClr val="dk1"/>
              </a:solidFill>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ctr" bIns="91425" lIns="91425" spcFirstLastPara="1" rIns="91425" wrap="square" tIns="91425">
            <a:normAutofit fontScale="90000"/>
          </a:bodyPr>
          <a:lstStyle/>
          <a:p>
            <a:pPr indent="0" lvl="0" marL="0" rtl="0" algn="ctr">
              <a:spcBef>
                <a:spcPts val="7200"/>
              </a:spcBef>
              <a:spcAft>
                <a:spcPts val="0"/>
              </a:spcAft>
              <a:buNone/>
            </a:pPr>
            <a:r>
              <a:rPr lang="en" sz="4000">
                <a:solidFill>
                  <a:srgbClr val="000000"/>
                </a:solidFill>
                <a:latin typeface="Proxima Nova"/>
                <a:ea typeface="Proxima Nova"/>
                <a:cs typeface="Proxima Nova"/>
                <a:sym typeface="Proxima Nova"/>
              </a:rPr>
              <a:t>Eradication of Poverty in India: Impact of Financial Inclusion </a:t>
            </a:r>
            <a:endParaRPr sz="4000">
              <a:solidFill>
                <a:srgbClr val="000000"/>
              </a:solidFill>
              <a:latin typeface="Proxima Nova"/>
              <a:ea typeface="Proxima Nova"/>
              <a:cs typeface="Proxima Nova"/>
              <a:sym typeface="Proxima Nova"/>
            </a:endParaRPr>
          </a:p>
          <a:p>
            <a:pPr indent="0" lvl="0" marL="0" rtl="0" algn="l">
              <a:spcBef>
                <a:spcPts val="0"/>
              </a:spcBef>
              <a:spcAft>
                <a:spcPts val="0"/>
              </a:spcAft>
              <a:buNone/>
            </a:pPr>
            <a:r>
              <a:t/>
            </a:r>
            <a:endParaRPr/>
          </a:p>
        </p:txBody>
      </p:sp>
      <p:sp>
        <p:nvSpPr>
          <p:cNvPr id="87" name="Google Shape;87;p13"/>
          <p:cNvSpPr txBox="1"/>
          <p:nvPr>
            <p:ph idx="1" type="subTitle"/>
          </p:nvPr>
        </p:nvSpPr>
        <p:spPr>
          <a:xfrm>
            <a:off x="729625" y="3172900"/>
            <a:ext cx="7688100" cy="123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Guided By 								Group 6 :</a:t>
            </a:r>
            <a:br>
              <a:rPr lang="en"/>
            </a:br>
            <a:r>
              <a:rPr lang="en"/>
              <a:t>Prof K Narayanan							Namit Agrawal (18B080018)</a:t>
            </a:r>
            <a:endParaRPr/>
          </a:p>
          <a:p>
            <a:pPr indent="0" lvl="0" marL="0" rtl="0" algn="l">
              <a:spcBef>
                <a:spcPts val="0"/>
              </a:spcBef>
              <a:spcAft>
                <a:spcPts val="0"/>
              </a:spcAft>
              <a:buNone/>
            </a:pPr>
            <a:r>
              <a:rPr lang="en"/>
              <a:t>										Sharang Mantri (18B080022)</a:t>
            </a:r>
            <a:endParaRPr/>
          </a:p>
          <a:p>
            <a:pPr indent="0" lvl="0" marL="0" rtl="0" algn="l">
              <a:spcBef>
                <a:spcPts val="0"/>
              </a:spcBef>
              <a:spcAft>
                <a:spcPts val="0"/>
              </a:spcAft>
              <a:buNone/>
            </a:pPr>
            <a:r>
              <a:rPr lang="en"/>
              <a:t>										Sneh Jagwani (170110047)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25225" y="1215275"/>
            <a:ext cx="3705600" cy="3162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377">
                <a:latin typeface="Proxima Nova"/>
                <a:ea typeface="Proxima Nova"/>
                <a:cs typeface="Proxima Nova"/>
                <a:sym typeface="Proxima Nova"/>
              </a:rPr>
              <a:t>Content:</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Why Poverty Eradication?</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Literature Review</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Data and Methodology</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Analysis </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Limitations of Study</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Progress post PMJDY</a:t>
            </a:r>
            <a:endParaRPr sz="2377">
              <a:latin typeface="Proxima Nova"/>
              <a:ea typeface="Proxima Nova"/>
              <a:cs typeface="Proxima Nova"/>
              <a:sym typeface="Proxima Nova"/>
            </a:endParaRPr>
          </a:p>
          <a:p>
            <a:pPr indent="-364490" lvl="0" marL="457200" rtl="0" algn="l">
              <a:spcBef>
                <a:spcPts val="0"/>
              </a:spcBef>
              <a:spcAft>
                <a:spcPts val="0"/>
              </a:spcAft>
              <a:buSzPct val="100000"/>
              <a:buFont typeface="Proxima Nova"/>
              <a:buChar char="●"/>
            </a:pPr>
            <a:r>
              <a:rPr lang="en" sz="2377">
                <a:latin typeface="Proxima Nova"/>
                <a:ea typeface="Proxima Nova"/>
                <a:cs typeface="Proxima Nova"/>
                <a:sym typeface="Proxima Nova"/>
              </a:rPr>
              <a:t>Conclusion</a:t>
            </a:r>
            <a:endParaRPr sz="2377">
              <a:latin typeface="Proxima Nova"/>
              <a:ea typeface="Proxima Nova"/>
              <a:cs typeface="Proxima Nova"/>
              <a:sym typeface="Proxima Nova"/>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727650" y="12580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a:t>
            </a:r>
            <a:endParaRPr/>
          </a:p>
        </p:txBody>
      </p:sp>
      <p:sp>
        <p:nvSpPr>
          <p:cNvPr id="98" name="Google Shape;98;p15"/>
          <p:cNvSpPr/>
          <p:nvPr/>
        </p:nvSpPr>
        <p:spPr>
          <a:xfrm>
            <a:off x="3275106" y="1750147"/>
            <a:ext cx="2590500" cy="25905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5"/>
          <p:cNvGrpSpPr/>
          <p:nvPr/>
        </p:nvGrpSpPr>
        <p:grpSpPr>
          <a:xfrm>
            <a:off x="1626280" y="1902511"/>
            <a:ext cx="1970072" cy="682925"/>
            <a:chOff x="1680836" y="1315124"/>
            <a:chExt cx="1931633" cy="669600"/>
          </a:xfrm>
        </p:grpSpPr>
        <p:cxnSp>
          <p:nvCxnSpPr>
            <p:cNvPr id="100" name="Google Shape;100;p15"/>
            <p:cNvCxnSpPr/>
            <p:nvPr/>
          </p:nvCxnSpPr>
          <p:spPr>
            <a:xfrm>
              <a:off x="3178969" y="1638300"/>
              <a:ext cx="433500" cy="252300"/>
            </a:xfrm>
            <a:prstGeom prst="straightConnector1">
              <a:avLst/>
            </a:prstGeom>
            <a:noFill/>
            <a:ln cap="flat" cmpd="sng" w="19050">
              <a:solidFill>
                <a:srgbClr val="EDA29B"/>
              </a:solidFill>
              <a:prstDash val="solid"/>
              <a:round/>
              <a:headEnd len="med" w="med" type="oval"/>
              <a:tailEnd len="sm" w="sm" type="none"/>
            </a:ln>
          </p:spPr>
        </p:cxnSp>
        <p:sp>
          <p:nvSpPr>
            <p:cNvPr id="101" name="Google Shape;101;p15"/>
            <p:cNvSpPr txBox="1"/>
            <p:nvPr/>
          </p:nvSpPr>
          <p:spPr>
            <a:xfrm>
              <a:off x="1680836" y="1315124"/>
              <a:ext cx="1495200" cy="66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latin typeface="Roboto"/>
                  <a:ea typeface="Roboto"/>
                  <a:cs typeface="Roboto"/>
                  <a:sym typeface="Roboto"/>
                </a:rPr>
                <a:t>Sustainable Development </a:t>
              </a:r>
              <a:endParaRPr b="1" sz="1200">
                <a:latin typeface="Roboto"/>
                <a:ea typeface="Roboto"/>
                <a:cs typeface="Roboto"/>
                <a:sym typeface="Roboto"/>
              </a:endParaRPr>
            </a:p>
          </p:txBody>
        </p:sp>
      </p:grpSp>
      <p:grpSp>
        <p:nvGrpSpPr>
          <p:cNvPr id="102" name="Google Shape;102;p15"/>
          <p:cNvGrpSpPr/>
          <p:nvPr/>
        </p:nvGrpSpPr>
        <p:grpSpPr>
          <a:xfrm>
            <a:off x="5539108" y="1902511"/>
            <a:ext cx="1978612" cy="682925"/>
            <a:chOff x="5517319" y="1315124"/>
            <a:chExt cx="1940006" cy="669600"/>
          </a:xfrm>
        </p:grpSpPr>
        <p:cxnSp>
          <p:nvCxnSpPr>
            <p:cNvPr id="103" name="Google Shape;103;p15"/>
            <p:cNvCxnSpPr/>
            <p:nvPr/>
          </p:nvCxnSpPr>
          <p:spPr>
            <a:xfrm flipH="1">
              <a:off x="5517319" y="1638300"/>
              <a:ext cx="433500" cy="252300"/>
            </a:xfrm>
            <a:prstGeom prst="straightConnector1">
              <a:avLst/>
            </a:prstGeom>
            <a:noFill/>
            <a:ln cap="flat" cmpd="sng" w="19050">
              <a:solidFill>
                <a:srgbClr val="802017"/>
              </a:solidFill>
              <a:prstDash val="solid"/>
              <a:round/>
              <a:headEnd len="med" w="med" type="oval"/>
              <a:tailEnd len="sm" w="sm" type="none"/>
            </a:ln>
          </p:spPr>
        </p:cxnSp>
        <p:sp>
          <p:nvSpPr>
            <p:cNvPr id="104" name="Google Shape;104;p15"/>
            <p:cNvSpPr txBox="1"/>
            <p:nvPr/>
          </p:nvSpPr>
          <p:spPr>
            <a:xfrm>
              <a:off x="5962125" y="1315124"/>
              <a:ext cx="1495200" cy="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Human Rights Protection</a:t>
              </a:r>
              <a:endParaRPr b="1" sz="1200">
                <a:latin typeface="Roboto"/>
                <a:ea typeface="Roboto"/>
                <a:cs typeface="Roboto"/>
                <a:sym typeface="Roboto"/>
              </a:endParaRPr>
            </a:p>
          </p:txBody>
        </p:sp>
      </p:grpSp>
      <p:grpSp>
        <p:nvGrpSpPr>
          <p:cNvPr id="105" name="Google Shape;105;p15"/>
          <p:cNvGrpSpPr/>
          <p:nvPr/>
        </p:nvGrpSpPr>
        <p:grpSpPr>
          <a:xfrm>
            <a:off x="3796005" y="4166706"/>
            <a:ext cx="1524954" cy="1166557"/>
            <a:chOff x="3808226" y="3535140"/>
            <a:chExt cx="1495200" cy="1143796"/>
          </a:xfrm>
        </p:grpSpPr>
        <p:cxnSp>
          <p:nvCxnSpPr>
            <p:cNvPr id="106" name="Google Shape;106;p15"/>
            <p:cNvCxnSpPr/>
            <p:nvPr/>
          </p:nvCxnSpPr>
          <p:spPr>
            <a:xfrm rot="10800000">
              <a:off x="4556399" y="3535140"/>
              <a:ext cx="0" cy="460500"/>
            </a:xfrm>
            <a:prstGeom prst="straightConnector1">
              <a:avLst/>
            </a:prstGeom>
            <a:noFill/>
            <a:ln cap="flat" cmpd="sng" w="19050">
              <a:solidFill>
                <a:srgbClr val="D83829"/>
              </a:solidFill>
              <a:prstDash val="solid"/>
              <a:round/>
              <a:headEnd len="med" w="med" type="oval"/>
              <a:tailEnd len="sm" w="sm" type="none"/>
            </a:ln>
          </p:spPr>
        </p:cxnSp>
        <p:sp>
          <p:nvSpPr>
            <p:cNvPr id="107" name="Google Shape;107;p15"/>
            <p:cNvSpPr txBox="1"/>
            <p:nvPr/>
          </p:nvSpPr>
          <p:spPr>
            <a:xfrm>
              <a:off x="3808226" y="4009336"/>
              <a:ext cx="1495200" cy="66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latin typeface="Roboto"/>
                  <a:ea typeface="Roboto"/>
                  <a:cs typeface="Roboto"/>
                  <a:sym typeface="Roboto"/>
                </a:rPr>
                <a:t>Economic Growth</a:t>
              </a:r>
              <a:endParaRPr b="1" sz="1200">
                <a:latin typeface="Roboto"/>
                <a:ea typeface="Roboto"/>
                <a:cs typeface="Roboto"/>
                <a:sym typeface="Roboto"/>
              </a:endParaRPr>
            </a:p>
          </p:txBody>
        </p:sp>
      </p:grpSp>
      <p:sp>
        <p:nvSpPr>
          <p:cNvPr id="108" name="Google Shape;108;p15"/>
          <p:cNvSpPr txBox="1"/>
          <p:nvPr/>
        </p:nvSpPr>
        <p:spPr>
          <a:xfrm>
            <a:off x="3834299" y="2658583"/>
            <a:ext cx="1472400" cy="82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latin typeface="Roboto"/>
                <a:ea typeface="Roboto"/>
                <a:cs typeface="Roboto"/>
                <a:sym typeface="Roboto"/>
              </a:rPr>
              <a:t>Poverty Eradication</a:t>
            </a:r>
            <a:endParaRPr sz="1200"/>
          </a:p>
        </p:txBody>
      </p:sp>
      <p:sp>
        <p:nvSpPr>
          <p:cNvPr id="109" name="Google Shape;109;p15"/>
          <p:cNvSpPr/>
          <p:nvPr/>
        </p:nvSpPr>
        <p:spPr>
          <a:xfrm rot="1799887">
            <a:off x="3195967" y="1669255"/>
            <a:ext cx="2744556" cy="2744556"/>
          </a:xfrm>
          <a:prstGeom prst="blockArc">
            <a:avLst>
              <a:gd fmla="val 14414370" name="adj1"/>
              <a:gd fmla="val 694" name="adj2"/>
              <a:gd fmla="val 9562" name="adj3"/>
            </a:avLst>
          </a:prstGeom>
          <a:solidFill>
            <a:srgbClr val="802017"/>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flipH="1" rot="-1799887">
            <a:off x="3197918" y="1669255"/>
            <a:ext cx="2744556" cy="2744556"/>
          </a:xfrm>
          <a:prstGeom prst="blockArc">
            <a:avLst>
              <a:gd fmla="val 14348563" name="adj1"/>
              <a:gd fmla="val 21472873" name="adj2"/>
              <a:gd fmla="val 9381" name="adj3"/>
            </a:avLst>
          </a:prstGeom>
          <a:solidFill>
            <a:srgbClr val="EDA29B"/>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rot="-8100000">
            <a:off x="4381921" y="1609060"/>
            <a:ext cx="370383" cy="370383"/>
          </a:xfrm>
          <a:prstGeom prst="rtTriangle">
            <a:avLst/>
          </a:prstGeom>
          <a:solidFill>
            <a:srgbClr val="EDA2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flipH="1" rot="-9000901">
            <a:off x="3197032" y="1667732"/>
            <a:ext cx="2743846" cy="2743586"/>
          </a:xfrm>
          <a:prstGeom prst="blockArc">
            <a:avLst>
              <a:gd fmla="val 14316164" name="adj1"/>
              <a:gd fmla="val 21502663" name="adj2"/>
              <a:gd fmla="val 9415" name="adj3"/>
            </a:avLst>
          </a:prstGeom>
          <a:solidFill>
            <a:srgbClr val="D83829"/>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rot="-1027352">
            <a:off x="5507012" y="3467759"/>
            <a:ext cx="318936" cy="318936"/>
          </a:xfrm>
          <a:prstGeom prst="rtTriangle">
            <a:avLst/>
          </a:prstGeom>
          <a:solidFill>
            <a:srgbClr val="802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rot="6360926">
            <a:off x="3293756" y="3465556"/>
            <a:ext cx="370791" cy="370791"/>
          </a:xfrm>
          <a:prstGeom prst="rtTriangle">
            <a:avLst/>
          </a:prstGeom>
          <a:solidFill>
            <a:srgbClr val="D83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727650" y="1285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Structural Constraints of India (P</a:t>
            </a:r>
            <a:r>
              <a:rPr lang="en"/>
              <a:t>re - Independence)</a:t>
            </a:r>
            <a:endParaRPr/>
          </a:p>
        </p:txBody>
      </p:sp>
      <p:grpSp>
        <p:nvGrpSpPr>
          <p:cNvPr id="120" name="Google Shape;120;p16"/>
          <p:cNvGrpSpPr/>
          <p:nvPr/>
        </p:nvGrpSpPr>
        <p:grpSpPr>
          <a:xfrm flipH="1">
            <a:off x="5519316" y="3058978"/>
            <a:ext cx="2594693" cy="923719"/>
            <a:chOff x="857520" y="1684225"/>
            <a:chExt cx="2941829" cy="1047300"/>
          </a:xfrm>
        </p:grpSpPr>
        <p:sp>
          <p:nvSpPr>
            <p:cNvPr id="121" name="Google Shape;121;p16"/>
            <p:cNvSpPr txBox="1"/>
            <p:nvPr/>
          </p:nvSpPr>
          <p:spPr>
            <a:xfrm>
              <a:off x="857520" y="1684225"/>
              <a:ext cx="2077200" cy="10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300">
                  <a:solidFill>
                    <a:schemeClr val="dk2"/>
                  </a:solidFill>
                  <a:latin typeface="Roboto"/>
                  <a:ea typeface="Roboto"/>
                  <a:cs typeface="Roboto"/>
                  <a:sym typeface="Roboto"/>
                </a:rPr>
                <a:t>Tax system under the British</a:t>
              </a:r>
              <a:endParaRPr b="1" sz="1200">
                <a:solidFill>
                  <a:schemeClr val="dk2"/>
                </a:solidFill>
                <a:latin typeface="Roboto"/>
                <a:ea typeface="Roboto"/>
                <a:cs typeface="Roboto"/>
                <a:sym typeface="Roboto"/>
              </a:endParaRPr>
            </a:p>
          </p:txBody>
        </p:sp>
        <p:cxnSp>
          <p:nvCxnSpPr>
            <p:cNvPr id="122" name="Google Shape;122;p16"/>
            <p:cNvCxnSpPr/>
            <p:nvPr/>
          </p:nvCxnSpPr>
          <p:spPr>
            <a:xfrm rot="10800000">
              <a:off x="3046949" y="2215320"/>
              <a:ext cx="752400" cy="0"/>
            </a:xfrm>
            <a:prstGeom prst="straightConnector1">
              <a:avLst/>
            </a:prstGeom>
            <a:noFill/>
            <a:ln cap="flat" cmpd="sng" w="9525">
              <a:solidFill>
                <a:srgbClr val="C2C2C2"/>
              </a:solidFill>
              <a:prstDash val="solid"/>
              <a:round/>
              <a:headEnd len="sm" w="sm" type="none"/>
              <a:tailEnd len="sm" w="sm" type="none"/>
            </a:ln>
          </p:spPr>
        </p:cxnSp>
        <p:sp>
          <p:nvSpPr>
            <p:cNvPr id="123" name="Google Shape;123;p16"/>
            <p:cNvSpPr/>
            <p:nvPr/>
          </p:nvSpPr>
          <p:spPr>
            <a:xfrm>
              <a:off x="3020371" y="2111851"/>
              <a:ext cx="198600" cy="198300"/>
            </a:xfrm>
            <a:prstGeom prst="ellipse">
              <a:avLst/>
            </a:prstGeom>
            <a:solidFill>
              <a:srgbClr val="BE2F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txBox="1"/>
            <p:nvPr/>
          </p:nvSpPr>
          <p:spPr>
            <a:xfrm>
              <a:off x="2995927" y="2051434"/>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grpSp>
      <p:grpSp>
        <p:nvGrpSpPr>
          <p:cNvPr id="125" name="Google Shape;125;p16"/>
          <p:cNvGrpSpPr/>
          <p:nvPr/>
        </p:nvGrpSpPr>
        <p:grpSpPr>
          <a:xfrm>
            <a:off x="1029992" y="3670458"/>
            <a:ext cx="2927988" cy="923719"/>
            <a:chOff x="857520" y="1684225"/>
            <a:chExt cx="3319714" cy="1047300"/>
          </a:xfrm>
        </p:grpSpPr>
        <p:sp>
          <p:nvSpPr>
            <p:cNvPr id="126" name="Google Shape;126;p16"/>
            <p:cNvSpPr txBox="1"/>
            <p:nvPr/>
          </p:nvSpPr>
          <p:spPr>
            <a:xfrm>
              <a:off x="857520" y="1684225"/>
              <a:ext cx="2077200" cy="10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200"/>
                </a:spcAft>
                <a:buNone/>
              </a:pPr>
              <a:r>
                <a:rPr b="1" lang="en" sz="1300">
                  <a:solidFill>
                    <a:schemeClr val="dk2"/>
                  </a:solidFill>
                  <a:latin typeface="Roboto"/>
                  <a:ea typeface="Roboto"/>
                  <a:cs typeface="Roboto"/>
                  <a:sym typeface="Roboto"/>
                </a:rPr>
                <a:t>Segregation of Indians from the administration</a:t>
              </a:r>
              <a:endParaRPr b="1" sz="800">
                <a:solidFill>
                  <a:schemeClr val="dk2"/>
                </a:solidFill>
                <a:latin typeface="Roboto"/>
                <a:ea typeface="Roboto"/>
                <a:cs typeface="Roboto"/>
                <a:sym typeface="Roboto"/>
              </a:endParaRPr>
            </a:p>
          </p:txBody>
        </p:sp>
        <p:cxnSp>
          <p:nvCxnSpPr>
            <p:cNvPr id="127" name="Google Shape;127;p16"/>
            <p:cNvCxnSpPr/>
            <p:nvPr/>
          </p:nvCxnSpPr>
          <p:spPr>
            <a:xfrm rot="10800000">
              <a:off x="3046834" y="2215329"/>
              <a:ext cx="1130400" cy="0"/>
            </a:xfrm>
            <a:prstGeom prst="straightConnector1">
              <a:avLst/>
            </a:prstGeom>
            <a:noFill/>
            <a:ln cap="flat" cmpd="sng" w="9525">
              <a:solidFill>
                <a:srgbClr val="C2C2C2"/>
              </a:solidFill>
              <a:prstDash val="solid"/>
              <a:round/>
              <a:headEnd len="sm" w="sm" type="none"/>
              <a:tailEnd len="sm" w="sm" type="none"/>
            </a:ln>
          </p:spPr>
        </p:cxnSp>
        <p:sp>
          <p:nvSpPr>
            <p:cNvPr id="128" name="Google Shape;128;p16"/>
            <p:cNvSpPr/>
            <p:nvPr/>
          </p:nvSpPr>
          <p:spPr>
            <a:xfrm>
              <a:off x="3020371" y="2111851"/>
              <a:ext cx="198600" cy="198300"/>
            </a:xfrm>
            <a:prstGeom prst="ellipse">
              <a:avLst/>
            </a:prstGeom>
            <a:solidFill>
              <a:srgbClr val="D83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txBox="1"/>
            <p:nvPr/>
          </p:nvSpPr>
          <p:spPr>
            <a:xfrm>
              <a:off x="2995927" y="2051434"/>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grpSp>
      <p:grpSp>
        <p:nvGrpSpPr>
          <p:cNvPr id="130" name="Google Shape;130;p16"/>
          <p:cNvGrpSpPr/>
          <p:nvPr/>
        </p:nvGrpSpPr>
        <p:grpSpPr>
          <a:xfrm flipH="1">
            <a:off x="4823770" y="2005883"/>
            <a:ext cx="3290238" cy="923719"/>
            <a:chOff x="857520" y="1684225"/>
            <a:chExt cx="3730429" cy="1047300"/>
          </a:xfrm>
        </p:grpSpPr>
        <p:sp>
          <p:nvSpPr>
            <p:cNvPr id="131" name="Google Shape;131;p16"/>
            <p:cNvSpPr txBox="1"/>
            <p:nvPr/>
          </p:nvSpPr>
          <p:spPr>
            <a:xfrm>
              <a:off x="857520" y="1684225"/>
              <a:ext cx="2077200" cy="10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300">
                  <a:solidFill>
                    <a:schemeClr val="dk2"/>
                  </a:solidFill>
                  <a:latin typeface="Roboto"/>
                  <a:ea typeface="Roboto"/>
                  <a:cs typeface="Roboto"/>
                  <a:sym typeface="Roboto"/>
                </a:rPr>
                <a:t>Basis of economic life - Hindu village, aimed at self-sustenance</a:t>
              </a:r>
              <a:endParaRPr b="1" sz="1200">
                <a:solidFill>
                  <a:schemeClr val="dk2"/>
                </a:solidFill>
                <a:latin typeface="Roboto"/>
                <a:ea typeface="Roboto"/>
                <a:cs typeface="Roboto"/>
                <a:sym typeface="Roboto"/>
              </a:endParaRPr>
            </a:p>
          </p:txBody>
        </p:sp>
        <p:cxnSp>
          <p:nvCxnSpPr>
            <p:cNvPr id="132" name="Google Shape;132;p16"/>
            <p:cNvCxnSpPr/>
            <p:nvPr/>
          </p:nvCxnSpPr>
          <p:spPr>
            <a:xfrm rot="10800000">
              <a:off x="3046849" y="2215320"/>
              <a:ext cx="1541100" cy="0"/>
            </a:xfrm>
            <a:prstGeom prst="straightConnector1">
              <a:avLst/>
            </a:prstGeom>
            <a:noFill/>
            <a:ln cap="flat" cmpd="sng" w="9525">
              <a:solidFill>
                <a:srgbClr val="C2C2C2"/>
              </a:solidFill>
              <a:prstDash val="solid"/>
              <a:round/>
              <a:headEnd len="sm" w="sm" type="none"/>
              <a:tailEnd len="sm" w="sm" type="none"/>
            </a:ln>
          </p:spPr>
        </p:cxnSp>
        <p:sp>
          <p:nvSpPr>
            <p:cNvPr id="133" name="Google Shape;133;p16"/>
            <p:cNvSpPr/>
            <p:nvPr/>
          </p:nvSpPr>
          <p:spPr>
            <a:xfrm>
              <a:off x="3020371" y="2111851"/>
              <a:ext cx="198600" cy="198300"/>
            </a:xfrm>
            <a:prstGeom prst="ellipse">
              <a:avLst/>
            </a:prstGeom>
            <a:solidFill>
              <a:srgbClr val="A72A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txBox="1"/>
            <p:nvPr/>
          </p:nvSpPr>
          <p:spPr>
            <a:xfrm>
              <a:off x="2995927" y="2051434"/>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grpSp>
      <p:grpSp>
        <p:nvGrpSpPr>
          <p:cNvPr id="135" name="Google Shape;135;p16"/>
          <p:cNvGrpSpPr/>
          <p:nvPr/>
        </p:nvGrpSpPr>
        <p:grpSpPr>
          <a:xfrm>
            <a:off x="3042630" y="2140753"/>
            <a:ext cx="3095076" cy="2868084"/>
            <a:chOff x="3217473" y="1225350"/>
            <a:chExt cx="3118150" cy="3159727"/>
          </a:xfrm>
        </p:grpSpPr>
        <p:sp>
          <p:nvSpPr>
            <p:cNvPr id="136" name="Google Shape;136;p16"/>
            <p:cNvSpPr/>
            <p:nvPr/>
          </p:nvSpPr>
          <p:spPr>
            <a:xfrm>
              <a:off x="3579175" y="2711400"/>
              <a:ext cx="2396410" cy="97116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p:spPr>
        </p:sp>
        <p:sp>
          <p:nvSpPr>
            <p:cNvPr id="137" name="Google Shape;137;p16"/>
            <p:cNvSpPr/>
            <p:nvPr/>
          </p:nvSpPr>
          <p:spPr>
            <a:xfrm>
              <a:off x="3730755" y="2527208"/>
              <a:ext cx="2079127" cy="837209"/>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p:spPr>
        </p:sp>
        <p:sp>
          <p:nvSpPr>
            <p:cNvPr id="138" name="Google Shape;138;p16"/>
            <p:cNvSpPr/>
            <p:nvPr/>
          </p:nvSpPr>
          <p:spPr>
            <a:xfrm>
              <a:off x="3946479" y="2252239"/>
              <a:ext cx="1647477" cy="663383"/>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p:spPr>
        </p:sp>
        <p:sp>
          <p:nvSpPr>
            <p:cNvPr id="139" name="Google Shape;139;p16"/>
            <p:cNvSpPr/>
            <p:nvPr/>
          </p:nvSpPr>
          <p:spPr>
            <a:xfrm>
              <a:off x="4265445" y="1828277"/>
              <a:ext cx="1014014" cy="416547"/>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140" name="Google Shape;140;p16"/>
            <p:cNvSpPr/>
            <p:nvPr/>
          </p:nvSpPr>
          <p:spPr>
            <a:xfrm>
              <a:off x="3217473" y="3154705"/>
              <a:ext cx="1559116" cy="1230372"/>
            </a:xfrm>
            <a:custGeom>
              <a:rect b="b" l="l" r="r" t="t"/>
              <a:pathLst>
                <a:path extrusionOk="0" h="20822" w="31954">
                  <a:moveTo>
                    <a:pt x="7355" y="0"/>
                  </a:moveTo>
                  <a:lnTo>
                    <a:pt x="31954" y="8796"/>
                  </a:lnTo>
                  <a:lnTo>
                    <a:pt x="31954" y="20822"/>
                  </a:lnTo>
                  <a:lnTo>
                    <a:pt x="0" y="8895"/>
                  </a:lnTo>
                  <a:close/>
                </a:path>
              </a:pathLst>
            </a:custGeom>
            <a:solidFill>
              <a:srgbClr val="802017"/>
            </a:solidFill>
            <a:ln>
              <a:noFill/>
            </a:ln>
          </p:spPr>
        </p:sp>
        <p:sp>
          <p:nvSpPr>
            <p:cNvPr id="141" name="Google Shape;141;p16"/>
            <p:cNvSpPr/>
            <p:nvPr/>
          </p:nvSpPr>
          <p:spPr>
            <a:xfrm>
              <a:off x="3790596" y="2554725"/>
              <a:ext cx="982143" cy="653205"/>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p:spPr>
        </p:sp>
        <p:sp>
          <p:nvSpPr>
            <p:cNvPr id="142" name="Google Shape;142;p16"/>
            <p:cNvSpPr/>
            <p:nvPr/>
          </p:nvSpPr>
          <p:spPr>
            <a:xfrm flipH="1">
              <a:off x="4770690" y="2554725"/>
              <a:ext cx="982143" cy="653205"/>
            </a:xfrm>
            <a:custGeom>
              <a:rect b="b" l="l" r="r" t="t"/>
              <a:pathLst>
                <a:path extrusionOk="0" h="12771" w="23257">
                  <a:moveTo>
                    <a:pt x="3727" y="0"/>
                  </a:moveTo>
                  <a:lnTo>
                    <a:pt x="0" y="4522"/>
                  </a:lnTo>
                  <a:lnTo>
                    <a:pt x="23257" y="12771"/>
                  </a:lnTo>
                  <a:lnTo>
                    <a:pt x="23257" y="7056"/>
                  </a:lnTo>
                  <a:close/>
                </a:path>
              </a:pathLst>
            </a:custGeom>
            <a:solidFill>
              <a:srgbClr val="F4B400"/>
            </a:solidFill>
            <a:ln>
              <a:noFill/>
            </a:ln>
          </p:spPr>
        </p:sp>
        <p:sp>
          <p:nvSpPr>
            <p:cNvPr id="143" name="Google Shape;143;p16"/>
            <p:cNvSpPr/>
            <p:nvPr/>
          </p:nvSpPr>
          <p:spPr>
            <a:xfrm>
              <a:off x="4002555" y="2023456"/>
              <a:ext cx="770191" cy="721896"/>
            </a:xfrm>
            <a:custGeom>
              <a:rect b="b" l="l" r="r" t="t"/>
              <a:pathLst>
                <a:path extrusionOk="0" h="14114" w="18238">
                  <a:moveTo>
                    <a:pt x="6262" y="0"/>
                  </a:moveTo>
                  <a:lnTo>
                    <a:pt x="18238" y="4324"/>
                  </a:lnTo>
                  <a:lnTo>
                    <a:pt x="18238" y="14114"/>
                  </a:lnTo>
                  <a:lnTo>
                    <a:pt x="0" y="7554"/>
                  </a:lnTo>
                  <a:close/>
                </a:path>
              </a:pathLst>
            </a:custGeom>
            <a:solidFill>
              <a:srgbClr val="802017"/>
            </a:solidFill>
            <a:ln>
              <a:noFill/>
            </a:ln>
          </p:spPr>
        </p:sp>
        <p:sp>
          <p:nvSpPr>
            <p:cNvPr id="144" name="Google Shape;144;p16"/>
            <p:cNvSpPr/>
            <p:nvPr/>
          </p:nvSpPr>
          <p:spPr>
            <a:xfrm flipH="1">
              <a:off x="4770683" y="2023456"/>
              <a:ext cx="770191" cy="721896"/>
            </a:xfrm>
            <a:custGeom>
              <a:rect b="b" l="l" r="r" t="t"/>
              <a:pathLst>
                <a:path extrusionOk="0" h="14114" w="18238">
                  <a:moveTo>
                    <a:pt x="6262" y="0"/>
                  </a:moveTo>
                  <a:lnTo>
                    <a:pt x="18238" y="4324"/>
                  </a:lnTo>
                  <a:lnTo>
                    <a:pt x="18238" y="14114"/>
                  </a:lnTo>
                  <a:lnTo>
                    <a:pt x="0" y="7554"/>
                  </a:lnTo>
                  <a:close/>
                </a:path>
              </a:pathLst>
            </a:custGeom>
            <a:solidFill>
              <a:srgbClr val="B02C20"/>
            </a:solidFill>
            <a:ln>
              <a:noFill/>
            </a:ln>
          </p:spPr>
        </p:sp>
        <p:sp>
          <p:nvSpPr>
            <p:cNvPr id="145" name="Google Shape;145;p16"/>
            <p:cNvSpPr/>
            <p:nvPr/>
          </p:nvSpPr>
          <p:spPr>
            <a:xfrm>
              <a:off x="4323640" y="1225350"/>
              <a:ext cx="449116" cy="854010"/>
            </a:xfrm>
            <a:custGeom>
              <a:rect b="b" l="l" r="r" t="t"/>
              <a:pathLst>
                <a:path extrusionOk="0" h="16697" w="10635">
                  <a:moveTo>
                    <a:pt x="10635" y="0"/>
                  </a:moveTo>
                  <a:lnTo>
                    <a:pt x="0" y="12722"/>
                  </a:lnTo>
                  <a:lnTo>
                    <a:pt x="10635" y="16697"/>
                  </a:lnTo>
                  <a:close/>
                </a:path>
              </a:pathLst>
            </a:custGeom>
            <a:solidFill>
              <a:srgbClr val="802017"/>
            </a:solidFill>
            <a:ln>
              <a:noFill/>
            </a:ln>
          </p:spPr>
        </p:sp>
        <p:sp>
          <p:nvSpPr>
            <p:cNvPr id="146" name="Google Shape;146;p16"/>
            <p:cNvSpPr/>
            <p:nvPr/>
          </p:nvSpPr>
          <p:spPr>
            <a:xfrm flipH="1">
              <a:off x="4770673" y="1225350"/>
              <a:ext cx="449116" cy="854010"/>
            </a:xfrm>
            <a:custGeom>
              <a:rect b="b" l="l" r="r" t="t"/>
              <a:pathLst>
                <a:path extrusionOk="0" h="16697" w="10635">
                  <a:moveTo>
                    <a:pt x="10635" y="0"/>
                  </a:moveTo>
                  <a:lnTo>
                    <a:pt x="0" y="12722"/>
                  </a:lnTo>
                  <a:lnTo>
                    <a:pt x="10635" y="16697"/>
                  </a:lnTo>
                  <a:close/>
                </a:path>
              </a:pathLst>
            </a:custGeom>
            <a:solidFill>
              <a:srgbClr val="A72A1E"/>
            </a:solidFill>
            <a:ln>
              <a:noFill/>
            </a:ln>
          </p:spPr>
        </p:sp>
        <p:sp>
          <p:nvSpPr>
            <p:cNvPr id="147" name="Google Shape;147;p16"/>
            <p:cNvSpPr/>
            <p:nvPr/>
          </p:nvSpPr>
          <p:spPr>
            <a:xfrm>
              <a:off x="3636034" y="2553603"/>
              <a:ext cx="1136642" cy="946913"/>
            </a:xfrm>
            <a:custGeom>
              <a:rect b="b" l="l" r="r" t="t"/>
              <a:pathLst>
                <a:path extrusionOk="0" h="46623" w="65016">
                  <a:moveTo>
                    <a:pt x="17858" y="0"/>
                  </a:moveTo>
                  <a:lnTo>
                    <a:pt x="0" y="22135"/>
                  </a:lnTo>
                  <a:lnTo>
                    <a:pt x="65016" y="46623"/>
                  </a:lnTo>
                  <a:lnTo>
                    <a:pt x="65016" y="17537"/>
                  </a:lnTo>
                  <a:close/>
                </a:path>
              </a:pathLst>
            </a:custGeom>
            <a:solidFill>
              <a:srgbClr val="802017"/>
            </a:solidFill>
            <a:ln>
              <a:noFill/>
            </a:ln>
          </p:spPr>
        </p:sp>
        <p:sp>
          <p:nvSpPr>
            <p:cNvPr id="148" name="Google Shape;148;p16"/>
            <p:cNvSpPr/>
            <p:nvPr/>
          </p:nvSpPr>
          <p:spPr>
            <a:xfrm flipH="1">
              <a:off x="4770657" y="2555106"/>
              <a:ext cx="1136642" cy="946913"/>
            </a:xfrm>
            <a:custGeom>
              <a:rect b="b" l="l" r="r" t="t"/>
              <a:pathLst>
                <a:path extrusionOk="0" h="46623" w="65016">
                  <a:moveTo>
                    <a:pt x="17858" y="0"/>
                  </a:moveTo>
                  <a:lnTo>
                    <a:pt x="0" y="22135"/>
                  </a:lnTo>
                  <a:lnTo>
                    <a:pt x="65016" y="46623"/>
                  </a:lnTo>
                  <a:lnTo>
                    <a:pt x="65016" y="17537"/>
                  </a:lnTo>
                  <a:close/>
                </a:path>
              </a:pathLst>
            </a:custGeom>
            <a:solidFill>
              <a:srgbClr val="BE2F22"/>
            </a:solidFill>
            <a:ln>
              <a:noFill/>
            </a:ln>
          </p:spPr>
        </p:sp>
        <p:sp>
          <p:nvSpPr>
            <p:cNvPr id="149" name="Google Shape;149;p16"/>
            <p:cNvSpPr/>
            <p:nvPr/>
          </p:nvSpPr>
          <p:spPr>
            <a:xfrm flipH="1">
              <a:off x="4776508" y="3154705"/>
              <a:ext cx="1559116" cy="1230372"/>
            </a:xfrm>
            <a:custGeom>
              <a:rect b="b" l="l" r="r" t="t"/>
              <a:pathLst>
                <a:path extrusionOk="0" h="20822" w="31954">
                  <a:moveTo>
                    <a:pt x="7355" y="0"/>
                  </a:moveTo>
                  <a:lnTo>
                    <a:pt x="31954" y="8796"/>
                  </a:lnTo>
                  <a:lnTo>
                    <a:pt x="31954" y="20822"/>
                  </a:lnTo>
                  <a:lnTo>
                    <a:pt x="0" y="8895"/>
                  </a:lnTo>
                  <a:close/>
                </a:path>
              </a:pathLst>
            </a:custGeom>
            <a:solidFill>
              <a:srgbClr val="D83829"/>
            </a:solidFill>
            <a:ln>
              <a:noFill/>
            </a:ln>
          </p:spPr>
        </p:sp>
      </p:grpSp>
      <p:grpSp>
        <p:nvGrpSpPr>
          <p:cNvPr id="150" name="Google Shape;150;p16"/>
          <p:cNvGrpSpPr/>
          <p:nvPr/>
        </p:nvGrpSpPr>
        <p:grpSpPr>
          <a:xfrm>
            <a:off x="1029992" y="2564393"/>
            <a:ext cx="2927988" cy="923719"/>
            <a:chOff x="857520" y="1684225"/>
            <a:chExt cx="3319714" cy="1047300"/>
          </a:xfrm>
        </p:grpSpPr>
        <p:cxnSp>
          <p:nvCxnSpPr>
            <p:cNvPr id="151" name="Google Shape;151;p16"/>
            <p:cNvCxnSpPr/>
            <p:nvPr/>
          </p:nvCxnSpPr>
          <p:spPr>
            <a:xfrm rot="10800000">
              <a:off x="3046834" y="2215329"/>
              <a:ext cx="1130400" cy="0"/>
            </a:xfrm>
            <a:prstGeom prst="straightConnector1">
              <a:avLst/>
            </a:prstGeom>
            <a:noFill/>
            <a:ln cap="flat" cmpd="sng" w="9525">
              <a:solidFill>
                <a:srgbClr val="C2C2C2"/>
              </a:solidFill>
              <a:prstDash val="solid"/>
              <a:round/>
              <a:headEnd len="sm" w="sm" type="none"/>
              <a:tailEnd len="sm" w="sm" type="none"/>
            </a:ln>
          </p:spPr>
        </p:cxnSp>
        <p:sp>
          <p:nvSpPr>
            <p:cNvPr id="152" name="Google Shape;152;p16"/>
            <p:cNvSpPr/>
            <p:nvPr/>
          </p:nvSpPr>
          <p:spPr>
            <a:xfrm>
              <a:off x="3020371" y="2111851"/>
              <a:ext cx="198600" cy="198300"/>
            </a:xfrm>
            <a:prstGeom prst="ellipse">
              <a:avLst/>
            </a:prstGeom>
            <a:solidFill>
              <a:srgbClr val="B02C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txBox="1"/>
            <p:nvPr/>
          </p:nvSpPr>
          <p:spPr>
            <a:xfrm>
              <a:off x="2995927" y="2051434"/>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54" name="Google Shape;154;p16"/>
            <p:cNvSpPr txBox="1"/>
            <p:nvPr/>
          </p:nvSpPr>
          <p:spPr>
            <a:xfrm>
              <a:off x="857520" y="1684225"/>
              <a:ext cx="2077200" cy="10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200"/>
                </a:spcAft>
                <a:buNone/>
              </a:pPr>
              <a:r>
                <a:rPr b="1" lang="en" sz="1300">
                  <a:solidFill>
                    <a:schemeClr val="dk2"/>
                  </a:solidFill>
                  <a:latin typeface="Roboto"/>
                  <a:ea typeface="Roboto"/>
                  <a:cs typeface="Roboto"/>
                  <a:sym typeface="Roboto"/>
                </a:rPr>
                <a:t>Unsustainable development of e</a:t>
              </a:r>
              <a:r>
                <a:rPr b="1" lang="en" sz="1300">
                  <a:solidFill>
                    <a:schemeClr val="dk2"/>
                  </a:solidFill>
                  <a:latin typeface="Roboto"/>
                  <a:ea typeface="Roboto"/>
                  <a:cs typeface="Roboto"/>
                  <a:sym typeface="Roboto"/>
                </a:rPr>
                <a:t>xports during the Mughal period</a:t>
              </a:r>
              <a:endParaRPr b="1" sz="1200">
                <a:solidFill>
                  <a:schemeClr val="dk2"/>
                </a:solidFill>
                <a:latin typeface="Roboto"/>
                <a:ea typeface="Roboto"/>
                <a:cs typeface="Roboto"/>
                <a:sym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inclusion and Poverty </a:t>
            </a:r>
            <a:endParaRPr/>
          </a:p>
          <a:p>
            <a:pPr indent="0" lvl="0" marL="0" rtl="0" algn="l">
              <a:spcBef>
                <a:spcPts val="0"/>
              </a:spcBef>
              <a:spcAft>
                <a:spcPts val="0"/>
              </a:spcAft>
              <a:buNone/>
            </a:pPr>
            <a:r>
              <a:t/>
            </a:r>
            <a:endParaRPr/>
          </a:p>
        </p:txBody>
      </p:sp>
      <p:sp>
        <p:nvSpPr>
          <p:cNvPr id="160" name="Google Shape;160;p17"/>
          <p:cNvSpPr txBox="1"/>
          <p:nvPr>
            <p:ph idx="1" type="body"/>
          </p:nvPr>
        </p:nvSpPr>
        <p:spPr>
          <a:xfrm>
            <a:off x="729450" y="1853850"/>
            <a:ext cx="7688700" cy="32895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solidFill>
                <a:schemeClr val="dk2"/>
              </a:solidFill>
            </a:endParaRPr>
          </a:p>
          <a:p>
            <a:pPr indent="-311150" lvl="0" marL="457200" rtl="0" algn="l">
              <a:spcBef>
                <a:spcPts val="0"/>
              </a:spcBef>
              <a:spcAft>
                <a:spcPts val="0"/>
              </a:spcAft>
              <a:buClr>
                <a:schemeClr val="dk2"/>
              </a:buClr>
              <a:buSzPts val="1300"/>
              <a:buChar char="-"/>
            </a:pPr>
            <a:r>
              <a:rPr lang="en">
                <a:solidFill>
                  <a:schemeClr val="dk2"/>
                </a:solidFill>
              </a:rPr>
              <a:t>Easy Credit</a:t>
            </a:r>
            <a:endParaRPr>
              <a:solidFill>
                <a:schemeClr val="dk2"/>
              </a:solidFill>
            </a:endParaRPr>
          </a:p>
          <a:p>
            <a:pPr indent="0" lvl="0" marL="457200" rtl="0" algn="l">
              <a:spcBef>
                <a:spcPts val="0"/>
              </a:spcBef>
              <a:spcAft>
                <a:spcPts val="0"/>
              </a:spcAft>
              <a:buNone/>
            </a:pPr>
            <a:r>
              <a:rPr lang="en">
                <a:solidFill>
                  <a:schemeClr val="dk2"/>
                </a:solidFill>
              </a:rPr>
              <a:t>Informal </a:t>
            </a:r>
            <a:r>
              <a:rPr lang="en">
                <a:solidFill>
                  <a:schemeClr val="dk2"/>
                </a:solidFill>
              </a:rPr>
              <a:t>moneylenders tend to have high interest rates making it difficult to repay for the poor. Further, the mechanisms to collect payments are often exploitative.</a:t>
            </a:r>
            <a:endParaRPr>
              <a:solidFill>
                <a:schemeClr val="dk2"/>
              </a:solidFill>
            </a:endParaRPr>
          </a:p>
          <a:p>
            <a:pPr indent="0" lvl="0" marL="457200" rtl="0" algn="l">
              <a:spcBef>
                <a:spcPts val="0"/>
              </a:spcBef>
              <a:spcAft>
                <a:spcPts val="0"/>
              </a:spcAft>
              <a:buNone/>
            </a:pPr>
            <a:r>
              <a:rPr lang="en">
                <a:solidFill>
                  <a:schemeClr val="dk2"/>
                </a:solidFill>
              </a:rPr>
              <a:t> </a:t>
            </a:r>
            <a:endParaRPr>
              <a:solidFill>
                <a:schemeClr val="dk2"/>
              </a:solidFill>
            </a:endParaRPr>
          </a:p>
          <a:p>
            <a:pPr indent="-311150" lvl="0" marL="457200" rtl="0" algn="l">
              <a:spcBef>
                <a:spcPts val="0"/>
              </a:spcBef>
              <a:spcAft>
                <a:spcPts val="0"/>
              </a:spcAft>
              <a:buClr>
                <a:schemeClr val="dk2"/>
              </a:buClr>
              <a:buSzPts val="1300"/>
              <a:buChar char="-"/>
            </a:pPr>
            <a:r>
              <a:rPr lang="en">
                <a:solidFill>
                  <a:schemeClr val="dk2"/>
                </a:solidFill>
              </a:rPr>
              <a:t>Insurance</a:t>
            </a:r>
            <a:endParaRPr>
              <a:solidFill>
                <a:schemeClr val="dk2"/>
              </a:solidFill>
            </a:endParaRPr>
          </a:p>
          <a:p>
            <a:pPr indent="0" lvl="0" marL="457200" rtl="0" algn="l">
              <a:spcBef>
                <a:spcPts val="0"/>
              </a:spcBef>
              <a:spcAft>
                <a:spcPts val="0"/>
              </a:spcAft>
              <a:buNone/>
            </a:pPr>
            <a:r>
              <a:rPr lang="en">
                <a:solidFill>
                  <a:schemeClr val="dk2"/>
                </a:solidFill>
              </a:rPr>
              <a:t>It helps </a:t>
            </a:r>
            <a:r>
              <a:rPr lang="en">
                <a:solidFill>
                  <a:schemeClr val="dk2"/>
                </a:solidFill>
              </a:rPr>
              <a:t>mitigate the risks which can put lower class into poverty. It is really important due to the large </a:t>
            </a:r>
            <a:r>
              <a:rPr lang="en">
                <a:solidFill>
                  <a:schemeClr val="dk2"/>
                </a:solidFill>
              </a:rPr>
              <a:t>uncertainty</a:t>
            </a:r>
            <a:r>
              <a:rPr lang="en">
                <a:solidFill>
                  <a:schemeClr val="dk2"/>
                </a:solidFill>
              </a:rPr>
              <a:t> involved with agricultural incomes</a:t>
            </a:r>
            <a:endParaRPr>
              <a:solidFill>
                <a:schemeClr val="dk2"/>
              </a:solidFill>
            </a:endParaRPr>
          </a:p>
          <a:p>
            <a:pPr indent="0" lvl="0" marL="457200" rtl="0" algn="l">
              <a:spcBef>
                <a:spcPts val="0"/>
              </a:spcBef>
              <a:spcAft>
                <a:spcPts val="0"/>
              </a:spcAft>
              <a:buNone/>
            </a:pPr>
            <a:r>
              <a:t/>
            </a:r>
            <a:endParaRPr>
              <a:solidFill>
                <a:schemeClr val="dk2"/>
              </a:solidFill>
            </a:endParaRPr>
          </a:p>
          <a:p>
            <a:pPr indent="-311150" lvl="0" marL="457200" rtl="0" algn="l">
              <a:lnSpc>
                <a:spcPct val="95000"/>
              </a:lnSpc>
              <a:spcBef>
                <a:spcPts val="0"/>
              </a:spcBef>
              <a:spcAft>
                <a:spcPts val="0"/>
              </a:spcAft>
              <a:buClr>
                <a:schemeClr val="dk2"/>
              </a:buClr>
              <a:buSzPts val="1300"/>
              <a:buChar char="-"/>
            </a:pPr>
            <a:r>
              <a:rPr lang="en">
                <a:solidFill>
                  <a:schemeClr val="dk2"/>
                </a:solidFill>
              </a:rPr>
              <a:t>Savings products </a:t>
            </a:r>
            <a:endParaRPr>
              <a:solidFill>
                <a:schemeClr val="dk2"/>
              </a:solidFill>
            </a:endParaRPr>
          </a:p>
          <a:p>
            <a:pPr indent="0" lvl="0" marL="457200" rtl="0" algn="l">
              <a:lnSpc>
                <a:spcPct val="95000"/>
              </a:lnSpc>
              <a:spcBef>
                <a:spcPts val="0"/>
              </a:spcBef>
              <a:spcAft>
                <a:spcPts val="0"/>
              </a:spcAft>
              <a:buNone/>
            </a:pPr>
            <a:r>
              <a:rPr lang="en">
                <a:solidFill>
                  <a:schemeClr val="dk2"/>
                </a:solidFill>
                <a:highlight>
                  <a:srgbClr val="FFFFFF"/>
                </a:highlight>
              </a:rPr>
              <a:t>It also leads to better utilization of savings as they get access to multiple investment products leading to more secure long term income, preventing people falling into poverty even after any risks like we discussed before materialized.</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729450" y="1258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 </a:t>
            </a:r>
            <a:endParaRPr/>
          </a:p>
        </p:txBody>
      </p:sp>
      <p:sp>
        <p:nvSpPr>
          <p:cNvPr id="166" name="Google Shape;166;p18"/>
          <p:cNvSpPr txBox="1"/>
          <p:nvPr/>
        </p:nvSpPr>
        <p:spPr>
          <a:xfrm>
            <a:off x="0" y="1793925"/>
            <a:ext cx="8615700" cy="3158400"/>
          </a:xfrm>
          <a:prstGeom prst="rect">
            <a:avLst/>
          </a:prstGeom>
          <a:noFill/>
          <a:ln>
            <a:noFill/>
          </a:ln>
        </p:spPr>
        <p:txBody>
          <a:bodyPr anchorCtr="0" anchor="t" bIns="91425" lIns="91425" spcFirstLastPara="1" rIns="91425" wrap="square" tIns="91425">
            <a:spAutoFit/>
          </a:bodyPr>
          <a:lstStyle/>
          <a:p>
            <a:pPr indent="-301625" lvl="0" marL="457200" rtl="0" algn="l">
              <a:lnSpc>
                <a:spcPct val="125000"/>
              </a:lnSpc>
              <a:spcBef>
                <a:spcPts val="0"/>
              </a:spcBef>
              <a:spcAft>
                <a:spcPts val="0"/>
              </a:spcAft>
              <a:buClr>
                <a:schemeClr val="dk2"/>
              </a:buClr>
              <a:buSzPts val="1150"/>
              <a:buFont typeface="Lato"/>
              <a:buChar char="-"/>
            </a:pPr>
            <a:r>
              <a:rPr lang="en" sz="1150">
                <a:solidFill>
                  <a:schemeClr val="dk2"/>
                </a:solidFill>
                <a:latin typeface="Lato"/>
                <a:ea typeface="Lato"/>
                <a:cs typeface="Lato"/>
                <a:sym typeface="Lato"/>
              </a:rPr>
              <a:t>Pradhan Mantri Jan-Dhan Yojana (</a:t>
            </a:r>
            <a:r>
              <a:rPr lang="en" sz="1150">
                <a:solidFill>
                  <a:schemeClr val="dk2"/>
                </a:solidFill>
                <a:latin typeface="Lato"/>
                <a:ea typeface="Lato"/>
                <a:cs typeface="Lato"/>
                <a:sym typeface="Lato"/>
              </a:rPr>
              <a:t>PMJDY) </a:t>
            </a:r>
            <a:endParaRPr sz="1150">
              <a:solidFill>
                <a:schemeClr val="dk2"/>
              </a:solidFill>
              <a:latin typeface="Lato"/>
              <a:ea typeface="Lato"/>
              <a:cs typeface="Lato"/>
              <a:sym typeface="Lato"/>
            </a:endParaRPr>
          </a:p>
          <a:p>
            <a:pPr indent="0" lvl="0" marL="457200" rtl="0" algn="l">
              <a:lnSpc>
                <a:spcPct val="125000"/>
              </a:lnSpc>
              <a:spcBef>
                <a:spcPts val="0"/>
              </a:spcBef>
              <a:spcAft>
                <a:spcPts val="0"/>
              </a:spcAft>
              <a:buNone/>
            </a:pPr>
            <a:r>
              <a:rPr lang="en" sz="1150">
                <a:solidFill>
                  <a:schemeClr val="dk2"/>
                </a:solidFill>
                <a:latin typeface="Lato"/>
                <a:ea typeface="Lato"/>
                <a:cs typeface="Lato"/>
                <a:sym typeface="Lato"/>
              </a:rPr>
              <a:t> </a:t>
            </a:r>
            <a:r>
              <a:rPr lang="en" sz="1150">
                <a:solidFill>
                  <a:schemeClr val="dk2"/>
                </a:solidFill>
                <a:latin typeface="Lato"/>
                <a:ea typeface="Lato"/>
                <a:cs typeface="Lato"/>
                <a:sym typeface="Lato"/>
              </a:rPr>
              <a:t>PMJDY </a:t>
            </a:r>
            <a:r>
              <a:rPr lang="en" sz="1150">
                <a:solidFill>
                  <a:schemeClr val="dk2"/>
                </a:solidFill>
                <a:latin typeface="Lato"/>
                <a:ea typeface="Lato"/>
                <a:cs typeface="Lato"/>
                <a:sym typeface="Lato"/>
              </a:rPr>
              <a:t>to ensure access to financial services, namely, basic savings &amp; deposit accounts, remittance, credit, insurance, pension in an affordable manner. </a:t>
            </a:r>
            <a:endParaRPr sz="1150">
              <a:solidFill>
                <a:schemeClr val="dk2"/>
              </a:solidFill>
              <a:latin typeface="Lato"/>
              <a:ea typeface="Lato"/>
              <a:cs typeface="Lato"/>
              <a:sym typeface="Lato"/>
            </a:endParaRPr>
          </a:p>
          <a:p>
            <a:pPr indent="-301625" lvl="0" marL="457200" rtl="0" algn="l">
              <a:lnSpc>
                <a:spcPct val="125000"/>
              </a:lnSpc>
              <a:spcBef>
                <a:spcPts val="1000"/>
              </a:spcBef>
              <a:spcAft>
                <a:spcPts val="0"/>
              </a:spcAft>
              <a:buClr>
                <a:schemeClr val="dk2"/>
              </a:buClr>
              <a:buSzPts val="1150"/>
              <a:buFont typeface="Lato"/>
              <a:buChar char="-"/>
            </a:pPr>
            <a:r>
              <a:rPr lang="en" sz="1150">
                <a:solidFill>
                  <a:schemeClr val="dk2"/>
                </a:solidFill>
                <a:latin typeface="Lato"/>
                <a:ea typeface="Lato"/>
                <a:cs typeface="Lato"/>
                <a:sym typeface="Lato"/>
              </a:rPr>
              <a:t>Previous Research</a:t>
            </a:r>
            <a:endParaRPr sz="1150">
              <a:solidFill>
                <a:schemeClr val="dk2"/>
              </a:solidFill>
              <a:latin typeface="Lato"/>
              <a:ea typeface="Lato"/>
              <a:cs typeface="Lato"/>
              <a:sym typeface="Lato"/>
            </a:endParaRPr>
          </a:p>
          <a:p>
            <a:pPr indent="-301625" lvl="1" marL="914400" rtl="0" algn="l">
              <a:lnSpc>
                <a:spcPct val="125000"/>
              </a:lnSpc>
              <a:spcBef>
                <a:spcPts val="0"/>
              </a:spcBef>
              <a:spcAft>
                <a:spcPts val="0"/>
              </a:spcAft>
              <a:buClr>
                <a:schemeClr val="dk2"/>
              </a:buClr>
              <a:buSzPts val="1150"/>
              <a:buFont typeface="Lato"/>
              <a:buChar char="-"/>
            </a:pPr>
            <a:r>
              <a:rPr lang="en" sz="1150">
                <a:solidFill>
                  <a:schemeClr val="dk2"/>
                </a:solidFill>
                <a:latin typeface="Lato"/>
                <a:ea typeface="Lato"/>
                <a:cs typeface="Lato"/>
                <a:sym typeface="Lato"/>
              </a:rPr>
              <a:t>A major study by Md Abdullah Omar and Kazuo Inaba using panel data of 116 developing countries. The results provide robust evidence that financial inclusion significantly reduces poverty rates developing countries. </a:t>
            </a:r>
            <a:endParaRPr sz="1150">
              <a:solidFill>
                <a:schemeClr val="dk2"/>
              </a:solidFill>
              <a:latin typeface="Lato"/>
              <a:ea typeface="Lato"/>
              <a:cs typeface="Lato"/>
              <a:sym typeface="Lato"/>
            </a:endParaRPr>
          </a:p>
          <a:p>
            <a:pPr indent="-301625" lvl="1" marL="914400" rtl="0" algn="l">
              <a:lnSpc>
                <a:spcPct val="125000"/>
              </a:lnSpc>
              <a:spcBef>
                <a:spcPts val="0"/>
              </a:spcBef>
              <a:spcAft>
                <a:spcPts val="0"/>
              </a:spcAft>
              <a:buClr>
                <a:schemeClr val="dk2"/>
              </a:buClr>
              <a:buSzPts val="1150"/>
              <a:buFont typeface="Lato"/>
              <a:buChar char="-"/>
            </a:pPr>
            <a:r>
              <a:rPr lang="en" sz="1150">
                <a:solidFill>
                  <a:schemeClr val="dk2"/>
                </a:solidFill>
                <a:latin typeface="Lato"/>
                <a:ea typeface="Lato"/>
                <a:cs typeface="Lato"/>
                <a:sym typeface="Lato"/>
              </a:rPr>
              <a:t>Burgess and Pande (2005) revealed that state-led bank branch expansions into rural unbanked locations significantly reduced rural poverty in India through access to formal sector credit provision and saving opportunities. </a:t>
            </a:r>
            <a:endParaRPr sz="1150">
              <a:solidFill>
                <a:schemeClr val="dk2"/>
              </a:solidFill>
              <a:latin typeface="Lato"/>
              <a:ea typeface="Lato"/>
              <a:cs typeface="Lato"/>
              <a:sym typeface="Lato"/>
            </a:endParaRPr>
          </a:p>
          <a:p>
            <a:pPr indent="-301625" lvl="1" marL="914400" rtl="0" algn="l">
              <a:lnSpc>
                <a:spcPct val="125000"/>
              </a:lnSpc>
              <a:spcBef>
                <a:spcPts val="0"/>
              </a:spcBef>
              <a:spcAft>
                <a:spcPts val="0"/>
              </a:spcAft>
              <a:buClr>
                <a:schemeClr val="dk2"/>
              </a:buClr>
              <a:buSzPts val="1150"/>
              <a:buFont typeface="Lato"/>
              <a:buChar char="-"/>
            </a:pPr>
            <a:r>
              <a:rPr lang="en" sz="1150">
                <a:solidFill>
                  <a:schemeClr val="dk2"/>
                </a:solidFill>
                <a:latin typeface="Lato"/>
                <a:ea typeface="Lato"/>
                <a:cs typeface="Lato"/>
                <a:sym typeface="Lato"/>
              </a:rPr>
              <a:t>Brune et al. (2011) determined that increased financial access by offering commitment savings accounts to poor smallholder cash-crop farmers in Malawi had a substantial impact. </a:t>
            </a:r>
            <a:endParaRPr sz="1150">
              <a:solidFill>
                <a:schemeClr val="dk2"/>
              </a:solidFill>
              <a:latin typeface="Lato"/>
              <a:ea typeface="Lato"/>
              <a:cs typeface="Lato"/>
              <a:sym typeface="Lato"/>
            </a:endParaRPr>
          </a:p>
          <a:p>
            <a:pPr indent="-301625" lvl="0" marL="457200" rtl="0" algn="l">
              <a:lnSpc>
                <a:spcPct val="95000"/>
              </a:lnSpc>
              <a:spcBef>
                <a:spcPts val="1000"/>
              </a:spcBef>
              <a:spcAft>
                <a:spcPts val="0"/>
              </a:spcAft>
              <a:buClr>
                <a:schemeClr val="dk2"/>
              </a:buClr>
              <a:buSzPts val="1150"/>
              <a:buFont typeface="Lato"/>
              <a:buChar char="-"/>
            </a:pPr>
            <a:r>
              <a:rPr lang="en" sz="1150">
                <a:solidFill>
                  <a:schemeClr val="dk2"/>
                </a:solidFill>
                <a:latin typeface="Lato"/>
                <a:ea typeface="Lato"/>
                <a:cs typeface="Lato"/>
                <a:sym typeface="Lato"/>
              </a:rPr>
              <a:t>Need for this study </a:t>
            </a:r>
            <a:endParaRPr sz="1150">
              <a:solidFill>
                <a:schemeClr val="dk2"/>
              </a:solidFill>
              <a:latin typeface="Lato"/>
              <a:ea typeface="Lato"/>
              <a:cs typeface="Lato"/>
              <a:sym typeface="Lato"/>
            </a:endParaRPr>
          </a:p>
          <a:p>
            <a:pPr indent="0" lvl="0" marL="457200" rtl="0" algn="l">
              <a:lnSpc>
                <a:spcPct val="95000"/>
              </a:lnSpc>
              <a:spcBef>
                <a:spcPts val="0"/>
              </a:spcBef>
              <a:spcAft>
                <a:spcPts val="0"/>
              </a:spcAft>
              <a:buNone/>
            </a:pPr>
            <a:r>
              <a:rPr lang="en" sz="1150">
                <a:solidFill>
                  <a:schemeClr val="dk2"/>
                </a:solidFill>
                <a:latin typeface="Lato"/>
                <a:ea typeface="Lato"/>
                <a:cs typeface="Lato"/>
                <a:sym typeface="Lato"/>
              </a:rPr>
              <a:t>Past research done in the Indian context lacks a robust index for fin</a:t>
            </a:r>
            <a:r>
              <a:rPr lang="en" sz="1150">
                <a:solidFill>
                  <a:schemeClr val="dk2"/>
                </a:solidFill>
                <a:latin typeface="Lato"/>
                <a:ea typeface="Lato"/>
                <a:cs typeface="Lato"/>
                <a:sym typeface="Lato"/>
              </a:rPr>
              <a:t>ancial inclusion that takes into account the multiple dimensions of financial inclusion: branch penetration, credit penetration and deposit penetration.   </a:t>
            </a:r>
            <a:endParaRPr sz="1150">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9"/>
          <p:cNvPicPr preferRelativeResize="0"/>
          <p:nvPr/>
        </p:nvPicPr>
        <p:blipFill>
          <a:blip r:embed="rId3">
            <a:alphaModFix/>
          </a:blip>
          <a:stretch>
            <a:fillRect/>
          </a:stretch>
        </p:blipFill>
        <p:spPr>
          <a:xfrm>
            <a:off x="677675" y="1581500"/>
            <a:ext cx="7941050" cy="452725"/>
          </a:xfrm>
          <a:prstGeom prst="rect">
            <a:avLst/>
          </a:prstGeom>
          <a:noFill/>
          <a:ln>
            <a:noFill/>
          </a:ln>
        </p:spPr>
      </p:pic>
      <p:sp>
        <p:nvSpPr>
          <p:cNvPr id="172" name="Google Shape;172;p19"/>
          <p:cNvSpPr txBox="1"/>
          <p:nvPr>
            <p:ph type="title"/>
          </p:nvPr>
        </p:nvSpPr>
        <p:spPr>
          <a:xfrm>
            <a:off x="729450" y="1166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and Methodology</a:t>
            </a:r>
            <a:endParaRPr/>
          </a:p>
        </p:txBody>
      </p:sp>
      <p:graphicFrame>
        <p:nvGraphicFramePr>
          <p:cNvPr id="173" name="Google Shape;173;p19"/>
          <p:cNvGraphicFramePr/>
          <p:nvPr/>
        </p:nvGraphicFramePr>
        <p:xfrm>
          <a:off x="1003638" y="2034215"/>
          <a:ext cx="3000000" cy="3000000"/>
        </p:xfrm>
        <a:graphic>
          <a:graphicData uri="http://schemas.openxmlformats.org/drawingml/2006/table">
            <a:tbl>
              <a:tblPr>
                <a:noFill/>
                <a:tableStyleId>{1765D764-178F-48F0-9419-2B000D50071C}</a:tableStyleId>
              </a:tblPr>
              <a:tblGrid>
                <a:gridCol w="1920950"/>
                <a:gridCol w="2225225"/>
                <a:gridCol w="3142950"/>
              </a:tblGrid>
              <a:tr h="306125">
                <a:tc>
                  <a:txBody>
                    <a:bodyPr/>
                    <a:lstStyle/>
                    <a:p>
                      <a:pPr indent="0" lvl="0" marL="0" rtl="0" algn="l">
                        <a:spcBef>
                          <a:spcPts val="0"/>
                        </a:spcBef>
                        <a:spcAft>
                          <a:spcPts val="0"/>
                        </a:spcAft>
                        <a:buNone/>
                      </a:pPr>
                      <a:r>
                        <a:rPr b="1" lang="en" sz="1000"/>
                        <a:t>Variable</a:t>
                      </a:r>
                      <a:endParaRPr b="1" sz="1000"/>
                    </a:p>
                  </a:txBody>
                  <a:tcPr marT="91425" marB="91425" marR="91425" marL="91425"/>
                </a:tc>
                <a:tc>
                  <a:txBody>
                    <a:bodyPr/>
                    <a:lstStyle/>
                    <a:p>
                      <a:pPr indent="0" lvl="0" marL="0" rtl="0" algn="l">
                        <a:spcBef>
                          <a:spcPts val="0"/>
                        </a:spcBef>
                        <a:spcAft>
                          <a:spcPts val="0"/>
                        </a:spcAft>
                        <a:buNone/>
                      </a:pPr>
                      <a:r>
                        <a:rPr b="1" lang="en" sz="1000"/>
                        <a:t>Source</a:t>
                      </a:r>
                      <a:endParaRPr b="1" sz="1000"/>
                    </a:p>
                  </a:txBody>
                  <a:tcPr marT="91425" marB="91425" marR="91425" marL="91425"/>
                </a:tc>
                <a:tc>
                  <a:txBody>
                    <a:bodyPr/>
                    <a:lstStyle/>
                    <a:p>
                      <a:pPr indent="0" lvl="0" marL="0" rtl="0" algn="l">
                        <a:spcBef>
                          <a:spcPts val="0"/>
                        </a:spcBef>
                        <a:spcAft>
                          <a:spcPts val="0"/>
                        </a:spcAft>
                        <a:buNone/>
                      </a:pPr>
                      <a:r>
                        <a:rPr b="1" lang="en" sz="1000"/>
                        <a:t>Significance</a:t>
                      </a:r>
                      <a:endParaRPr b="1" sz="1000"/>
                    </a:p>
                  </a:txBody>
                  <a:tcPr marT="91425" marB="91425" marR="91425" marL="91425"/>
                </a:tc>
              </a:tr>
              <a:tr h="306125">
                <a:tc>
                  <a:txBody>
                    <a:bodyPr/>
                    <a:lstStyle/>
                    <a:p>
                      <a:pPr indent="0" lvl="0" marL="0" rtl="0" algn="l">
                        <a:spcBef>
                          <a:spcPts val="0"/>
                        </a:spcBef>
                        <a:spcAft>
                          <a:spcPts val="0"/>
                        </a:spcAft>
                        <a:buNone/>
                      </a:pPr>
                      <a:r>
                        <a:rPr lang="en" sz="1000"/>
                        <a:t>Poverty headcount (lnpovhead)</a:t>
                      </a:r>
                      <a:endParaRPr sz="1000"/>
                    </a:p>
                  </a:txBody>
                  <a:tcPr marT="91425" marB="91425" marR="91425" marL="91425"/>
                </a:tc>
                <a:tc>
                  <a:txBody>
                    <a:bodyPr/>
                    <a:lstStyle/>
                    <a:p>
                      <a:pPr indent="0" lvl="0" marL="0" rtl="0" algn="l">
                        <a:spcBef>
                          <a:spcPts val="0"/>
                        </a:spcBef>
                        <a:spcAft>
                          <a:spcPts val="0"/>
                        </a:spcAft>
                        <a:buNone/>
                      </a:pPr>
                      <a:r>
                        <a:rPr lang="en" sz="1000"/>
                        <a:t>RBI</a:t>
                      </a:r>
                      <a:endParaRPr sz="1000"/>
                    </a:p>
                  </a:txBody>
                  <a:tcPr marT="91425" marB="91425" marR="91425" marL="91425"/>
                </a:tc>
                <a:tc>
                  <a:txBody>
                    <a:bodyPr/>
                    <a:lstStyle/>
                    <a:p>
                      <a:pPr indent="0" lvl="0" marL="0" rtl="0" algn="l">
                        <a:spcBef>
                          <a:spcPts val="0"/>
                        </a:spcBef>
                        <a:spcAft>
                          <a:spcPts val="0"/>
                        </a:spcAft>
                        <a:buNone/>
                      </a:pPr>
                      <a:r>
                        <a:rPr lang="en" sz="1000"/>
                        <a:t>Dependent variable</a:t>
                      </a:r>
                      <a:endParaRPr sz="1000"/>
                    </a:p>
                  </a:txBody>
                  <a:tcPr marT="91425" marB="91425" marR="91425" marL="91425"/>
                </a:tc>
              </a:tr>
              <a:tr h="306125">
                <a:tc>
                  <a:txBody>
                    <a:bodyPr/>
                    <a:lstStyle/>
                    <a:p>
                      <a:pPr indent="0" lvl="0" marL="0" rtl="0" algn="l">
                        <a:spcBef>
                          <a:spcPts val="0"/>
                        </a:spcBef>
                        <a:spcAft>
                          <a:spcPts val="0"/>
                        </a:spcAft>
                        <a:buNone/>
                      </a:pPr>
                      <a:r>
                        <a:rPr lang="en" sz="1000"/>
                        <a:t>Financial inclusion index (cfii)</a:t>
                      </a:r>
                      <a:endParaRPr sz="1000"/>
                    </a:p>
                  </a:txBody>
                  <a:tcPr marT="91425" marB="91425" marR="91425" marL="91425"/>
                </a:tc>
                <a:tc>
                  <a:txBody>
                    <a:bodyPr/>
                    <a:lstStyle/>
                    <a:p>
                      <a:pPr indent="0" lvl="0" marL="0" rtl="0" algn="l">
                        <a:spcBef>
                          <a:spcPts val="0"/>
                        </a:spcBef>
                        <a:spcAft>
                          <a:spcPts val="0"/>
                        </a:spcAft>
                        <a:buNone/>
                      </a:pPr>
                      <a:r>
                        <a:rPr lang="en" sz="1000"/>
                        <a:t>CRISIL</a:t>
                      </a:r>
                      <a:endParaRPr sz="1000"/>
                    </a:p>
                  </a:txBody>
                  <a:tcPr marT="91425" marB="91425" marR="91425" marL="91425"/>
                </a:tc>
                <a:tc>
                  <a:txBody>
                    <a:bodyPr/>
                    <a:lstStyle/>
                    <a:p>
                      <a:pPr indent="0" lvl="0" marL="0" rtl="0" algn="l">
                        <a:spcBef>
                          <a:spcPts val="0"/>
                        </a:spcBef>
                        <a:spcAft>
                          <a:spcPts val="0"/>
                        </a:spcAft>
                        <a:buNone/>
                      </a:pPr>
                      <a:r>
                        <a:rPr lang="en" sz="1000"/>
                        <a:t>Components: </a:t>
                      </a:r>
                      <a:r>
                        <a:rPr lang="en" sz="1000"/>
                        <a:t>Branch</a:t>
                      </a:r>
                      <a:r>
                        <a:rPr lang="en" sz="1000"/>
                        <a:t>, credit and deposit penetration</a:t>
                      </a:r>
                      <a:endParaRPr sz="1000"/>
                    </a:p>
                  </a:txBody>
                  <a:tcPr marT="91425" marB="91425" marR="91425" marL="91425"/>
                </a:tc>
              </a:tr>
              <a:tr h="452525">
                <a:tc>
                  <a:txBody>
                    <a:bodyPr/>
                    <a:lstStyle/>
                    <a:p>
                      <a:pPr indent="0" lvl="0" marL="0" rtl="0" algn="l">
                        <a:spcBef>
                          <a:spcPts val="0"/>
                        </a:spcBef>
                        <a:spcAft>
                          <a:spcPts val="0"/>
                        </a:spcAft>
                        <a:buNone/>
                      </a:pPr>
                      <a:r>
                        <a:rPr lang="en" sz="1000"/>
                        <a:t>GSDP growth rate (lngsdpgr),</a:t>
                      </a:r>
                      <a:endParaRPr sz="1000"/>
                    </a:p>
                    <a:p>
                      <a:pPr indent="0" lvl="0" marL="0" rtl="0" algn="l">
                        <a:spcBef>
                          <a:spcPts val="0"/>
                        </a:spcBef>
                        <a:spcAft>
                          <a:spcPts val="0"/>
                        </a:spcAft>
                        <a:buNone/>
                      </a:pPr>
                      <a:r>
                        <a:rPr lang="en" sz="1000"/>
                        <a:t>GSDP per capita (lngsdppc)</a:t>
                      </a:r>
                      <a:endParaRPr sz="1000"/>
                    </a:p>
                  </a:txBody>
                  <a:tcPr marT="91425" marB="91425" marR="91425" marL="91425"/>
                </a:tc>
                <a:tc>
                  <a:txBody>
                    <a:bodyPr/>
                    <a:lstStyle/>
                    <a:p>
                      <a:pPr indent="0" lvl="0" marL="0" rtl="0" algn="l">
                        <a:spcBef>
                          <a:spcPts val="0"/>
                        </a:spcBef>
                        <a:spcAft>
                          <a:spcPts val="0"/>
                        </a:spcAft>
                        <a:buNone/>
                      </a:pPr>
                      <a:r>
                        <a:rPr lang="en" sz="1000"/>
                        <a:t>Economic and Statistical Organization, Govt. of Punjab</a:t>
                      </a:r>
                      <a:endParaRPr sz="1000"/>
                    </a:p>
                  </a:txBody>
                  <a:tcPr marT="91425" marB="91425" marR="91425" marL="91425"/>
                </a:tc>
                <a:tc>
                  <a:txBody>
                    <a:bodyPr/>
                    <a:lstStyle/>
                    <a:p>
                      <a:pPr indent="0" lvl="0" marL="0" rtl="0" algn="l">
                        <a:spcBef>
                          <a:spcPts val="0"/>
                        </a:spcBef>
                        <a:spcAft>
                          <a:spcPts val="0"/>
                        </a:spcAft>
                        <a:buNone/>
                      </a:pPr>
                      <a:r>
                        <a:rPr lang="en" sz="1000"/>
                        <a:t>Trickle down effect, Kruznet’s curve</a:t>
                      </a:r>
                      <a:endParaRPr sz="1000"/>
                    </a:p>
                  </a:txBody>
                  <a:tcPr marT="91425" marB="91425" marR="91425" marL="91425"/>
                </a:tc>
              </a:tr>
              <a:tr h="306125">
                <a:tc>
                  <a:txBody>
                    <a:bodyPr/>
                    <a:lstStyle/>
                    <a:p>
                      <a:pPr indent="0" lvl="0" marL="0" rtl="0" algn="l">
                        <a:spcBef>
                          <a:spcPts val="0"/>
                        </a:spcBef>
                        <a:spcAft>
                          <a:spcPts val="0"/>
                        </a:spcAft>
                        <a:buNone/>
                      </a:pPr>
                      <a:r>
                        <a:rPr lang="en" sz="1000"/>
                        <a:t>Gini coefficient (lngini)</a:t>
                      </a:r>
                      <a:endParaRPr sz="1000"/>
                    </a:p>
                  </a:txBody>
                  <a:tcPr marT="91425" marB="91425" marR="91425" marL="91425"/>
                </a:tc>
                <a:tc>
                  <a:txBody>
                    <a:bodyPr/>
                    <a:lstStyle/>
                    <a:p>
                      <a:pPr indent="0" lvl="0" marL="0" rtl="0" algn="l">
                        <a:spcBef>
                          <a:spcPts val="0"/>
                        </a:spcBef>
                        <a:spcAft>
                          <a:spcPts val="0"/>
                        </a:spcAft>
                        <a:buNone/>
                      </a:pPr>
                      <a:r>
                        <a:rPr lang="en" sz="1000"/>
                        <a:t>NSSO sample survey</a:t>
                      </a:r>
                      <a:endParaRPr sz="1000"/>
                    </a:p>
                  </a:txBody>
                  <a:tcPr marT="91425" marB="91425" marR="91425" marL="91425"/>
                </a:tc>
                <a:tc>
                  <a:txBody>
                    <a:bodyPr/>
                    <a:lstStyle/>
                    <a:p>
                      <a:pPr indent="0" lvl="0" marL="0" rtl="0" algn="l">
                        <a:spcBef>
                          <a:spcPts val="0"/>
                        </a:spcBef>
                        <a:spcAft>
                          <a:spcPts val="0"/>
                        </a:spcAft>
                        <a:buNone/>
                      </a:pPr>
                      <a:r>
                        <a:rPr lang="en" sz="1000"/>
                        <a:t>Inequality favors non-poor</a:t>
                      </a:r>
                      <a:endParaRPr sz="1000"/>
                    </a:p>
                  </a:txBody>
                  <a:tcPr marT="91425" marB="91425" marR="91425" marL="91425"/>
                </a:tc>
              </a:tr>
              <a:tr h="306125">
                <a:tc>
                  <a:txBody>
                    <a:bodyPr/>
                    <a:lstStyle/>
                    <a:p>
                      <a:pPr indent="0" lvl="0" marL="0" rtl="0" algn="l">
                        <a:spcBef>
                          <a:spcPts val="0"/>
                        </a:spcBef>
                        <a:spcAft>
                          <a:spcPts val="0"/>
                        </a:spcAft>
                        <a:buNone/>
                      </a:pPr>
                      <a:r>
                        <a:rPr lang="en" sz="1000"/>
                        <a:t>Education (lnssenroll)</a:t>
                      </a:r>
                      <a:endParaRPr sz="1000"/>
                    </a:p>
                  </a:txBody>
                  <a:tcPr marT="91425" marB="91425" marR="91425" marL="91425"/>
                </a:tc>
                <a:tc>
                  <a:txBody>
                    <a:bodyPr/>
                    <a:lstStyle/>
                    <a:p>
                      <a:pPr indent="0" lvl="0" marL="0" rtl="0" algn="l">
                        <a:spcBef>
                          <a:spcPts val="0"/>
                        </a:spcBef>
                        <a:spcAft>
                          <a:spcPts val="0"/>
                        </a:spcAft>
                        <a:buNone/>
                      </a:pPr>
                      <a:r>
                        <a:rPr lang="en" sz="1000"/>
                        <a:t>MHRD</a:t>
                      </a:r>
                      <a:endParaRPr sz="1000"/>
                    </a:p>
                  </a:txBody>
                  <a:tcPr marT="91425" marB="91425" marR="91425" marL="91425"/>
                </a:tc>
                <a:tc>
                  <a:txBody>
                    <a:bodyPr/>
                    <a:lstStyle/>
                    <a:p>
                      <a:pPr indent="0" lvl="0" marL="0" rtl="0" algn="l">
                        <a:spcBef>
                          <a:spcPts val="0"/>
                        </a:spcBef>
                        <a:spcAft>
                          <a:spcPts val="0"/>
                        </a:spcAft>
                        <a:buNone/>
                      </a:pPr>
                      <a:r>
                        <a:rPr lang="en" sz="1000"/>
                        <a:t>Improvement in human resource</a:t>
                      </a:r>
                      <a:endParaRPr sz="1000"/>
                    </a:p>
                  </a:txBody>
                  <a:tcPr marT="91425" marB="91425" marR="91425" marL="91425"/>
                </a:tc>
              </a:tr>
              <a:tr h="306125">
                <a:tc>
                  <a:txBody>
                    <a:bodyPr/>
                    <a:lstStyle/>
                    <a:p>
                      <a:pPr indent="0" lvl="0" marL="0" rtl="0" algn="l">
                        <a:spcBef>
                          <a:spcPts val="0"/>
                        </a:spcBef>
                        <a:spcAft>
                          <a:spcPts val="0"/>
                        </a:spcAft>
                        <a:buNone/>
                      </a:pPr>
                      <a:r>
                        <a:rPr lang="en" sz="1000"/>
                        <a:t>Social expenditure (lnsocexp)</a:t>
                      </a:r>
                      <a:endParaRPr sz="1000"/>
                    </a:p>
                  </a:txBody>
                  <a:tcPr marT="91425" marB="91425" marR="91425" marL="91425"/>
                </a:tc>
                <a:tc>
                  <a:txBody>
                    <a:bodyPr/>
                    <a:lstStyle/>
                    <a:p>
                      <a:pPr indent="0" lvl="0" marL="0" rtl="0" algn="l">
                        <a:spcBef>
                          <a:spcPts val="0"/>
                        </a:spcBef>
                        <a:spcAft>
                          <a:spcPts val="0"/>
                        </a:spcAft>
                        <a:buNone/>
                      </a:pPr>
                      <a:r>
                        <a:rPr lang="en" sz="1000"/>
                        <a:t>RBI</a:t>
                      </a:r>
                      <a:endParaRPr sz="1000"/>
                    </a:p>
                  </a:txBody>
                  <a:tcPr marT="91425" marB="91425" marR="91425" marL="91425"/>
                </a:tc>
                <a:tc>
                  <a:txBody>
                    <a:bodyPr/>
                    <a:lstStyle/>
                    <a:p>
                      <a:pPr indent="0" lvl="0" marL="0" rtl="0" algn="l">
                        <a:spcBef>
                          <a:spcPts val="0"/>
                        </a:spcBef>
                        <a:spcAft>
                          <a:spcPts val="0"/>
                        </a:spcAft>
                        <a:buNone/>
                      </a:pPr>
                      <a:r>
                        <a:rPr lang="en" sz="1000"/>
                        <a:t>Parameter for government contribution</a:t>
                      </a:r>
                      <a:endParaRPr sz="1000"/>
                    </a:p>
                  </a:txBody>
                  <a:tcPr marT="91425" marB="91425" marR="91425" marL="91425"/>
                </a:tc>
              </a:tr>
              <a:tr h="306125">
                <a:tc>
                  <a:txBody>
                    <a:bodyPr/>
                    <a:lstStyle/>
                    <a:p>
                      <a:pPr indent="0" lvl="0" marL="0" rtl="0" algn="l">
                        <a:spcBef>
                          <a:spcPts val="0"/>
                        </a:spcBef>
                        <a:spcAft>
                          <a:spcPts val="0"/>
                        </a:spcAft>
                        <a:buNone/>
                      </a:pPr>
                      <a:r>
                        <a:rPr lang="en" sz="1000"/>
                        <a:t>Zonal Councils</a:t>
                      </a:r>
                      <a:endParaRPr sz="1000"/>
                    </a:p>
                  </a:txBody>
                  <a:tcPr marT="91425" marB="91425" marR="91425" marL="91425"/>
                </a:tc>
                <a:tc>
                  <a:txBody>
                    <a:bodyPr/>
                    <a:lstStyle/>
                    <a:p>
                      <a:pPr indent="0" lvl="0" marL="0" rtl="0" algn="l">
                        <a:spcBef>
                          <a:spcPts val="0"/>
                        </a:spcBef>
                        <a:spcAft>
                          <a:spcPts val="0"/>
                        </a:spcAft>
                        <a:buNone/>
                      </a:pPr>
                      <a:r>
                        <a:rPr lang="en" sz="1000"/>
                        <a:t>States Reorganization Act, 1956</a:t>
                      </a:r>
                      <a:endParaRPr sz="1000"/>
                    </a:p>
                  </a:txBody>
                  <a:tcPr marT="91425" marB="91425" marR="91425" marL="91425"/>
                </a:tc>
                <a:tc>
                  <a:txBody>
                    <a:bodyPr/>
                    <a:lstStyle/>
                    <a:p>
                      <a:pPr indent="0" lvl="0" marL="0" rtl="0" algn="l">
                        <a:spcBef>
                          <a:spcPts val="0"/>
                        </a:spcBef>
                        <a:spcAft>
                          <a:spcPts val="0"/>
                        </a:spcAft>
                        <a:buNone/>
                      </a:pPr>
                      <a:r>
                        <a:rPr lang="en" sz="1000"/>
                        <a:t>Possible groupings due to geographical area</a:t>
                      </a:r>
                      <a:endParaRPr sz="10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0"/>
          <p:cNvPicPr preferRelativeResize="0"/>
          <p:nvPr/>
        </p:nvPicPr>
        <p:blipFill>
          <a:blip r:embed="rId3">
            <a:alphaModFix/>
          </a:blip>
          <a:stretch>
            <a:fillRect/>
          </a:stretch>
        </p:blipFill>
        <p:spPr>
          <a:xfrm>
            <a:off x="0" y="764575"/>
            <a:ext cx="9143999" cy="4378925"/>
          </a:xfrm>
          <a:prstGeom prst="rect">
            <a:avLst/>
          </a:prstGeom>
          <a:noFill/>
          <a:ln>
            <a:noFill/>
          </a:ln>
        </p:spPr>
      </p:pic>
      <p:sp>
        <p:nvSpPr>
          <p:cNvPr id="179" name="Google Shape;179;p20"/>
          <p:cNvSpPr txBox="1"/>
          <p:nvPr/>
        </p:nvSpPr>
        <p:spPr>
          <a:xfrm>
            <a:off x="0" y="0"/>
            <a:ext cx="9144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dk2"/>
                </a:solidFill>
                <a:latin typeface="Raleway"/>
                <a:ea typeface="Raleway"/>
                <a:cs typeface="Raleway"/>
                <a:sym typeface="Raleway"/>
              </a:rPr>
              <a:t>Results</a:t>
            </a:r>
            <a:endParaRPr b="1" sz="2600">
              <a:solidFill>
                <a:schemeClr val="dk2"/>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 of Study</a:t>
            </a:r>
            <a:endParaRPr/>
          </a:p>
        </p:txBody>
      </p:sp>
      <p:sp>
        <p:nvSpPr>
          <p:cNvPr id="190" name="Google Shape;190;p22"/>
          <p:cNvSpPr txBox="1"/>
          <p:nvPr>
            <p:ph idx="1" type="body"/>
          </p:nvPr>
        </p:nvSpPr>
        <p:spPr>
          <a:xfrm>
            <a:off x="729450" y="1920000"/>
            <a:ext cx="7688700" cy="2261100"/>
          </a:xfrm>
          <a:prstGeom prst="rect">
            <a:avLst/>
          </a:prstGeom>
        </p:spPr>
        <p:txBody>
          <a:bodyPr anchorCtr="0" anchor="t" bIns="91425" lIns="91425" spcFirstLastPara="1" rIns="91425" wrap="square" tIns="91425">
            <a:noAutofit/>
          </a:bodyPr>
          <a:lstStyle/>
          <a:p>
            <a:pPr indent="-318611" lvl="0" marL="457200" rtl="0" algn="l">
              <a:lnSpc>
                <a:spcPct val="95000"/>
              </a:lnSpc>
              <a:spcBef>
                <a:spcPts val="0"/>
              </a:spcBef>
              <a:spcAft>
                <a:spcPts val="0"/>
              </a:spcAft>
              <a:buClr>
                <a:schemeClr val="dk2"/>
              </a:buClr>
              <a:buSzPts val="1418"/>
              <a:buChar char="-"/>
            </a:pPr>
            <a:r>
              <a:rPr lang="en" sz="1417">
                <a:solidFill>
                  <a:schemeClr val="dk2"/>
                </a:solidFill>
              </a:rPr>
              <a:t>Small dataset</a:t>
            </a:r>
            <a:endParaRPr sz="1417">
              <a:solidFill>
                <a:schemeClr val="dk2"/>
              </a:solidFill>
            </a:endParaRPr>
          </a:p>
          <a:p>
            <a:pPr indent="0" lvl="0" marL="0" rtl="0" algn="l">
              <a:lnSpc>
                <a:spcPct val="95000"/>
              </a:lnSpc>
              <a:spcBef>
                <a:spcPts val="0"/>
              </a:spcBef>
              <a:spcAft>
                <a:spcPts val="0"/>
              </a:spcAft>
              <a:buNone/>
            </a:pPr>
            <a:r>
              <a:rPr lang="en" sz="1417">
                <a:solidFill>
                  <a:schemeClr val="dk2"/>
                </a:solidFill>
              </a:rPr>
              <a:t>The study could be extended by doing a panel data regression as poverty level for future years would become available or could be conducted at </a:t>
            </a:r>
            <a:r>
              <a:rPr lang="en" sz="1417">
                <a:solidFill>
                  <a:schemeClr val="dk2"/>
                </a:solidFill>
              </a:rPr>
              <a:t>district</a:t>
            </a:r>
            <a:r>
              <a:rPr lang="en" sz="1417">
                <a:solidFill>
                  <a:schemeClr val="dk2"/>
                </a:solidFill>
              </a:rPr>
              <a:t> level to expand the sample. </a:t>
            </a:r>
            <a:endParaRPr sz="1417">
              <a:solidFill>
                <a:schemeClr val="dk2"/>
              </a:solidFill>
            </a:endParaRPr>
          </a:p>
          <a:p>
            <a:pPr indent="0" lvl="0" marL="0" rtl="0" algn="l">
              <a:lnSpc>
                <a:spcPct val="95000"/>
              </a:lnSpc>
              <a:spcBef>
                <a:spcPts val="0"/>
              </a:spcBef>
              <a:spcAft>
                <a:spcPts val="0"/>
              </a:spcAft>
              <a:buNone/>
            </a:pPr>
            <a:r>
              <a:t/>
            </a:r>
            <a:endParaRPr sz="1417">
              <a:solidFill>
                <a:schemeClr val="dk2"/>
              </a:solidFill>
            </a:endParaRPr>
          </a:p>
          <a:p>
            <a:pPr indent="-318611" lvl="0" marL="457200" rtl="0" algn="l">
              <a:lnSpc>
                <a:spcPct val="95000"/>
              </a:lnSpc>
              <a:spcBef>
                <a:spcPts val="0"/>
              </a:spcBef>
              <a:spcAft>
                <a:spcPts val="0"/>
              </a:spcAft>
              <a:buClr>
                <a:schemeClr val="dk2"/>
              </a:buClr>
              <a:buSzPts val="1418"/>
              <a:buChar char="-"/>
            </a:pPr>
            <a:r>
              <a:rPr lang="en" sz="1417">
                <a:solidFill>
                  <a:schemeClr val="dk2"/>
                </a:solidFill>
              </a:rPr>
              <a:t>Gaps in  financial inclusion index </a:t>
            </a:r>
            <a:endParaRPr sz="1417">
              <a:solidFill>
                <a:schemeClr val="dk2"/>
              </a:solidFill>
            </a:endParaRPr>
          </a:p>
          <a:p>
            <a:pPr indent="0" lvl="0" marL="0" rtl="0" algn="l">
              <a:lnSpc>
                <a:spcPct val="95000"/>
              </a:lnSpc>
              <a:spcBef>
                <a:spcPts val="0"/>
              </a:spcBef>
              <a:spcAft>
                <a:spcPts val="0"/>
              </a:spcAft>
              <a:buSzPts val="523"/>
              <a:buNone/>
            </a:pPr>
            <a:r>
              <a:rPr lang="en" sz="1417">
                <a:solidFill>
                  <a:schemeClr val="dk2"/>
                </a:solidFill>
              </a:rPr>
              <a:t>Parameters to take into account access to other financial products like pension schemes, insurance products etc. would make the index more </a:t>
            </a:r>
            <a:r>
              <a:rPr lang="en" sz="1417">
                <a:solidFill>
                  <a:schemeClr val="dk2"/>
                </a:solidFill>
              </a:rPr>
              <a:t>comprehensive</a:t>
            </a:r>
            <a:r>
              <a:rPr lang="en" sz="1417">
                <a:solidFill>
                  <a:schemeClr val="dk2"/>
                </a:solidFill>
              </a:rPr>
              <a:t> . As we see these products are important for poverty alleviation, the effect of access to these products can not be empirically captured. </a:t>
            </a:r>
            <a:endParaRPr sz="1417">
              <a:solidFill>
                <a:schemeClr val="dk2"/>
              </a:solidFill>
            </a:endParaRPr>
          </a:p>
          <a:p>
            <a:pPr indent="0" lvl="0" marL="0" rtl="0" algn="l">
              <a:lnSpc>
                <a:spcPct val="95000"/>
              </a:lnSpc>
              <a:spcBef>
                <a:spcPts val="0"/>
              </a:spcBef>
              <a:spcAft>
                <a:spcPts val="0"/>
              </a:spcAft>
              <a:buSzPts val="523"/>
              <a:buNone/>
            </a:pPr>
            <a:r>
              <a:t/>
            </a:r>
            <a:endParaRPr sz="1417">
              <a:solidFill>
                <a:schemeClr val="dk2"/>
              </a:solidFill>
            </a:endParaRPr>
          </a:p>
          <a:p>
            <a:pPr indent="-318611" lvl="0" marL="457200" rtl="0" algn="l">
              <a:lnSpc>
                <a:spcPct val="95000"/>
              </a:lnSpc>
              <a:spcBef>
                <a:spcPts val="0"/>
              </a:spcBef>
              <a:spcAft>
                <a:spcPts val="0"/>
              </a:spcAft>
              <a:buClr>
                <a:schemeClr val="dk2"/>
              </a:buClr>
              <a:buSzPts val="1418"/>
              <a:buChar char="-"/>
            </a:pPr>
            <a:r>
              <a:rPr lang="en" sz="1417">
                <a:solidFill>
                  <a:schemeClr val="dk2"/>
                </a:solidFill>
              </a:rPr>
              <a:t>Lack of data on control variables </a:t>
            </a:r>
            <a:endParaRPr sz="1417">
              <a:solidFill>
                <a:schemeClr val="dk2"/>
              </a:solidFill>
            </a:endParaRPr>
          </a:p>
          <a:p>
            <a:pPr indent="0" lvl="0" marL="0" rtl="0" algn="l">
              <a:lnSpc>
                <a:spcPct val="95000"/>
              </a:lnSpc>
              <a:spcBef>
                <a:spcPts val="0"/>
              </a:spcBef>
              <a:spcAft>
                <a:spcPts val="0"/>
              </a:spcAft>
              <a:buSzPts val="523"/>
              <a:buNone/>
            </a:pPr>
            <a:r>
              <a:rPr lang="en" sz="1417">
                <a:solidFill>
                  <a:schemeClr val="dk2"/>
                </a:solidFill>
              </a:rPr>
              <a:t>The data lacks controls like inflation which can have a significant effect on poverty levels. We take gross enrollment at secondary level as a proxy for education achievements which may not be a perfect proxy. </a:t>
            </a:r>
            <a:endParaRPr sz="1417">
              <a:solidFill>
                <a:schemeClr val="dk2"/>
              </a:solidFill>
            </a:endParaRPr>
          </a:p>
          <a:p>
            <a:pPr indent="0" lvl="0" marL="0" rtl="0" algn="l">
              <a:lnSpc>
                <a:spcPct val="95000"/>
              </a:lnSpc>
              <a:spcBef>
                <a:spcPts val="0"/>
              </a:spcBef>
              <a:spcAft>
                <a:spcPts val="0"/>
              </a:spcAft>
              <a:buSzPts val="523"/>
              <a:buNone/>
            </a:pPr>
            <a:r>
              <a:t/>
            </a:r>
            <a:endParaRPr sz="1217"/>
          </a:p>
          <a:p>
            <a:pPr indent="0" lvl="0" marL="0" rtl="0" algn="l">
              <a:lnSpc>
                <a:spcPct val="95000"/>
              </a:lnSpc>
              <a:spcBef>
                <a:spcPts val="1200"/>
              </a:spcBef>
              <a:spcAft>
                <a:spcPts val="1200"/>
              </a:spcAft>
              <a:buSzPts val="523"/>
              <a:buNone/>
            </a:pPr>
            <a:r>
              <a:t/>
            </a:r>
            <a:endParaRPr sz="1217"/>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post PMJDY</a:t>
            </a:r>
            <a:endParaRPr/>
          </a:p>
        </p:txBody>
      </p:sp>
      <p:sp>
        <p:nvSpPr>
          <p:cNvPr id="196" name="Google Shape;196;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7" name="Google Shape;197;p23"/>
          <p:cNvPicPr preferRelativeResize="0"/>
          <p:nvPr/>
        </p:nvPicPr>
        <p:blipFill>
          <a:blip r:embed="rId3">
            <a:alphaModFix/>
          </a:blip>
          <a:stretch>
            <a:fillRect/>
          </a:stretch>
        </p:blipFill>
        <p:spPr>
          <a:xfrm>
            <a:off x="729450" y="2078875"/>
            <a:ext cx="7688700" cy="2261100"/>
          </a:xfrm>
          <a:prstGeom prst="rect">
            <a:avLst/>
          </a:prstGeom>
          <a:noFill/>
          <a:ln>
            <a:noFill/>
          </a:ln>
        </p:spPr>
      </p:pic>
      <p:sp>
        <p:nvSpPr>
          <p:cNvPr id="198" name="Google Shape;198;p23"/>
          <p:cNvSpPr txBox="1"/>
          <p:nvPr/>
        </p:nvSpPr>
        <p:spPr>
          <a:xfrm>
            <a:off x="729450" y="4498075"/>
            <a:ext cx="5709600" cy="354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1000"/>
              </a:spcBef>
              <a:spcAft>
                <a:spcPts val="0"/>
              </a:spcAft>
              <a:buNone/>
            </a:pPr>
            <a:r>
              <a:rPr b="1" lang="en" sz="1100">
                <a:latin typeface="Proxima Nova"/>
                <a:ea typeface="Proxima Nova"/>
                <a:cs typeface="Proxima Nova"/>
                <a:sym typeface="Proxima Nova"/>
              </a:rPr>
              <a:t>Fig 8: </a:t>
            </a:r>
            <a:r>
              <a:rPr i="1" lang="en" sz="1100">
                <a:latin typeface="Proxima Nova"/>
                <a:ea typeface="Proxima Nova"/>
                <a:cs typeface="Proxima Nova"/>
                <a:sym typeface="Proxima Nova"/>
              </a:rPr>
              <a:t>Region wise score of inclusion parameters (CRISIL Inclusix, Feb 2018, Vol 4)</a:t>
            </a:r>
            <a:endParaRPr i="1" sz="1100">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4"/>
          <p:cNvPicPr preferRelativeResize="0"/>
          <p:nvPr/>
        </p:nvPicPr>
        <p:blipFill>
          <a:blip r:embed="rId3">
            <a:alphaModFix/>
          </a:blip>
          <a:stretch>
            <a:fillRect/>
          </a:stretch>
        </p:blipFill>
        <p:spPr>
          <a:xfrm>
            <a:off x="1025800" y="695050"/>
            <a:ext cx="5119850" cy="4448450"/>
          </a:xfrm>
          <a:prstGeom prst="rect">
            <a:avLst/>
          </a:prstGeom>
          <a:noFill/>
          <a:ln>
            <a:noFill/>
          </a:ln>
        </p:spPr>
      </p:pic>
      <p:sp>
        <p:nvSpPr>
          <p:cNvPr id="204" name="Google Shape;204;p24"/>
          <p:cNvSpPr txBox="1"/>
          <p:nvPr/>
        </p:nvSpPr>
        <p:spPr>
          <a:xfrm>
            <a:off x="973100" y="0"/>
            <a:ext cx="7596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2"/>
                </a:solidFill>
                <a:latin typeface="Raleway"/>
                <a:ea typeface="Raleway"/>
                <a:cs typeface="Raleway"/>
                <a:sym typeface="Raleway"/>
              </a:rPr>
              <a:t>Credit </a:t>
            </a:r>
            <a:r>
              <a:rPr b="1" lang="en" sz="2800">
                <a:solidFill>
                  <a:schemeClr val="dk2"/>
                </a:solidFill>
                <a:latin typeface="Raleway"/>
                <a:ea typeface="Raleway"/>
                <a:cs typeface="Raleway"/>
                <a:sym typeface="Raleway"/>
              </a:rPr>
              <a:t>Penetration </a:t>
            </a:r>
            <a:endParaRPr b="1" sz="2800">
              <a:solidFill>
                <a:schemeClr val="dk2"/>
              </a:solidFill>
              <a:latin typeface="Raleway"/>
              <a:ea typeface="Raleway"/>
              <a:cs typeface="Raleway"/>
              <a:sym typeface="Raleway"/>
            </a:endParaRPr>
          </a:p>
          <a:p>
            <a:pPr indent="0" lvl="0" marL="0" rtl="0" algn="l">
              <a:spcBef>
                <a:spcPts val="0"/>
              </a:spcBef>
              <a:spcAft>
                <a:spcPts val="0"/>
              </a:spcAft>
              <a:buNone/>
            </a:pPr>
            <a:r>
              <a:t/>
            </a:r>
            <a:endParaRPr b="1" sz="2800">
              <a:solidFill>
                <a:schemeClr val="dk2"/>
              </a:solidFill>
              <a:latin typeface="Raleway"/>
              <a:ea typeface="Raleway"/>
              <a:cs typeface="Raleway"/>
              <a:sym typeface="Raleway"/>
            </a:endParaRPr>
          </a:p>
          <a:p>
            <a:pPr indent="0" lvl="0" marL="0" rtl="0" algn="l">
              <a:spcBef>
                <a:spcPts val="0"/>
              </a:spcBef>
              <a:spcAft>
                <a:spcPts val="0"/>
              </a:spcAft>
              <a:buNone/>
            </a:pPr>
            <a:r>
              <a:t/>
            </a:r>
            <a:endParaRPr b="1" sz="2800">
              <a:solidFill>
                <a:schemeClr val="dk2"/>
              </a:solidFill>
              <a:latin typeface="Raleway"/>
              <a:ea typeface="Raleway"/>
              <a:cs typeface="Raleway"/>
              <a:sym typeface="Raleway"/>
            </a:endParaRPr>
          </a:p>
        </p:txBody>
      </p:sp>
      <p:sp>
        <p:nvSpPr>
          <p:cNvPr id="205" name="Google Shape;205;p24"/>
          <p:cNvSpPr txBox="1"/>
          <p:nvPr/>
        </p:nvSpPr>
        <p:spPr>
          <a:xfrm>
            <a:off x="6328575" y="2289000"/>
            <a:ext cx="3000000" cy="5655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1000"/>
              </a:spcBef>
              <a:spcAft>
                <a:spcPts val="0"/>
              </a:spcAft>
              <a:buNone/>
            </a:pPr>
            <a:r>
              <a:rPr i="1" lang="en" sz="1100">
                <a:latin typeface="Proxima Nova"/>
                <a:ea typeface="Proxima Nova"/>
                <a:cs typeface="Proxima Nova"/>
                <a:sym typeface="Proxima Nova"/>
              </a:rPr>
              <a:t>Number of accounts by type (CRISIL Inclusix, Feb 2018, Vol 4)</a:t>
            </a:r>
            <a:endParaRPr i="1" sz="1100">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5"/>
          <p:cNvPicPr preferRelativeResize="0"/>
          <p:nvPr/>
        </p:nvPicPr>
        <p:blipFill>
          <a:blip r:embed="rId3">
            <a:alphaModFix/>
          </a:blip>
          <a:stretch>
            <a:fillRect/>
          </a:stretch>
        </p:blipFill>
        <p:spPr>
          <a:xfrm>
            <a:off x="316925" y="1112050"/>
            <a:ext cx="4111650" cy="2769900"/>
          </a:xfrm>
          <a:prstGeom prst="rect">
            <a:avLst/>
          </a:prstGeom>
          <a:noFill/>
          <a:ln>
            <a:noFill/>
          </a:ln>
        </p:spPr>
      </p:pic>
      <p:pic>
        <p:nvPicPr>
          <p:cNvPr id="211" name="Google Shape;211;p25"/>
          <p:cNvPicPr preferRelativeResize="0"/>
          <p:nvPr/>
        </p:nvPicPr>
        <p:blipFill>
          <a:blip r:embed="rId4">
            <a:alphaModFix/>
          </a:blip>
          <a:stretch>
            <a:fillRect/>
          </a:stretch>
        </p:blipFill>
        <p:spPr>
          <a:xfrm>
            <a:off x="5514150" y="1112050"/>
            <a:ext cx="3000000" cy="2769900"/>
          </a:xfrm>
          <a:prstGeom prst="rect">
            <a:avLst/>
          </a:prstGeom>
          <a:noFill/>
          <a:ln>
            <a:noFill/>
          </a:ln>
        </p:spPr>
      </p:pic>
      <p:sp>
        <p:nvSpPr>
          <p:cNvPr id="212" name="Google Shape;212;p25"/>
          <p:cNvSpPr txBox="1"/>
          <p:nvPr/>
        </p:nvSpPr>
        <p:spPr>
          <a:xfrm>
            <a:off x="973100" y="0"/>
            <a:ext cx="7596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2"/>
                </a:solidFill>
                <a:latin typeface="Raleway"/>
                <a:ea typeface="Raleway"/>
                <a:cs typeface="Raleway"/>
                <a:sym typeface="Raleway"/>
              </a:rPr>
              <a:t>Branch</a:t>
            </a:r>
            <a:r>
              <a:rPr b="1" lang="en" sz="2800">
                <a:solidFill>
                  <a:schemeClr val="dk2"/>
                </a:solidFill>
                <a:latin typeface="Raleway"/>
                <a:ea typeface="Raleway"/>
                <a:cs typeface="Raleway"/>
                <a:sym typeface="Raleway"/>
              </a:rPr>
              <a:t> </a:t>
            </a:r>
            <a:r>
              <a:rPr b="1" lang="en" sz="2800">
                <a:solidFill>
                  <a:schemeClr val="dk2"/>
                </a:solidFill>
                <a:latin typeface="Raleway"/>
                <a:ea typeface="Raleway"/>
                <a:cs typeface="Raleway"/>
                <a:sym typeface="Raleway"/>
              </a:rPr>
              <a:t>Penetration </a:t>
            </a:r>
            <a:endParaRPr b="1" sz="2800">
              <a:solidFill>
                <a:schemeClr val="dk2"/>
              </a:solidFill>
              <a:latin typeface="Raleway"/>
              <a:ea typeface="Raleway"/>
              <a:cs typeface="Raleway"/>
              <a:sym typeface="Raleway"/>
            </a:endParaRPr>
          </a:p>
          <a:p>
            <a:pPr indent="0" lvl="0" marL="0" rtl="0" algn="l">
              <a:spcBef>
                <a:spcPts val="0"/>
              </a:spcBef>
              <a:spcAft>
                <a:spcPts val="0"/>
              </a:spcAft>
              <a:buNone/>
            </a:pPr>
            <a:r>
              <a:t/>
            </a:r>
            <a:endParaRPr b="1" sz="2800">
              <a:solidFill>
                <a:schemeClr val="dk2"/>
              </a:solidFill>
              <a:latin typeface="Raleway"/>
              <a:ea typeface="Raleway"/>
              <a:cs typeface="Raleway"/>
              <a:sym typeface="Raleway"/>
            </a:endParaRPr>
          </a:p>
          <a:p>
            <a:pPr indent="0" lvl="0" marL="0" rtl="0" algn="l">
              <a:spcBef>
                <a:spcPts val="0"/>
              </a:spcBef>
              <a:spcAft>
                <a:spcPts val="0"/>
              </a:spcAft>
              <a:buNone/>
            </a:pPr>
            <a:r>
              <a:t/>
            </a:r>
            <a:endParaRPr b="1" sz="2800">
              <a:solidFill>
                <a:schemeClr val="dk2"/>
              </a:solidFill>
              <a:latin typeface="Raleway"/>
              <a:ea typeface="Raleway"/>
              <a:cs typeface="Raleway"/>
              <a:sym typeface="Raleway"/>
            </a:endParaRPr>
          </a:p>
        </p:txBody>
      </p:sp>
      <p:sp>
        <p:nvSpPr>
          <p:cNvPr id="213" name="Google Shape;213;p25"/>
          <p:cNvSpPr txBox="1"/>
          <p:nvPr/>
        </p:nvSpPr>
        <p:spPr>
          <a:xfrm>
            <a:off x="559525" y="4134125"/>
            <a:ext cx="3948600" cy="6939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1000"/>
              </a:spcBef>
              <a:spcAft>
                <a:spcPts val="0"/>
              </a:spcAft>
              <a:buNone/>
            </a:pPr>
            <a:r>
              <a:rPr i="1" lang="en" sz="1100">
                <a:latin typeface="Proxima Nova"/>
                <a:ea typeface="Proxima Nova"/>
                <a:cs typeface="Proxima Nova"/>
                <a:sym typeface="Proxima Nova"/>
              </a:rPr>
              <a:t>Growth in bank branches </a:t>
            </a:r>
            <a:r>
              <a:rPr i="1" lang="en" sz="1100">
                <a:latin typeface="Proxima Nova"/>
                <a:ea typeface="Proxima Nova"/>
                <a:cs typeface="Proxima Nova"/>
                <a:sym typeface="Proxima Nova"/>
              </a:rPr>
              <a:t>(CRISIL Inclusix, Feb 2018, Vol 4)</a:t>
            </a:r>
            <a:endParaRPr i="1" sz="1100">
              <a:latin typeface="Proxima Nova"/>
              <a:ea typeface="Proxima Nova"/>
              <a:cs typeface="Proxima Nova"/>
              <a:sym typeface="Proxima Nova"/>
            </a:endParaRPr>
          </a:p>
          <a:p>
            <a:pPr indent="0" lvl="0" marL="0" rtl="0" algn="l">
              <a:lnSpc>
                <a:spcPct val="125000"/>
              </a:lnSpc>
              <a:spcBef>
                <a:spcPts val="1000"/>
              </a:spcBef>
              <a:spcAft>
                <a:spcPts val="0"/>
              </a:spcAft>
              <a:buNone/>
            </a:pPr>
            <a:r>
              <a:rPr i="1" lang="en" sz="1100">
                <a:latin typeface="Proxima Nova"/>
                <a:ea typeface="Proxima Nova"/>
                <a:cs typeface="Proxima Nova"/>
                <a:sym typeface="Proxima Nova"/>
              </a:rPr>
              <a:t>		            </a:t>
            </a:r>
            <a:endParaRPr sz="1100">
              <a:latin typeface="Proxima Nova"/>
              <a:ea typeface="Proxima Nova"/>
              <a:cs typeface="Proxima Nova"/>
              <a:sym typeface="Proxima Nova"/>
            </a:endParaRPr>
          </a:p>
        </p:txBody>
      </p:sp>
      <p:sp>
        <p:nvSpPr>
          <p:cNvPr id="214" name="Google Shape;214;p25"/>
          <p:cNvSpPr txBox="1"/>
          <p:nvPr/>
        </p:nvSpPr>
        <p:spPr>
          <a:xfrm>
            <a:off x="5411600" y="4134125"/>
            <a:ext cx="3732600" cy="6939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1000"/>
              </a:spcBef>
              <a:spcAft>
                <a:spcPts val="0"/>
              </a:spcAft>
              <a:buNone/>
            </a:pPr>
            <a:r>
              <a:rPr i="1" lang="en" sz="1100">
                <a:latin typeface="Proxima Nova"/>
                <a:ea typeface="Proxima Nova"/>
                <a:cs typeface="Proxima Nova"/>
                <a:sym typeface="Proxima Nova"/>
              </a:rPr>
              <a:t>Growth in MFI branches </a:t>
            </a:r>
            <a:r>
              <a:rPr i="1" lang="en" sz="1100">
                <a:latin typeface="Proxima Nova"/>
                <a:ea typeface="Proxima Nova"/>
                <a:cs typeface="Proxima Nova"/>
                <a:sym typeface="Proxima Nova"/>
              </a:rPr>
              <a:t>(CRISIL Inclusix, Feb 2018, Vol 4)</a:t>
            </a:r>
            <a:endParaRPr i="1" sz="1100">
              <a:latin typeface="Proxima Nova"/>
              <a:ea typeface="Proxima Nova"/>
              <a:cs typeface="Proxima Nova"/>
              <a:sym typeface="Proxima Nova"/>
            </a:endParaRPr>
          </a:p>
          <a:p>
            <a:pPr indent="0" lvl="0" marL="0" rtl="0" algn="l">
              <a:lnSpc>
                <a:spcPct val="125000"/>
              </a:lnSpc>
              <a:spcBef>
                <a:spcPts val="1000"/>
              </a:spcBef>
              <a:spcAft>
                <a:spcPts val="0"/>
              </a:spcAft>
              <a:buNone/>
            </a:pPr>
            <a:r>
              <a:t/>
            </a:r>
            <a:endParaRPr i="1" sz="1100">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grpSp>
        <p:nvGrpSpPr>
          <p:cNvPr id="220" name="Google Shape;220;p26"/>
          <p:cNvGrpSpPr/>
          <p:nvPr/>
        </p:nvGrpSpPr>
        <p:grpSpPr>
          <a:xfrm>
            <a:off x="7" y="2257725"/>
            <a:ext cx="7287480" cy="629700"/>
            <a:chOff x="7" y="2257725"/>
            <a:chExt cx="7287480" cy="629700"/>
          </a:xfrm>
        </p:grpSpPr>
        <p:sp>
          <p:nvSpPr>
            <p:cNvPr id="221" name="Google Shape;221;p26"/>
            <p:cNvSpPr txBox="1"/>
            <p:nvPr/>
          </p:nvSpPr>
          <p:spPr>
            <a:xfrm>
              <a:off x="7" y="2257725"/>
              <a:ext cx="2715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t/>
              </a:r>
              <a:endParaRPr sz="4400">
                <a:solidFill>
                  <a:srgbClr val="A72A1E"/>
                </a:solidFill>
                <a:latin typeface="Roboto Medium"/>
                <a:ea typeface="Roboto Medium"/>
                <a:cs typeface="Roboto Medium"/>
                <a:sym typeface="Roboto Medium"/>
              </a:endParaRPr>
            </a:p>
          </p:txBody>
        </p:sp>
        <p:sp>
          <p:nvSpPr>
            <p:cNvPr id="222" name="Google Shape;222;p26"/>
            <p:cNvSpPr txBox="1"/>
            <p:nvPr/>
          </p:nvSpPr>
          <p:spPr>
            <a:xfrm>
              <a:off x="2914387" y="2414096"/>
              <a:ext cx="43731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Lorem ipsum dolor sit amet,consectetur adipiscing elit. Duis sit amet oio vel purus bibendum luctus.</a:t>
              </a:r>
              <a:endParaRPr sz="1200">
                <a:solidFill>
                  <a:srgbClr val="FFFFFF"/>
                </a:solidFill>
                <a:latin typeface="Roboto"/>
                <a:ea typeface="Roboto"/>
                <a:cs typeface="Roboto"/>
                <a:sym typeface="Roboto"/>
              </a:endParaRPr>
            </a:p>
          </p:txBody>
        </p:sp>
      </p:grpSp>
      <p:grpSp>
        <p:nvGrpSpPr>
          <p:cNvPr id="223" name="Google Shape;223;p26"/>
          <p:cNvGrpSpPr/>
          <p:nvPr/>
        </p:nvGrpSpPr>
        <p:grpSpPr>
          <a:xfrm>
            <a:off x="755105" y="3138825"/>
            <a:ext cx="6009183" cy="629700"/>
            <a:chOff x="755105" y="3138825"/>
            <a:chExt cx="6009183" cy="629700"/>
          </a:xfrm>
        </p:grpSpPr>
        <p:sp>
          <p:nvSpPr>
            <p:cNvPr id="224" name="Google Shape;224;p26"/>
            <p:cNvSpPr txBox="1"/>
            <p:nvPr/>
          </p:nvSpPr>
          <p:spPr>
            <a:xfrm>
              <a:off x="755105" y="3138825"/>
              <a:ext cx="19599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t/>
              </a:r>
              <a:endParaRPr sz="4400">
                <a:solidFill>
                  <a:srgbClr val="B02C20"/>
                </a:solidFill>
                <a:latin typeface="Roboto Medium"/>
                <a:ea typeface="Roboto Medium"/>
                <a:cs typeface="Roboto Medium"/>
                <a:sym typeface="Roboto Medium"/>
              </a:endParaRPr>
            </a:p>
          </p:txBody>
        </p:sp>
        <p:sp>
          <p:nvSpPr>
            <p:cNvPr id="225" name="Google Shape;225;p26"/>
            <p:cNvSpPr txBox="1"/>
            <p:nvPr/>
          </p:nvSpPr>
          <p:spPr>
            <a:xfrm>
              <a:off x="2914388" y="3295180"/>
              <a:ext cx="38499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Lorem ipsum dolor sit amet, consectetur adipiscing elit. Duis sit amet odio vel purus bibendum luctus.</a:t>
              </a:r>
              <a:endParaRPr sz="1200">
                <a:solidFill>
                  <a:srgbClr val="FFFFFF"/>
                </a:solidFill>
                <a:latin typeface="Roboto"/>
                <a:ea typeface="Roboto"/>
                <a:cs typeface="Roboto"/>
                <a:sym typeface="Roboto"/>
              </a:endParaRPr>
            </a:p>
          </p:txBody>
        </p:sp>
      </p:grpSp>
      <p:grpSp>
        <p:nvGrpSpPr>
          <p:cNvPr id="226" name="Google Shape;226;p26"/>
          <p:cNvGrpSpPr/>
          <p:nvPr/>
        </p:nvGrpSpPr>
        <p:grpSpPr>
          <a:xfrm>
            <a:off x="755110" y="2006714"/>
            <a:ext cx="5221800" cy="731700"/>
            <a:chOff x="2789785" y="1323164"/>
            <a:chExt cx="5221800" cy="731700"/>
          </a:xfrm>
        </p:grpSpPr>
        <p:sp>
          <p:nvSpPr>
            <p:cNvPr id="227" name="Google Shape;227;p26"/>
            <p:cNvSpPr/>
            <p:nvPr/>
          </p:nvSpPr>
          <p:spPr>
            <a:xfrm>
              <a:off x="2789785" y="1323164"/>
              <a:ext cx="5221800" cy="731700"/>
            </a:xfrm>
            <a:prstGeom prst="rect">
              <a:avLst/>
            </a:prstGeom>
            <a:solidFill>
              <a:srgbClr val="802017"/>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6"/>
            <p:cNvSpPr txBox="1"/>
            <p:nvPr/>
          </p:nvSpPr>
          <p:spPr>
            <a:xfrm>
              <a:off x="2914389" y="1407440"/>
              <a:ext cx="4765800" cy="575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a:solidFill>
                    <a:srgbClr val="FFFFFF"/>
                  </a:solidFill>
                  <a:latin typeface="Roboto"/>
                  <a:ea typeface="Roboto"/>
                  <a:cs typeface="Roboto"/>
                  <a:sym typeface="Roboto"/>
                </a:rPr>
                <a:t>Development of </a:t>
              </a:r>
              <a:r>
                <a:rPr lang="en">
                  <a:solidFill>
                    <a:srgbClr val="FFFFFF"/>
                  </a:solidFill>
                  <a:latin typeface="Roboto"/>
                  <a:ea typeface="Roboto"/>
                  <a:cs typeface="Roboto"/>
                  <a:sym typeface="Roboto"/>
                </a:rPr>
                <a:t>financial</a:t>
              </a:r>
              <a:r>
                <a:rPr lang="en">
                  <a:solidFill>
                    <a:srgbClr val="FFFFFF"/>
                  </a:solidFill>
                  <a:latin typeface="Roboto"/>
                  <a:ea typeface="Roboto"/>
                  <a:cs typeface="Roboto"/>
                  <a:sym typeface="Roboto"/>
                </a:rPr>
                <a:t> inclusion index</a:t>
              </a:r>
              <a:endParaRPr>
                <a:solidFill>
                  <a:srgbClr val="FFFFFF"/>
                </a:solidFill>
                <a:latin typeface="Roboto"/>
                <a:ea typeface="Roboto"/>
                <a:cs typeface="Roboto"/>
                <a:sym typeface="Roboto"/>
              </a:endParaRPr>
            </a:p>
          </p:txBody>
        </p:sp>
      </p:grpSp>
      <p:grpSp>
        <p:nvGrpSpPr>
          <p:cNvPr id="229" name="Google Shape;229;p26"/>
          <p:cNvGrpSpPr/>
          <p:nvPr/>
        </p:nvGrpSpPr>
        <p:grpSpPr>
          <a:xfrm>
            <a:off x="755112" y="2891075"/>
            <a:ext cx="4860300" cy="731700"/>
            <a:chOff x="2789787" y="2207525"/>
            <a:chExt cx="4860300" cy="731700"/>
          </a:xfrm>
        </p:grpSpPr>
        <p:sp>
          <p:nvSpPr>
            <p:cNvPr id="230" name="Google Shape;230;p26"/>
            <p:cNvSpPr/>
            <p:nvPr/>
          </p:nvSpPr>
          <p:spPr>
            <a:xfrm>
              <a:off x="2789787" y="2207525"/>
              <a:ext cx="4860300" cy="731700"/>
            </a:xfrm>
            <a:prstGeom prst="rect">
              <a:avLst/>
            </a:prstGeom>
            <a:solidFill>
              <a:srgbClr val="A72A1E"/>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6"/>
            <p:cNvSpPr txBox="1"/>
            <p:nvPr/>
          </p:nvSpPr>
          <p:spPr>
            <a:xfrm>
              <a:off x="2914387" y="2414096"/>
              <a:ext cx="43731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a:solidFill>
                    <a:srgbClr val="FFFFFF"/>
                  </a:solidFill>
                  <a:latin typeface="Roboto"/>
                  <a:ea typeface="Roboto"/>
                  <a:cs typeface="Roboto"/>
                  <a:sym typeface="Roboto"/>
                </a:rPr>
                <a:t>PMJDY - a step in right direction</a:t>
              </a:r>
              <a:endParaRPr>
                <a:solidFill>
                  <a:srgbClr val="FFFFFF"/>
                </a:solidFill>
                <a:latin typeface="Roboto"/>
                <a:ea typeface="Roboto"/>
                <a:cs typeface="Roboto"/>
                <a:sym typeface="Roboto"/>
              </a:endParaRPr>
            </a:p>
          </p:txBody>
        </p:sp>
      </p:grpSp>
      <p:grpSp>
        <p:nvGrpSpPr>
          <p:cNvPr id="232" name="Google Shape;232;p26"/>
          <p:cNvGrpSpPr/>
          <p:nvPr/>
        </p:nvGrpSpPr>
        <p:grpSpPr>
          <a:xfrm>
            <a:off x="755112" y="3772175"/>
            <a:ext cx="4497600" cy="731700"/>
            <a:chOff x="2789787" y="3088625"/>
            <a:chExt cx="4497600" cy="731700"/>
          </a:xfrm>
        </p:grpSpPr>
        <p:sp>
          <p:nvSpPr>
            <p:cNvPr id="233" name="Google Shape;233;p26"/>
            <p:cNvSpPr/>
            <p:nvPr/>
          </p:nvSpPr>
          <p:spPr>
            <a:xfrm>
              <a:off x="2789787" y="3088625"/>
              <a:ext cx="4497600" cy="731700"/>
            </a:xfrm>
            <a:prstGeom prst="rect">
              <a:avLst/>
            </a:prstGeom>
            <a:solidFill>
              <a:srgbClr val="B02C2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6"/>
            <p:cNvSpPr txBox="1"/>
            <p:nvPr/>
          </p:nvSpPr>
          <p:spPr>
            <a:xfrm>
              <a:off x="2914388" y="3295180"/>
              <a:ext cx="38499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a:solidFill>
                    <a:srgbClr val="FFFFFF"/>
                  </a:solidFill>
                  <a:latin typeface="Roboto"/>
                  <a:ea typeface="Roboto"/>
                  <a:cs typeface="Roboto"/>
                  <a:sym typeface="Roboto"/>
                </a:rPr>
                <a:t>Need for non-traditional methods</a:t>
              </a:r>
              <a:endParaRPr>
                <a:solidFill>
                  <a:srgbClr val="FFFFFF"/>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