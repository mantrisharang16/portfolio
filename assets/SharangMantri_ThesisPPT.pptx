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y="5143500" cx="9144000"/>
  <p:notesSz cx="6858000" cy="9144000"/>
  <p:embeddedFontLst>
    <p:embeddedFont>
      <p:font typeface="Economica"/>
      <p:regular r:id="rId52"/>
      <p:bold r:id="rId53"/>
      <p:italic r:id="rId54"/>
      <p:boldItalic r:id="rId55"/>
    </p:embeddedFont>
    <p:embeddedFont>
      <p:font typeface="Roboto"/>
      <p:regular r:id="rId56"/>
      <p:bold r:id="rId57"/>
      <p:italic r:id="rId58"/>
      <p:boldItalic r:id="rId59"/>
    </p:embeddedFont>
    <p:embeddedFont>
      <p:font typeface="Open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76EDE6-335D-4807-8C5C-3591A90DA23A}">
  <a:tblStyle styleId="{9376EDE6-335D-4807-8C5C-3591A90DA23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OpenSans-italic.fntdata"/><Relationship Id="rId61" Type="http://schemas.openxmlformats.org/officeDocument/2006/relationships/font" Target="fonts/OpenSans-bold.fntdata"/><Relationship Id="rId20" Type="http://schemas.openxmlformats.org/officeDocument/2006/relationships/slide" Target="slides/slide13.xml"/><Relationship Id="rId63" Type="http://schemas.openxmlformats.org/officeDocument/2006/relationships/font" Target="fonts/OpenSans-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OpenSans-regular.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font" Target="fonts/Economica-bold.fntdata"/><Relationship Id="rId52" Type="http://schemas.openxmlformats.org/officeDocument/2006/relationships/font" Target="fonts/Economica-regular.fntdata"/><Relationship Id="rId11" Type="http://schemas.openxmlformats.org/officeDocument/2006/relationships/slide" Target="slides/slide4.xml"/><Relationship Id="rId55" Type="http://schemas.openxmlformats.org/officeDocument/2006/relationships/font" Target="fonts/Economica-boldItalic.fntdata"/><Relationship Id="rId10" Type="http://schemas.openxmlformats.org/officeDocument/2006/relationships/slide" Target="slides/slide3.xml"/><Relationship Id="rId54" Type="http://schemas.openxmlformats.org/officeDocument/2006/relationships/font" Target="fonts/Economica-italic.fntdata"/><Relationship Id="rId13" Type="http://schemas.openxmlformats.org/officeDocument/2006/relationships/slide" Target="slides/slide6.xml"/><Relationship Id="rId57" Type="http://schemas.openxmlformats.org/officeDocument/2006/relationships/font" Target="fonts/Roboto-bold.fntdata"/><Relationship Id="rId12" Type="http://schemas.openxmlformats.org/officeDocument/2006/relationships/slide" Target="slides/slide5.xml"/><Relationship Id="rId56" Type="http://schemas.openxmlformats.org/officeDocument/2006/relationships/font" Target="fonts/Roboto-regular.fntdata"/><Relationship Id="rId15" Type="http://schemas.openxmlformats.org/officeDocument/2006/relationships/slide" Target="slides/slide8.xml"/><Relationship Id="rId59" Type="http://schemas.openxmlformats.org/officeDocument/2006/relationships/font" Target="fonts/Roboto-boldItalic.fntdata"/><Relationship Id="rId14" Type="http://schemas.openxmlformats.org/officeDocument/2006/relationships/slide" Target="slides/slide7.xml"/><Relationship Id="rId58" Type="http://schemas.openxmlformats.org/officeDocument/2006/relationships/font" Target="fonts/Roboto-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57c2e0e68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57c2e0e68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58b0235ba9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58b0235ba9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58b0235ba9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58b0235ba9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58b0235ba9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58b0235ba9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58b0235ba9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58b0235ba9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8b0235ba9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8b0235ba9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58b0235ba9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58b0235ba9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58b0235ba9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58b0235ba9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58b0235ba9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58b0235ba9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58b0235ba9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58b0235ba9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58b0235ba9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58b0235ba9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58b0235ba9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58b0235ba9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57c2e0e68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57c2e0e68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57c2e0e682_0_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57c2e0e682_0_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57c2e0e682_0_1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57c2e0e682_0_1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57c2e0e682_0_2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57c2e0e682_0_2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57c2e0e682_0_2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57c2e0e682_0_2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57c2e0e682_0_2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57c2e0e682_0_2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57c2e0e682_0_2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57c2e0e682_0_2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57c2e0e682_0_2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57c2e0e682_0_2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57c2e0e682_0_2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57c2e0e682_0_2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57c2e0e682_0_2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57c2e0e682_0_2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57c2e0e682_0_2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57c2e0e682_0_2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57c2e0e682_0_2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57c2e0e682_0_2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57c2e0e682_0_2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57c2e0e682_0_2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57c2e0e682_0_2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57c2e0e682_0_2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57c2e0e682_0_2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57c2e0e682_0_2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57c2e0e682_0_2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57c2e0e682_0_2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57c2e0e682_0_2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57c2e0e682_0_2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57c2e0e682_0_2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57c2e0e682_0_2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57c2e0e682_0_2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57c2e0e682_0_2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57c2e0e682_0_2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57c2e0e682_0_2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57c2e0e682_0_2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57c2e0e682_0_2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57c2e0e682_0_2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57c2e0e682_0_2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58b0235ba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58b0235ba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58b0235ba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58b0235ba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58b0235ba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58b0235ba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58b0235ba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58b0235ba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58b0235ba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58b0235ba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58b0235ba9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58b0235ba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58b0235ba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58b0235ba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58b0235ba9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58b0235ba9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58b0235ba9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58b0235ba9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58b0235ba9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58b0235ba9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6" name="Google Shape;56;p14"/>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7" name="Google Shape;57;p14"/>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58" name="Google Shape;58;p14"/>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rtl="0"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rtl="0"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rtl="0"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rtl="0"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rtl="0"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rtl="0"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rtl="0"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rtl="0"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2" name="Google Shape;62;p15"/>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3" name="Google Shape;63;p15"/>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68" name="Google Shape;68;p1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72" name="Google Shape;72;p17"/>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3" name="Google Shape;73;p17"/>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80" name="Google Shape;80;p19"/>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0"/>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sp>
        <p:nvSpPr>
          <p:cNvPr id="87" name="Google Shape;87;p21"/>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9" name="Google Shape;89;p21"/>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chemeClr val="lt2"/>
              </a:buClr>
              <a:buSzPts val="4200"/>
              <a:buNone/>
              <a:defRPr>
                <a:solidFill>
                  <a:schemeClr val="lt2"/>
                </a:solidFill>
              </a:defRPr>
            </a:lvl1pPr>
            <a:lvl2pPr lvl="1" rtl="0" algn="ctr">
              <a:spcBef>
                <a:spcPts val="0"/>
              </a:spcBef>
              <a:spcAft>
                <a:spcPts val="0"/>
              </a:spcAft>
              <a:buClr>
                <a:schemeClr val="lt2"/>
              </a:buClr>
              <a:buSzPts val="4200"/>
              <a:buNone/>
              <a:defRPr>
                <a:solidFill>
                  <a:schemeClr val="lt2"/>
                </a:solidFill>
              </a:defRPr>
            </a:lvl2pPr>
            <a:lvl3pPr lvl="2" rtl="0" algn="ctr">
              <a:spcBef>
                <a:spcPts val="0"/>
              </a:spcBef>
              <a:spcAft>
                <a:spcPts val="0"/>
              </a:spcAft>
              <a:buClr>
                <a:schemeClr val="lt2"/>
              </a:buClr>
              <a:buSzPts val="4200"/>
              <a:buNone/>
              <a:defRPr>
                <a:solidFill>
                  <a:schemeClr val="lt2"/>
                </a:solidFill>
              </a:defRPr>
            </a:lvl3pPr>
            <a:lvl4pPr lvl="3" rtl="0" algn="ctr">
              <a:spcBef>
                <a:spcPts val="0"/>
              </a:spcBef>
              <a:spcAft>
                <a:spcPts val="0"/>
              </a:spcAft>
              <a:buClr>
                <a:schemeClr val="lt2"/>
              </a:buClr>
              <a:buSzPts val="4200"/>
              <a:buNone/>
              <a:defRPr>
                <a:solidFill>
                  <a:schemeClr val="lt2"/>
                </a:solidFill>
              </a:defRPr>
            </a:lvl4pPr>
            <a:lvl5pPr lvl="4" rtl="0" algn="ctr">
              <a:spcBef>
                <a:spcPts val="0"/>
              </a:spcBef>
              <a:spcAft>
                <a:spcPts val="0"/>
              </a:spcAft>
              <a:buClr>
                <a:schemeClr val="lt2"/>
              </a:buClr>
              <a:buSzPts val="4200"/>
              <a:buNone/>
              <a:defRPr>
                <a:solidFill>
                  <a:schemeClr val="lt2"/>
                </a:solidFill>
              </a:defRPr>
            </a:lvl5pPr>
            <a:lvl6pPr lvl="5" rtl="0" algn="ctr">
              <a:spcBef>
                <a:spcPts val="0"/>
              </a:spcBef>
              <a:spcAft>
                <a:spcPts val="0"/>
              </a:spcAft>
              <a:buClr>
                <a:schemeClr val="lt2"/>
              </a:buClr>
              <a:buSzPts val="4200"/>
              <a:buNone/>
              <a:defRPr>
                <a:solidFill>
                  <a:schemeClr val="lt2"/>
                </a:solidFill>
              </a:defRPr>
            </a:lvl6pPr>
            <a:lvl7pPr lvl="6" rtl="0" algn="ctr">
              <a:spcBef>
                <a:spcPts val="0"/>
              </a:spcBef>
              <a:spcAft>
                <a:spcPts val="0"/>
              </a:spcAft>
              <a:buClr>
                <a:schemeClr val="lt2"/>
              </a:buClr>
              <a:buSzPts val="4200"/>
              <a:buNone/>
              <a:defRPr>
                <a:solidFill>
                  <a:schemeClr val="lt2"/>
                </a:solidFill>
              </a:defRPr>
            </a:lvl7pPr>
            <a:lvl8pPr lvl="7" rtl="0" algn="ctr">
              <a:spcBef>
                <a:spcPts val="0"/>
              </a:spcBef>
              <a:spcAft>
                <a:spcPts val="0"/>
              </a:spcAft>
              <a:buClr>
                <a:schemeClr val="lt2"/>
              </a:buClr>
              <a:buSzPts val="4200"/>
              <a:buNone/>
              <a:defRPr>
                <a:solidFill>
                  <a:schemeClr val="lt2"/>
                </a:solidFill>
              </a:defRPr>
            </a:lvl8pPr>
            <a:lvl9pPr lvl="8" rtl="0" algn="ctr">
              <a:spcBef>
                <a:spcPts val="0"/>
              </a:spcBef>
              <a:spcAft>
                <a:spcPts val="0"/>
              </a:spcAft>
              <a:buClr>
                <a:schemeClr val="lt2"/>
              </a:buClr>
              <a:buSzPts val="4200"/>
              <a:buNone/>
              <a:defRPr>
                <a:solidFill>
                  <a:schemeClr val="lt2"/>
                </a:solidFill>
              </a:defRPr>
            </a:lvl9pPr>
          </a:lstStyle>
          <a:p/>
        </p:txBody>
      </p:sp>
      <p:sp>
        <p:nvSpPr>
          <p:cNvPr id="90" name="Google Shape;90;p21"/>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rtl="0"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rtl="0"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rtl="0"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rtl="0"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rtl="0"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rtl="0"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rtl="0"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rtl="0"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91" name="Google Shape;91;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92" name="Google Shape;9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22"/>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95" name="Google Shape;9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sp>
        <p:nvSpPr>
          <p:cNvPr id="97" name="Google Shape;97;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2"/>
              </a:buClr>
              <a:buSzPts val="16000"/>
              <a:buNone/>
              <a:defRPr sz="16000">
                <a:solidFill>
                  <a:schemeClr val="lt2"/>
                </a:solidFill>
              </a:defRPr>
            </a:lvl1pPr>
            <a:lvl2pPr lvl="1" rtl="0" algn="ctr">
              <a:spcBef>
                <a:spcPts val="0"/>
              </a:spcBef>
              <a:spcAft>
                <a:spcPts val="0"/>
              </a:spcAft>
              <a:buClr>
                <a:schemeClr val="lt2"/>
              </a:buClr>
              <a:buSzPts val="16000"/>
              <a:buNone/>
              <a:defRPr sz="16000">
                <a:solidFill>
                  <a:schemeClr val="lt2"/>
                </a:solidFill>
              </a:defRPr>
            </a:lvl2pPr>
            <a:lvl3pPr lvl="2" rtl="0" algn="ctr">
              <a:spcBef>
                <a:spcPts val="0"/>
              </a:spcBef>
              <a:spcAft>
                <a:spcPts val="0"/>
              </a:spcAft>
              <a:buClr>
                <a:schemeClr val="lt2"/>
              </a:buClr>
              <a:buSzPts val="16000"/>
              <a:buNone/>
              <a:defRPr sz="16000">
                <a:solidFill>
                  <a:schemeClr val="lt2"/>
                </a:solidFill>
              </a:defRPr>
            </a:lvl3pPr>
            <a:lvl4pPr lvl="3" rtl="0" algn="ctr">
              <a:spcBef>
                <a:spcPts val="0"/>
              </a:spcBef>
              <a:spcAft>
                <a:spcPts val="0"/>
              </a:spcAft>
              <a:buClr>
                <a:schemeClr val="lt2"/>
              </a:buClr>
              <a:buSzPts val="16000"/>
              <a:buNone/>
              <a:defRPr sz="16000">
                <a:solidFill>
                  <a:schemeClr val="lt2"/>
                </a:solidFill>
              </a:defRPr>
            </a:lvl4pPr>
            <a:lvl5pPr lvl="4" rtl="0" algn="ctr">
              <a:spcBef>
                <a:spcPts val="0"/>
              </a:spcBef>
              <a:spcAft>
                <a:spcPts val="0"/>
              </a:spcAft>
              <a:buClr>
                <a:schemeClr val="lt2"/>
              </a:buClr>
              <a:buSzPts val="16000"/>
              <a:buNone/>
              <a:defRPr sz="16000">
                <a:solidFill>
                  <a:schemeClr val="lt2"/>
                </a:solidFill>
              </a:defRPr>
            </a:lvl5pPr>
            <a:lvl6pPr lvl="5" rtl="0" algn="ctr">
              <a:spcBef>
                <a:spcPts val="0"/>
              </a:spcBef>
              <a:spcAft>
                <a:spcPts val="0"/>
              </a:spcAft>
              <a:buClr>
                <a:schemeClr val="lt2"/>
              </a:buClr>
              <a:buSzPts val="16000"/>
              <a:buNone/>
              <a:defRPr sz="16000">
                <a:solidFill>
                  <a:schemeClr val="lt2"/>
                </a:solidFill>
              </a:defRPr>
            </a:lvl6pPr>
            <a:lvl7pPr lvl="6" rtl="0" algn="ctr">
              <a:spcBef>
                <a:spcPts val="0"/>
              </a:spcBef>
              <a:spcAft>
                <a:spcPts val="0"/>
              </a:spcAft>
              <a:buClr>
                <a:schemeClr val="lt2"/>
              </a:buClr>
              <a:buSzPts val="16000"/>
              <a:buNone/>
              <a:defRPr sz="16000">
                <a:solidFill>
                  <a:schemeClr val="lt2"/>
                </a:solidFill>
              </a:defRPr>
            </a:lvl7pPr>
            <a:lvl8pPr lvl="7" rtl="0" algn="ctr">
              <a:spcBef>
                <a:spcPts val="0"/>
              </a:spcBef>
              <a:spcAft>
                <a:spcPts val="0"/>
              </a:spcAft>
              <a:buClr>
                <a:schemeClr val="lt2"/>
              </a:buClr>
              <a:buSzPts val="16000"/>
              <a:buNone/>
              <a:defRPr sz="16000">
                <a:solidFill>
                  <a:schemeClr val="lt2"/>
                </a:solidFill>
              </a:defRPr>
            </a:lvl8pPr>
            <a:lvl9pPr lvl="8" rtl="0" algn="ctr">
              <a:spcBef>
                <a:spcPts val="0"/>
              </a:spcBef>
              <a:spcAft>
                <a:spcPts val="0"/>
              </a:spcAft>
              <a:buClr>
                <a:schemeClr val="lt2"/>
              </a:buClr>
              <a:buSzPts val="16000"/>
              <a:buNone/>
              <a:defRPr sz="16000">
                <a:solidFill>
                  <a:schemeClr val="lt2"/>
                </a:solidFill>
              </a:defRPr>
            </a:lvl9pPr>
          </a:lstStyle>
          <a:p>
            <a:r>
              <a:t>xx%</a:t>
            </a:r>
          </a:p>
        </p:txBody>
      </p:sp>
      <p:sp>
        <p:nvSpPr>
          <p:cNvPr id="99" name="Google Shape;99;p23"/>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00" name="Google Shape;10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52" name="Google Shape;52;p1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rtl="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1"/>
                </a:solidFill>
                <a:latin typeface="Economica"/>
                <a:ea typeface="Economica"/>
                <a:cs typeface="Economica"/>
                <a:sym typeface="Economica"/>
              </a:defRPr>
            </a:lvl1pPr>
            <a:lvl2pPr lvl="1" rtl="0" algn="r">
              <a:buNone/>
              <a:defRPr sz="1000">
                <a:solidFill>
                  <a:schemeClr val="dk1"/>
                </a:solidFill>
                <a:latin typeface="Economica"/>
                <a:ea typeface="Economica"/>
                <a:cs typeface="Economica"/>
                <a:sym typeface="Economica"/>
              </a:defRPr>
            </a:lvl2pPr>
            <a:lvl3pPr lvl="2" rtl="0" algn="r">
              <a:buNone/>
              <a:defRPr sz="1000">
                <a:solidFill>
                  <a:schemeClr val="dk1"/>
                </a:solidFill>
                <a:latin typeface="Economica"/>
                <a:ea typeface="Economica"/>
                <a:cs typeface="Economica"/>
                <a:sym typeface="Economica"/>
              </a:defRPr>
            </a:lvl3pPr>
            <a:lvl4pPr lvl="3" rtl="0" algn="r">
              <a:buNone/>
              <a:defRPr sz="1000">
                <a:solidFill>
                  <a:schemeClr val="dk1"/>
                </a:solidFill>
                <a:latin typeface="Economica"/>
                <a:ea typeface="Economica"/>
                <a:cs typeface="Economica"/>
                <a:sym typeface="Economica"/>
              </a:defRPr>
            </a:lvl4pPr>
            <a:lvl5pPr lvl="4" rtl="0" algn="r">
              <a:buNone/>
              <a:defRPr sz="1000">
                <a:solidFill>
                  <a:schemeClr val="dk1"/>
                </a:solidFill>
                <a:latin typeface="Economica"/>
                <a:ea typeface="Economica"/>
                <a:cs typeface="Economica"/>
                <a:sym typeface="Economica"/>
              </a:defRPr>
            </a:lvl5pPr>
            <a:lvl6pPr lvl="5" rtl="0" algn="r">
              <a:buNone/>
              <a:defRPr sz="1000">
                <a:solidFill>
                  <a:schemeClr val="dk1"/>
                </a:solidFill>
                <a:latin typeface="Economica"/>
                <a:ea typeface="Economica"/>
                <a:cs typeface="Economica"/>
                <a:sym typeface="Economica"/>
              </a:defRPr>
            </a:lvl6pPr>
            <a:lvl7pPr lvl="6" rtl="0" algn="r">
              <a:buNone/>
              <a:defRPr sz="1000">
                <a:solidFill>
                  <a:schemeClr val="dk1"/>
                </a:solidFill>
                <a:latin typeface="Economica"/>
                <a:ea typeface="Economica"/>
                <a:cs typeface="Economica"/>
                <a:sym typeface="Economica"/>
              </a:defRPr>
            </a:lvl7pPr>
            <a:lvl8pPr lvl="7" rtl="0" algn="r">
              <a:buNone/>
              <a:defRPr sz="1000">
                <a:solidFill>
                  <a:schemeClr val="dk1"/>
                </a:solidFill>
                <a:latin typeface="Economica"/>
                <a:ea typeface="Economica"/>
                <a:cs typeface="Economica"/>
                <a:sym typeface="Economica"/>
              </a:defRPr>
            </a:lvl8pPr>
            <a:lvl9pPr lvl="8" rtl="0"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8.jpg"/><Relationship Id="rId4" Type="http://schemas.openxmlformats.org/officeDocument/2006/relationships/image" Target="../media/image3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0.png"/><Relationship Id="rId6" Type="http://schemas.openxmlformats.org/officeDocument/2006/relationships/image" Target="../media/image21.png"/><Relationship Id="rId7" Type="http://schemas.openxmlformats.org/officeDocument/2006/relationships/image" Target="../media/image12.png"/><Relationship Id="rId8"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0.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6.png"/><Relationship Id="rId7"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1.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32.png"/><Relationship Id="rId6" Type="http://schemas.openxmlformats.org/officeDocument/2006/relationships/image" Target="../media/image19.png"/><Relationship Id="rId7"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2.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4.xml"/><Relationship Id="rId3"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5"/>
          <p:cNvSpPr txBox="1"/>
          <p:nvPr>
            <p:ph type="ctrTitle"/>
          </p:nvPr>
        </p:nvSpPr>
        <p:spPr>
          <a:xfrm>
            <a:off x="3044700" y="832322"/>
            <a:ext cx="3054600" cy="253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t>Supervisor</a:t>
            </a:r>
            <a:r>
              <a:rPr lang="en" sz="2400"/>
              <a:t> : </a:t>
            </a:r>
            <a:endParaRPr sz="2400"/>
          </a:p>
          <a:p>
            <a:pPr indent="0" lvl="0" marL="0" rtl="0" algn="ctr">
              <a:spcBef>
                <a:spcPts val="0"/>
              </a:spcBef>
              <a:spcAft>
                <a:spcPts val="0"/>
              </a:spcAft>
              <a:buNone/>
            </a:pPr>
            <a:r>
              <a:rPr lang="en" sz="2400"/>
              <a:t>Prof. Haripriya Gundimeda, Department of Economics, </a:t>
            </a:r>
            <a:endParaRPr sz="2400"/>
          </a:p>
          <a:p>
            <a:pPr indent="0" lvl="0" marL="0" rtl="0" algn="ctr">
              <a:spcBef>
                <a:spcPts val="0"/>
              </a:spcBef>
              <a:spcAft>
                <a:spcPts val="0"/>
              </a:spcAft>
              <a:buClr>
                <a:schemeClr val="dk1"/>
              </a:buClr>
              <a:buSzPts val="1100"/>
              <a:buFont typeface="Arial"/>
              <a:buNone/>
            </a:pPr>
            <a:r>
              <a:rPr lang="en" sz="2400"/>
              <a:t>IIT Bombay</a:t>
            </a:r>
            <a:endParaRPr sz="2400"/>
          </a:p>
          <a:p>
            <a:pPr indent="0" lvl="0" marL="0" rtl="0" algn="ctr">
              <a:spcBef>
                <a:spcPts val="0"/>
              </a:spcBef>
              <a:spcAft>
                <a:spcPts val="0"/>
              </a:spcAft>
              <a:buClr>
                <a:schemeClr val="dk1"/>
              </a:buClr>
              <a:buSzPts val="1100"/>
              <a:buFont typeface="Arial"/>
              <a:buNone/>
            </a:pPr>
            <a:r>
              <a:t/>
            </a:r>
            <a:endParaRPr sz="2100"/>
          </a:p>
          <a:p>
            <a:pPr indent="0" lvl="0" marL="0" rtl="0" algn="ctr">
              <a:spcBef>
                <a:spcPts val="0"/>
              </a:spcBef>
              <a:spcAft>
                <a:spcPts val="0"/>
              </a:spcAft>
              <a:buClr>
                <a:schemeClr val="dk1"/>
              </a:buClr>
              <a:buSzPts val="1100"/>
              <a:buFont typeface="Arial"/>
              <a:buNone/>
            </a:pPr>
            <a:r>
              <a:rPr lang="en" sz="2400"/>
              <a:t>Submitted by: Sharang Mantri, 18B080022</a:t>
            </a:r>
            <a:endParaRPr sz="4500"/>
          </a:p>
        </p:txBody>
      </p:sp>
      <p:sp>
        <p:nvSpPr>
          <p:cNvPr id="108" name="Google Shape;108;p25"/>
          <p:cNvSpPr txBox="1"/>
          <p:nvPr>
            <p:ph idx="1" type="subTitle"/>
          </p:nvPr>
        </p:nvSpPr>
        <p:spPr>
          <a:xfrm>
            <a:off x="3091600" y="3468280"/>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700"/>
              <a:t>B.S. Project</a:t>
            </a:r>
            <a:endParaRPr sz="2700"/>
          </a:p>
        </p:txBody>
      </p:sp>
      <p:pic>
        <p:nvPicPr>
          <p:cNvPr id="109" name="Google Shape;109;p25"/>
          <p:cNvPicPr preferRelativeResize="0"/>
          <p:nvPr/>
        </p:nvPicPr>
        <p:blipFill>
          <a:blip r:embed="rId3">
            <a:alphaModFix/>
          </a:blip>
          <a:stretch>
            <a:fillRect/>
          </a:stretch>
        </p:blipFill>
        <p:spPr>
          <a:xfrm>
            <a:off x="152400" y="152400"/>
            <a:ext cx="2470025" cy="2470025"/>
          </a:xfrm>
          <a:prstGeom prst="rect">
            <a:avLst/>
          </a:prstGeom>
          <a:noFill/>
          <a:ln>
            <a:noFill/>
          </a:ln>
        </p:spPr>
      </p:pic>
      <p:pic>
        <p:nvPicPr>
          <p:cNvPr id="110" name="Google Shape;110;p25"/>
          <p:cNvPicPr preferRelativeResize="0"/>
          <p:nvPr/>
        </p:nvPicPr>
        <p:blipFill>
          <a:blip r:embed="rId4">
            <a:alphaModFix/>
          </a:blip>
          <a:stretch>
            <a:fillRect/>
          </a:stretch>
        </p:blipFill>
        <p:spPr>
          <a:xfrm>
            <a:off x="6612074" y="2551025"/>
            <a:ext cx="2531926" cy="253589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6"/>
          <p:cNvSpPr txBox="1"/>
          <p:nvPr/>
        </p:nvSpPr>
        <p:spPr>
          <a:xfrm>
            <a:off x="177350" y="126675"/>
            <a:ext cx="8817600" cy="477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Times New Roman"/>
                <a:ea typeface="Times New Roman"/>
                <a:cs typeface="Times New Roman"/>
                <a:sym typeface="Times New Roman"/>
              </a:rPr>
              <a:t>Problem Statement</a:t>
            </a:r>
            <a:endParaRPr sz="24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800">
                <a:latin typeface="Times New Roman"/>
                <a:ea typeface="Times New Roman"/>
                <a:cs typeface="Times New Roman"/>
                <a:sym typeface="Times New Roman"/>
              </a:rPr>
              <a:t>In 2022, there was considerable debate about whether the USD was strengthening or INR was losing its value. Through this study, we want to examine and comment on the debate, with the help of the econometrics model, along with finding out about the macroeconomic variables which affect the value of the INR/USD exchange rate with particular emphasis given to the time of high volatility in INR/USD and recommend the policies to counter the high volatility of the INR/USD exchange rate.</a:t>
            </a: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7"/>
          <p:cNvSpPr txBox="1"/>
          <p:nvPr/>
        </p:nvSpPr>
        <p:spPr>
          <a:xfrm>
            <a:off x="139350" y="126675"/>
            <a:ext cx="8880900" cy="483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Times New Roman"/>
                <a:ea typeface="Times New Roman"/>
                <a:cs typeface="Times New Roman"/>
                <a:sym typeface="Times New Roman"/>
              </a:rPr>
              <a:t>Introduction </a:t>
            </a:r>
            <a:endParaRPr sz="24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To examine the various macroeconomic variables which affect the INR/USD exchange rate value and cause of its volatility</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The volatility in INR/USD has increased over time with more integration of Indian economy with rest of the world and a excessive volatility can cause damage to the growth of economy</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India follows flexible exchange rate system post 92’ with the interference from RBI from time to time to counter high volatility in INR depreciation</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Ehrmann, Fratzscher, &amp; Rigobon (2011) underlined "the dominance of U.S. markets as the main driver of global financial markets: U.S. financial markets explain, on average, more than 25% of movements in euro area financial markets, whereas euro area markets account only for about 8% of U.S. asset price changes." With India expected to be one of the fastest-growing economies in the 2020s, we examine how various economic factors, which, according to economic theory, affect the exchange rate and thus affect the investment pattern in India.</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8"/>
          <p:cNvSpPr txBox="1"/>
          <p:nvPr/>
        </p:nvSpPr>
        <p:spPr>
          <a:xfrm>
            <a:off x="139350" y="114025"/>
            <a:ext cx="8880900" cy="47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Times New Roman"/>
                <a:ea typeface="Times New Roman"/>
                <a:cs typeface="Times New Roman"/>
                <a:sym typeface="Times New Roman"/>
              </a:rPr>
              <a:t>Literature Review</a:t>
            </a:r>
            <a:endParaRPr sz="24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Mirachandani (2012) and Khera and Singh (2015) uses uses Pearson's correlation analysis</a:t>
            </a:r>
            <a:endParaRPr sz="18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 sz="1800">
                <a:solidFill>
                  <a:schemeClr val="dk1"/>
                </a:solidFill>
                <a:latin typeface="Times New Roman"/>
                <a:ea typeface="Times New Roman"/>
                <a:cs typeface="Times New Roman"/>
                <a:sym typeface="Times New Roman"/>
              </a:rPr>
              <a:t>between 1991 to 2010 and 2012 respectively for yearly data to comment on </a:t>
            </a:r>
            <a:r>
              <a:rPr lang="en" sz="1800">
                <a:solidFill>
                  <a:schemeClr val="dk1"/>
                </a:solidFill>
                <a:latin typeface="Times New Roman"/>
                <a:ea typeface="Times New Roman"/>
                <a:cs typeface="Times New Roman"/>
                <a:sym typeface="Times New Roman"/>
              </a:rPr>
              <a:t>movement</a:t>
            </a:r>
            <a:r>
              <a:rPr lang="en" sz="1800">
                <a:solidFill>
                  <a:schemeClr val="dk1"/>
                </a:solidFill>
                <a:latin typeface="Times New Roman"/>
                <a:ea typeface="Times New Roman"/>
                <a:cs typeface="Times New Roman"/>
                <a:sym typeface="Times New Roman"/>
              </a:rPr>
              <a:t> of INR/USD based on macroeconomic variables.</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Both authors find negative relation between INR/USD and inflation rate, lending interest rate and significant, while, </a:t>
            </a:r>
            <a:r>
              <a:rPr lang="en" sz="1800">
                <a:solidFill>
                  <a:schemeClr val="dk1"/>
                </a:solidFill>
                <a:latin typeface="Times New Roman"/>
                <a:ea typeface="Times New Roman"/>
                <a:cs typeface="Times New Roman"/>
                <a:sym typeface="Times New Roman"/>
              </a:rPr>
              <a:t>Mirachandani (2012) finds current account deficit to to have negative but insignificant correlation while Khera and Singh (2015) find current account deficit to to have negative but significant</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Both authors find positive relation between INR/USD and GDP, FDI.</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Both authors do not check for any biases due to the such as reverse causality and omitted variable bias due to consideration of linear relation.</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Use of annual data does not capture the volatility caused within the short term period</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Khera and Singh (2015) considers devaluation of INR/USD negative for Indian economy at any rate, and provides policy measures without taking into account the broader impact of the policy i.e ignores the other two factors inflation and economic development in RBI trifacta.</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t/>
            </a:r>
            <a:endParaRPr sz="311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9"/>
          <p:cNvSpPr txBox="1"/>
          <p:nvPr/>
        </p:nvSpPr>
        <p:spPr>
          <a:xfrm>
            <a:off x="114025" y="126675"/>
            <a:ext cx="8956800" cy="4839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Suthar (2008), Sinha and Kohli (2013), Murari and Sharma (2013), Bhandari (2014), Thakur et al. (2016), and Williams et al. (2019)  all uses linear regression method to determine the relation between macroeconomic variables and INR/USD.</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While </a:t>
            </a:r>
            <a:r>
              <a:rPr lang="en" sz="1800">
                <a:solidFill>
                  <a:schemeClr val="dk1"/>
                </a:solidFill>
                <a:latin typeface="Times New Roman"/>
                <a:ea typeface="Times New Roman"/>
                <a:cs typeface="Times New Roman"/>
                <a:sym typeface="Times New Roman"/>
              </a:rPr>
              <a:t>Suthar (2008) uses monthly time series data between Apr 96’ to June 07’ others uses yearly data between 90’ to 12’, 01’ to 13’, 00’ to 13’, 05’to 15’, 00’ to 18’ respectively.</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solidFill>
                  <a:schemeClr val="dk1"/>
                </a:solidFill>
                <a:latin typeface="Times New Roman"/>
                <a:ea typeface="Times New Roman"/>
                <a:cs typeface="Times New Roman"/>
                <a:sym typeface="Times New Roman"/>
              </a:rPr>
              <a:t>Suthar (2008) finds negative correlation between INR/USD and call rate and bank rate, foreign exchange reserve and Long term and short term government security bond differentials, change in money supply have insignificant effect on determination of INR/USD</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Sinha and Kohli (2013) finds significance between USD/INR, Stock return, oil prices and GDP, BSE IT and BSE Oil &amp; Gas have no significant relationship with USD/INR for period of Jan 06’ to Mar 12’, inflation differential, lending interest rate, current account deficit as % of GDP, public debt have considerable effect on USD/INR between period 1990 to 2011 and GDP to have negative relation with USD/INR.</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Murari and Sharma (2013) finds that INR/USD is highly correlated to money supply, trade balance, inflation and interest rate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0"/>
          <p:cNvSpPr txBox="1"/>
          <p:nvPr/>
        </p:nvSpPr>
        <p:spPr>
          <a:xfrm>
            <a:off x="240700" y="190025"/>
            <a:ext cx="8779500" cy="4738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Bhandari (2014) finds GDP, export growth, money supply, and FIIs have a negative correlation and FDI and Inflation have a positive relation with INR exchange rate</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Thakur et al. (2016) finds high positive correlation </a:t>
            </a:r>
            <a:r>
              <a:rPr lang="en" sz="1800">
                <a:latin typeface="Times New Roman"/>
                <a:ea typeface="Times New Roman"/>
                <a:cs typeface="Times New Roman"/>
                <a:sym typeface="Times New Roman"/>
              </a:rPr>
              <a:t>between INR/USD and</a:t>
            </a:r>
            <a:r>
              <a:rPr lang="en" sz="1800">
                <a:latin typeface="Times New Roman"/>
                <a:ea typeface="Times New Roman"/>
                <a:cs typeface="Times New Roman"/>
                <a:sym typeface="Times New Roman"/>
              </a:rPr>
              <a:t> external debt and GDP, mild positive correlation between FDI and INR/USD, negative relation between INR/USD and </a:t>
            </a:r>
            <a:r>
              <a:rPr lang="en" sz="1800">
                <a:latin typeface="Times New Roman"/>
                <a:ea typeface="Times New Roman"/>
                <a:cs typeface="Times New Roman"/>
                <a:sym typeface="Times New Roman"/>
              </a:rPr>
              <a:t>interest</a:t>
            </a:r>
            <a:r>
              <a:rPr lang="en" sz="1800">
                <a:latin typeface="Times New Roman"/>
                <a:ea typeface="Times New Roman"/>
                <a:cs typeface="Times New Roman"/>
                <a:sym typeface="Times New Roman"/>
              </a:rPr>
              <a:t> rate and no correlation between inflation and INR/USD</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Williams et al. (2019)  finds that current account balance, net trade, and personal remittances have e</a:t>
            </a:r>
            <a:r>
              <a:rPr lang="en" sz="1800">
                <a:latin typeface="Times New Roman"/>
                <a:ea typeface="Times New Roman"/>
                <a:cs typeface="Times New Roman"/>
                <a:sym typeface="Times New Roman"/>
              </a:rPr>
              <a:t>ffect</a:t>
            </a:r>
            <a:r>
              <a:rPr lang="en" sz="1800">
                <a:latin typeface="Times New Roman"/>
                <a:ea typeface="Times New Roman"/>
                <a:cs typeface="Times New Roman"/>
                <a:sym typeface="Times New Roman"/>
              </a:rPr>
              <a:t> on currency fluctuations of INR, JPY, mild </a:t>
            </a:r>
            <a:r>
              <a:rPr lang="en" sz="1800">
                <a:latin typeface="Times New Roman"/>
                <a:ea typeface="Times New Roman"/>
                <a:cs typeface="Times New Roman"/>
                <a:sym typeface="Times New Roman"/>
              </a:rPr>
              <a:t>effect</a:t>
            </a:r>
            <a:r>
              <a:rPr lang="en" sz="1800">
                <a:latin typeface="Times New Roman"/>
                <a:ea typeface="Times New Roman"/>
                <a:cs typeface="Times New Roman"/>
                <a:sym typeface="Times New Roman"/>
              </a:rPr>
              <a:t> on CNY and no effect no KRW. </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All the authors except Suthur (2008) uses yearly data and therefore fails to capture short term volatility.</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All authors considers linear relation and does not check for any biases arriving due to the consideration</a:t>
            </a:r>
            <a:endParaRPr sz="18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1"/>
          <p:cNvSpPr txBox="1"/>
          <p:nvPr/>
        </p:nvSpPr>
        <p:spPr>
          <a:xfrm>
            <a:off x="190025" y="152025"/>
            <a:ext cx="8804700" cy="4788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Dua and Sen (2006), Mallick (2010), Hsingh (2015), Gupta and Mishra (2017), Jain et al. (2016), Kumar and Aluvala (2020) all use appropriate Time series methods and test to find relation between INR/USD and macroeconomic variables.</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Dua and Sen (2006) using ADF test, </a:t>
            </a:r>
            <a:r>
              <a:rPr lang="en" sz="1800">
                <a:latin typeface="Times New Roman"/>
                <a:ea typeface="Times New Roman"/>
                <a:cs typeface="Times New Roman"/>
                <a:sym typeface="Times New Roman"/>
              </a:rPr>
              <a:t>Johansen</a:t>
            </a:r>
            <a:r>
              <a:rPr lang="en" sz="1800">
                <a:latin typeface="Times New Roman"/>
                <a:ea typeface="Times New Roman"/>
                <a:cs typeface="Times New Roman"/>
                <a:sym typeface="Times New Roman"/>
              </a:rPr>
              <a:t> cointegration test and Vector Error Correction Model (VECM) to find that variables level of capital inflows and their volatility, government expenditure, current account surplus and money supply for Indian economy are cointegrated and affects REER for </a:t>
            </a:r>
            <a:r>
              <a:rPr lang="en" sz="1800">
                <a:latin typeface="Times New Roman"/>
                <a:ea typeface="Times New Roman"/>
                <a:cs typeface="Times New Roman"/>
                <a:sym typeface="Times New Roman"/>
              </a:rPr>
              <a:t>quarterly</a:t>
            </a:r>
            <a:r>
              <a:rPr lang="en" sz="1800">
                <a:latin typeface="Times New Roman"/>
                <a:ea typeface="Times New Roman"/>
                <a:cs typeface="Times New Roman"/>
                <a:sym typeface="Times New Roman"/>
              </a:rPr>
              <a:t> data between 1993 Q2 to 2004 Q1</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solidFill>
                  <a:schemeClr val="dk1"/>
                </a:solidFill>
                <a:latin typeface="Times New Roman"/>
                <a:ea typeface="Times New Roman"/>
                <a:cs typeface="Times New Roman"/>
                <a:sym typeface="Times New Roman"/>
              </a:rPr>
              <a:t>Mallick (2010) using unit root test and Stock-Watson model for monthly time series data between 1996 to 2007 finds FIIs, growth rate differentials, money supply, real bank credit and 3-month forward premium rate affect INR/USD exchange rate.</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Hsingh (2015) using yearly time series between year 1976 and 2013 through  simultaneous-equation model of demand and supply using the 2SLS method for estimation and EGARCH model to estimate the conditional variance of the exchange rate finds INR/USD positively related to US real government bond yield, Indian real GDP, US real stock prices and expected INR/USD exchange rate, and negatively related to Indian real Interest rate, US real GDP and Indian real stock prices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2"/>
          <p:cNvSpPr txBox="1"/>
          <p:nvPr/>
        </p:nvSpPr>
        <p:spPr>
          <a:xfrm>
            <a:off x="139350" y="101350"/>
            <a:ext cx="8830200" cy="4864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Jain et al. (2016) using DCC-GARCH model and non linear causality test for yearly time series of 2006 to 2015 finds correlation between crude prices and INR/USD, and concludes that fall of gold prices leads to depreciation of INR which causes fall of Sensex 30 and fall of crude causes depreciation of INR which causes fall of Sensex 30</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Gupta and Mishra (2017) using ADF test, Johansen cointegration test and VECM for yearly time series between 1993 to 2014 finds differential Interest rate,differential GDP and differential Inflation affect USD/INR in long run and no affect by differential GDP and differential Inflation in short run unlike differential Interest rate</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Kumar and Aluvala (2020) using ANOVA finds that Inflation and Import growth explains USD/INR </a:t>
            </a:r>
            <a:r>
              <a:rPr lang="en" sz="1800">
                <a:latin typeface="Times New Roman"/>
                <a:ea typeface="Times New Roman"/>
                <a:cs typeface="Times New Roman"/>
                <a:sym typeface="Times New Roman"/>
              </a:rPr>
              <a:t>movement</a:t>
            </a:r>
            <a:r>
              <a:rPr lang="en" sz="1800">
                <a:latin typeface="Times New Roman"/>
                <a:ea typeface="Times New Roman"/>
                <a:cs typeface="Times New Roman"/>
                <a:sym typeface="Times New Roman"/>
              </a:rPr>
              <a:t> while GDP, export growth and call money rate have no significance.</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Except Mallick (2010), Dua and Sen (2006) all authors uses yearly time series data thus </a:t>
            </a:r>
            <a:r>
              <a:rPr lang="en" sz="1800">
                <a:latin typeface="Times New Roman"/>
                <a:ea typeface="Times New Roman"/>
                <a:cs typeface="Times New Roman"/>
                <a:sym typeface="Times New Roman"/>
              </a:rPr>
              <a:t>considerably reducing affect of volatility capture</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All authors czech for stationarity and errors which would have arised if linear model would have been used.</a:t>
            </a:r>
            <a:endParaRPr sz="18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3"/>
          <p:cNvSpPr txBox="1"/>
          <p:nvPr/>
        </p:nvSpPr>
        <p:spPr>
          <a:xfrm>
            <a:off x="139350" y="101350"/>
            <a:ext cx="8855400" cy="4839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QuangMy and Sayim (2016) using Enter and Stepwise multiple regression method for quarterly time series data between 2005 to 2015 finds USD/INR has negative relation with FDI, trade balance, and national reserves and Positive relation with public debt of India.</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They also work on exchange rate of USD/CNY, USD/BRL, and USD/MNX apart from USD/INR and finds different relation for all 4 developing countries wrt USD</a:t>
            </a:r>
            <a:endParaRPr sz="1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4"/>
          <p:cNvSpPr txBox="1"/>
          <p:nvPr/>
        </p:nvSpPr>
        <p:spPr>
          <a:xfrm>
            <a:off x="177350" y="126675"/>
            <a:ext cx="8868000" cy="4814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Jaiswal (2022), using daily data between April 2, 2002 to May 29, 2020 in RBI working paper using recently developed methods of causality-in-quantile test by Nishiyama et al. and Jeong et al finds that:</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WTI oil predicts exchange rate for much better quantile range than brent oil but in variance brent prices are better in prediction</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Gold prices predict exchange rate at almost all quantiles except at tail ends</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BSE and NSE index also predict exchange rate at all quantile while BSE predicts variance much better that NSE index, S&amp;P 500, MSCI, FTSE 250 predicts and affects volatility heavily</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India VIX predicts for whole range while S&amp;P 500 predicts for 0.15 to 0.8 quantile range</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5"/>
          <p:cNvSpPr txBox="1"/>
          <p:nvPr/>
        </p:nvSpPr>
        <p:spPr>
          <a:xfrm>
            <a:off x="228025" y="202700"/>
            <a:ext cx="8716200" cy="4940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Results of most of the study are in line with the economic theory except few like that of Jain et al. (2016)  which tells that fall in crude prices lead to depreciation of INR and the  fall of BSE 30, though many of the study only consider linear relationship between exchange rate and the macroeconomic variable and does not check for any  biases due to that</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Relationship with GDP is difficult to predict as authors have given results in which GDP affects INR/USD in positive, negative way with correlation and is also insignificant in that</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Most of the study have used yearly time series data for the analysis and thus those studies are not able to comment on the short term volatility either mathematically or theoretically</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Except Dua and Sen (2006), Mallick (2010) all early studies uses linear models without considering stationarity and cointegration factors</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Most studies have regarded depreciation of INR as bad for economy, and have suggested the policy only with respect to improving the valuation of INR not concentrating on inflation and economic affect of it as they are part of trilemma as defined by Pushpa Trivedi and Harpreet Singh (2022)</a:t>
            </a:r>
            <a:endParaRPr sz="18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6"/>
          <p:cNvSpPr txBox="1"/>
          <p:nvPr/>
        </p:nvSpPr>
        <p:spPr>
          <a:xfrm>
            <a:off x="152025" y="126675"/>
            <a:ext cx="8880900" cy="473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Times New Roman"/>
                <a:ea typeface="Times New Roman"/>
                <a:cs typeface="Times New Roman"/>
                <a:sym typeface="Times New Roman"/>
              </a:rPr>
              <a:t>Research Gap</a:t>
            </a:r>
            <a:endParaRPr sz="24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India used Pegged Regime from 71’ to 92’ and Par value system from 47’ to 71’ prior to liberalization which does not show the proper currency exchange rate with respect to market conditions and thus change in macroeconomic factors post liberalization might not show proper effect due to already overvalued INR.</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Most studies took into account east asia crisis, dotcom bubble crisis, 2008 recession and eurozone debt crisis, no study mention the spillover effects caused by the stopping on subsidies of petrol and diesel permanently on June’10 and Oct’14 which caused heavy volatility at that time combining with eurozone debt crisis.</a:t>
            </a:r>
            <a:endParaRPr sz="18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37"/>
          <p:cNvGrpSpPr/>
          <p:nvPr/>
        </p:nvGrpSpPr>
        <p:grpSpPr>
          <a:xfrm>
            <a:off x="4561725" y="12"/>
            <a:ext cx="2286000" cy="4786265"/>
            <a:chOff x="0" y="2295575"/>
            <a:chExt cx="2286000" cy="2847950"/>
          </a:xfrm>
        </p:grpSpPr>
        <p:grpSp>
          <p:nvGrpSpPr>
            <p:cNvPr id="171" name="Google Shape;171;p37"/>
            <p:cNvGrpSpPr/>
            <p:nvPr/>
          </p:nvGrpSpPr>
          <p:grpSpPr>
            <a:xfrm>
              <a:off x="0" y="2295575"/>
              <a:ext cx="2286000" cy="2847950"/>
              <a:chOff x="0" y="2295575"/>
              <a:chExt cx="2286000" cy="2847950"/>
            </a:xfrm>
          </p:grpSpPr>
          <p:sp>
            <p:nvSpPr>
              <p:cNvPr id="172" name="Google Shape;172;p37"/>
              <p:cNvSpPr/>
              <p:nvPr/>
            </p:nvSpPr>
            <p:spPr>
              <a:xfrm>
                <a:off x="0" y="2823925"/>
                <a:ext cx="2286000" cy="23196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7"/>
              <p:cNvSpPr/>
              <p:nvPr/>
            </p:nvSpPr>
            <p:spPr>
              <a:xfrm>
                <a:off x="0" y="2295575"/>
                <a:ext cx="2286000" cy="537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 name="Google Shape;174;p37"/>
            <p:cNvSpPr txBox="1"/>
            <p:nvPr/>
          </p:nvSpPr>
          <p:spPr>
            <a:xfrm>
              <a:off x="761041" y="2456399"/>
              <a:ext cx="871200" cy="2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900">
                  <a:solidFill>
                    <a:srgbClr val="5E5E5E"/>
                  </a:solidFill>
                  <a:latin typeface="Roboto"/>
                  <a:ea typeface="Roboto"/>
                  <a:cs typeface="Roboto"/>
                  <a:sym typeface="Roboto"/>
                </a:rPr>
                <a:t>1992</a:t>
              </a:r>
              <a:endParaRPr sz="1900">
                <a:solidFill>
                  <a:srgbClr val="5E5E5E"/>
                </a:solidFill>
                <a:latin typeface="Roboto"/>
                <a:ea typeface="Roboto"/>
                <a:cs typeface="Roboto"/>
                <a:sym typeface="Roboto"/>
              </a:endParaRPr>
            </a:p>
          </p:txBody>
        </p:sp>
        <p:cxnSp>
          <p:nvCxnSpPr>
            <p:cNvPr id="175" name="Google Shape;175;p37"/>
            <p:cNvCxnSpPr/>
            <p:nvPr/>
          </p:nvCxnSpPr>
          <p:spPr>
            <a:xfrm>
              <a:off x="2286000" y="2295575"/>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176" name="Google Shape;176;p37"/>
          <p:cNvGrpSpPr/>
          <p:nvPr/>
        </p:nvGrpSpPr>
        <p:grpSpPr>
          <a:xfrm>
            <a:off x="2278875" y="4"/>
            <a:ext cx="2286000" cy="4786265"/>
            <a:chOff x="0" y="2295575"/>
            <a:chExt cx="2286000" cy="2847950"/>
          </a:xfrm>
        </p:grpSpPr>
        <p:grpSp>
          <p:nvGrpSpPr>
            <p:cNvPr id="177" name="Google Shape;177;p37"/>
            <p:cNvGrpSpPr/>
            <p:nvPr/>
          </p:nvGrpSpPr>
          <p:grpSpPr>
            <a:xfrm>
              <a:off x="0" y="2295575"/>
              <a:ext cx="2286000" cy="2847950"/>
              <a:chOff x="0" y="2295575"/>
              <a:chExt cx="2286000" cy="2847950"/>
            </a:xfrm>
          </p:grpSpPr>
          <p:sp>
            <p:nvSpPr>
              <p:cNvPr id="178" name="Google Shape;178;p37"/>
              <p:cNvSpPr/>
              <p:nvPr/>
            </p:nvSpPr>
            <p:spPr>
              <a:xfrm>
                <a:off x="0" y="2823925"/>
                <a:ext cx="2286000" cy="2319600"/>
              </a:xfrm>
              <a:prstGeom prst="rect">
                <a:avLst/>
              </a:prstGeom>
              <a:solidFill>
                <a:srgbClr val="1B78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7"/>
              <p:cNvSpPr/>
              <p:nvPr/>
            </p:nvSpPr>
            <p:spPr>
              <a:xfrm>
                <a:off x="0" y="2295575"/>
                <a:ext cx="2286000" cy="53700"/>
              </a:xfrm>
              <a:prstGeom prst="rect">
                <a:avLst/>
              </a:prstGeom>
              <a:solidFill>
                <a:srgbClr val="1B78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37"/>
            <p:cNvSpPr txBox="1"/>
            <p:nvPr/>
          </p:nvSpPr>
          <p:spPr>
            <a:xfrm>
              <a:off x="707391" y="2410954"/>
              <a:ext cx="871200" cy="2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2000">
                  <a:solidFill>
                    <a:srgbClr val="1B786E"/>
                  </a:solidFill>
                  <a:latin typeface="Roboto"/>
                  <a:ea typeface="Roboto"/>
                  <a:cs typeface="Roboto"/>
                  <a:sym typeface="Roboto"/>
                </a:rPr>
                <a:t>1971</a:t>
              </a:r>
              <a:endParaRPr sz="2000">
                <a:solidFill>
                  <a:srgbClr val="1B786E"/>
                </a:solidFill>
                <a:latin typeface="Roboto"/>
                <a:ea typeface="Roboto"/>
                <a:cs typeface="Roboto"/>
                <a:sym typeface="Roboto"/>
              </a:endParaRPr>
            </a:p>
          </p:txBody>
        </p:sp>
        <p:cxnSp>
          <p:nvCxnSpPr>
            <p:cNvPr id="181" name="Google Shape;181;p37"/>
            <p:cNvCxnSpPr/>
            <p:nvPr/>
          </p:nvCxnSpPr>
          <p:spPr>
            <a:xfrm>
              <a:off x="2286000" y="2295575"/>
              <a:ext cx="0" cy="2837400"/>
            </a:xfrm>
            <a:prstGeom prst="straightConnector1">
              <a:avLst/>
            </a:prstGeom>
            <a:noFill/>
            <a:ln cap="flat" cmpd="sng" w="9525">
              <a:solidFill>
                <a:srgbClr val="83E3D9"/>
              </a:solidFill>
              <a:prstDash val="dot"/>
              <a:round/>
              <a:headEnd len="sm" w="sm" type="none"/>
              <a:tailEnd len="sm" w="sm" type="none"/>
            </a:ln>
          </p:spPr>
        </p:cxnSp>
      </p:grpSp>
      <p:grpSp>
        <p:nvGrpSpPr>
          <p:cNvPr id="182" name="Google Shape;182;p37"/>
          <p:cNvGrpSpPr/>
          <p:nvPr/>
        </p:nvGrpSpPr>
        <p:grpSpPr>
          <a:xfrm>
            <a:off x="-7125" y="11"/>
            <a:ext cx="2286000" cy="4786265"/>
            <a:chOff x="0" y="2295575"/>
            <a:chExt cx="2286000" cy="2847950"/>
          </a:xfrm>
        </p:grpSpPr>
        <p:grpSp>
          <p:nvGrpSpPr>
            <p:cNvPr id="183" name="Google Shape;183;p37"/>
            <p:cNvGrpSpPr/>
            <p:nvPr/>
          </p:nvGrpSpPr>
          <p:grpSpPr>
            <a:xfrm>
              <a:off x="0" y="2295575"/>
              <a:ext cx="2286000" cy="2847950"/>
              <a:chOff x="0" y="2295575"/>
              <a:chExt cx="2286000" cy="2847950"/>
            </a:xfrm>
          </p:grpSpPr>
          <p:sp>
            <p:nvSpPr>
              <p:cNvPr id="184" name="Google Shape;184;p37"/>
              <p:cNvSpPr/>
              <p:nvPr/>
            </p:nvSpPr>
            <p:spPr>
              <a:xfrm>
                <a:off x="0" y="2823925"/>
                <a:ext cx="2286000" cy="2319600"/>
              </a:xfrm>
              <a:prstGeom prst="rect">
                <a:avLst/>
              </a:prstGeom>
              <a:solidFill>
                <a:srgbClr val="1B78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7"/>
              <p:cNvSpPr/>
              <p:nvPr/>
            </p:nvSpPr>
            <p:spPr>
              <a:xfrm>
                <a:off x="0" y="2295575"/>
                <a:ext cx="2286000" cy="53700"/>
              </a:xfrm>
              <a:prstGeom prst="rect">
                <a:avLst/>
              </a:prstGeom>
              <a:solidFill>
                <a:srgbClr val="1B78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 name="Google Shape;186;p37"/>
            <p:cNvSpPr txBox="1"/>
            <p:nvPr/>
          </p:nvSpPr>
          <p:spPr>
            <a:xfrm>
              <a:off x="707391" y="2455298"/>
              <a:ext cx="871200" cy="260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2000">
                  <a:solidFill>
                    <a:srgbClr val="1B786E"/>
                  </a:solidFill>
                  <a:latin typeface="Roboto"/>
                  <a:ea typeface="Roboto"/>
                  <a:cs typeface="Roboto"/>
                  <a:sym typeface="Roboto"/>
                </a:rPr>
                <a:t>1947</a:t>
              </a:r>
              <a:endParaRPr sz="2000">
                <a:solidFill>
                  <a:srgbClr val="1B786E"/>
                </a:solidFill>
                <a:latin typeface="Roboto"/>
                <a:ea typeface="Roboto"/>
                <a:cs typeface="Roboto"/>
                <a:sym typeface="Roboto"/>
              </a:endParaRPr>
            </a:p>
            <a:p>
              <a:pPr indent="0" lvl="0" marL="0" rtl="0" algn="l">
                <a:lnSpc>
                  <a:spcPct val="115000"/>
                </a:lnSpc>
                <a:spcBef>
                  <a:spcPts val="1600"/>
                </a:spcBef>
                <a:spcAft>
                  <a:spcPts val="1600"/>
                </a:spcAft>
                <a:buNone/>
              </a:pPr>
              <a:r>
                <a:t/>
              </a:r>
              <a:endParaRPr sz="1000">
                <a:solidFill>
                  <a:srgbClr val="1B786E"/>
                </a:solidFill>
                <a:latin typeface="Roboto"/>
                <a:ea typeface="Roboto"/>
                <a:cs typeface="Roboto"/>
                <a:sym typeface="Roboto"/>
              </a:endParaRPr>
            </a:p>
          </p:txBody>
        </p:sp>
        <p:sp>
          <p:nvSpPr>
            <p:cNvPr id="187" name="Google Shape;187;p37"/>
            <p:cNvSpPr txBox="1"/>
            <p:nvPr/>
          </p:nvSpPr>
          <p:spPr>
            <a:xfrm>
              <a:off x="216300" y="3050050"/>
              <a:ext cx="1853400" cy="7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solidFill>
                  <a:srgbClr val="FFFFFF"/>
                </a:solidFill>
                <a:latin typeface="Roboto"/>
                <a:ea typeface="Roboto"/>
                <a:cs typeface="Roboto"/>
                <a:sym typeface="Roboto"/>
              </a:endParaRPr>
            </a:p>
          </p:txBody>
        </p:sp>
        <p:cxnSp>
          <p:nvCxnSpPr>
            <p:cNvPr id="188" name="Google Shape;188;p37"/>
            <p:cNvCxnSpPr/>
            <p:nvPr/>
          </p:nvCxnSpPr>
          <p:spPr>
            <a:xfrm>
              <a:off x="2286000" y="2295575"/>
              <a:ext cx="0" cy="2837400"/>
            </a:xfrm>
            <a:prstGeom prst="straightConnector1">
              <a:avLst/>
            </a:prstGeom>
            <a:noFill/>
            <a:ln cap="flat" cmpd="sng" w="9525">
              <a:solidFill>
                <a:srgbClr val="83E3D9"/>
              </a:solidFill>
              <a:prstDash val="dot"/>
              <a:round/>
              <a:headEnd len="sm" w="sm" type="none"/>
              <a:tailEnd len="sm" w="sm" type="none"/>
            </a:ln>
          </p:spPr>
        </p:cxnSp>
      </p:grpSp>
      <p:sp>
        <p:nvSpPr>
          <p:cNvPr id="189" name="Google Shape;189;p37"/>
          <p:cNvSpPr txBox="1"/>
          <p:nvPr/>
        </p:nvSpPr>
        <p:spPr>
          <a:xfrm>
            <a:off x="-408900" y="988150"/>
            <a:ext cx="2694900" cy="20649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800">
                <a:solidFill>
                  <a:schemeClr val="dk1"/>
                </a:solidFill>
                <a:latin typeface="Times New Roman"/>
                <a:ea typeface="Times New Roman"/>
                <a:cs typeface="Times New Roman"/>
                <a:sym typeface="Times New Roman"/>
              </a:rPr>
              <a:t>Between 47’ to 71’ India followed Par - Value System, in which INR external par value was fixed in terms of gold with the pound sterling as the intervention currency</a:t>
            </a:r>
            <a:endParaRPr>
              <a:latin typeface="Open Sans"/>
              <a:ea typeface="Open Sans"/>
              <a:cs typeface="Open Sans"/>
              <a:sym typeface="Open Sans"/>
            </a:endParaRPr>
          </a:p>
        </p:txBody>
      </p:sp>
      <p:sp>
        <p:nvSpPr>
          <p:cNvPr id="190" name="Google Shape;190;p37"/>
          <p:cNvSpPr txBox="1"/>
          <p:nvPr/>
        </p:nvSpPr>
        <p:spPr>
          <a:xfrm>
            <a:off x="2285988" y="899475"/>
            <a:ext cx="2152200" cy="371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Following which India adopted a Pegged Regime, under which INR was pegged to basket of currency till the economic reforms of 1992</a:t>
            </a:r>
            <a:endParaRPr>
              <a:latin typeface="Open Sans"/>
              <a:ea typeface="Open Sans"/>
              <a:cs typeface="Open Sans"/>
              <a:sym typeface="Open Sans"/>
            </a:endParaRPr>
          </a:p>
        </p:txBody>
      </p:sp>
      <p:sp>
        <p:nvSpPr>
          <p:cNvPr id="191" name="Google Shape;191;p37"/>
          <p:cNvSpPr txBox="1"/>
          <p:nvPr/>
        </p:nvSpPr>
        <p:spPr>
          <a:xfrm>
            <a:off x="4712775" y="943875"/>
            <a:ext cx="1983900" cy="36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After 1992-93 economic crisis India adopted market-determined exchange rate regime, with interventions from RBI to prevent rapid devaluation of INR</a:t>
            </a:r>
            <a:endParaRPr sz="1800">
              <a:latin typeface="Times New Roman"/>
              <a:ea typeface="Times New Roman"/>
              <a:cs typeface="Times New Roman"/>
              <a:sym typeface="Times New Roman"/>
            </a:endParaRPr>
          </a:p>
        </p:txBody>
      </p:sp>
      <p:sp>
        <p:nvSpPr>
          <p:cNvPr id="192" name="Google Shape;192;p37"/>
          <p:cNvSpPr txBox="1"/>
          <p:nvPr/>
        </p:nvSpPr>
        <p:spPr>
          <a:xfrm>
            <a:off x="7145150" y="228025"/>
            <a:ext cx="1748400" cy="443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Lately, RBI is making effort to interfere as little as possible in INR exchange rate market</a:t>
            </a:r>
            <a:endParaRPr sz="18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grpSp>
        <p:nvGrpSpPr>
          <p:cNvPr id="197" name="Google Shape;197;p38"/>
          <p:cNvGrpSpPr/>
          <p:nvPr/>
        </p:nvGrpSpPr>
        <p:grpSpPr>
          <a:xfrm>
            <a:off x="7618073" y="16"/>
            <a:ext cx="1525524" cy="4687447"/>
            <a:chOff x="3048000" y="2295578"/>
            <a:chExt cx="1524000" cy="2847953"/>
          </a:xfrm>
        </p:grpSpPr>
        <p:grpSp>
          <p:nvGrpSpPr>
            <p:cNvPr id="198" name="Google Shape;198;p38"/>
            <p:cNvGrpSpPr/>
            <p:nvPr/>
          </p:nvGrpSpPr>
          <p:grpSpPr>
            <a:xfrm>
              <a:off x="3048000" y="2295578"/>
              <a:ext cx="1524000" cy="2847953"/>
              <a:chOff x="0" y="2295575"/>
              <a:chExt cx="1524000" cy="2837455"/>
            </a:xfrm>
          </p:grpSpPr>
          <p:sp>
            <p:nvSpPr>
              <p:cNvPr id="199" name="Google Shape;199;p38"/>
              <p:cNvSpPr/>
              <p:nvPr/>
            </p:nvSpPr>
            <p:spPr>
              <a:xfrm>
                <a:off x="0" y="2823930"/>
                <a:ext cx="1524000" cy="2309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8"/>
              <p:cNvSpPr/>
              <p:nvPr/>
            </p:nvSpPr>
            <p:spPr>
              <a:xfrm>
                <a:off x="0" y="2295575"/>
                <a:ext cx="1524000" cy="537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38"/>
            <p:cNvSpPr txBox="1"/>
            <p:nvPr/>
          </p:nvSpPr>
          <p:spPr>
            <a:xfrm>
              <a:off x="3374400" y="2457481"/>
              <a:ext cx="871200" cy="2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2000">
                  <a:solidFill>
                    <a:srgbClr val="5E5E5E"/>
                  </a:solidFill>
                  <a:latin typeface="Times New Roman"/>
                  <a:ea typeface="Times New Roman"/>
                  <a:cs typeface="Times New Roman"/>
                  <a:sym typeface="Times New Roman"/>
                </a:rPr>
                <a:t>2022</a:t>
              </a:r>
              <a:endParaRPr sz="2000">
                <a:solidFill>
                  <a:srgbClr val="5E5E5E"/>
                </a:solidFill>
                <a:latin typeface="Times New Roman"/>
                <a:ea typeface="Times New Roman"/>
                <a:cs typeface="Times New Roman"/>
                <a:sym typeface="Times New Roman"/>
              </a:endParaRPr>
            </a:p>
          </p:txBody>
        </p:sp>
      </p:grpSp>
      <p:grpSp>
        <p:nvGrpSpPr>
          <p:cNvPr id="202" name="Google Shape;202;p38"/>
          <p:cNvGrpSpPr/>
          <p:nvPr/>
        </p:nvGrpSpPr>
        <p:grpSpPr>
          <a:xfrm>
            <a:off x="6092548" y="-2"/>
            <a:ext cx="1525524" cy="4687451"/>
            <a:chOff x="3048000" y="2295575"/>
            <a:chExt cx="1524000" cy="2847956"/>
          </a:xfrm>
        </p:grpSpPr>
        <p:grpSp>
          <p:nvGrpSpPr>
            <p:cNvPr id="203" name="Google Shape;203;p38"/>
            <p:cNvGrpSpPr/>
            <p:nvPr/>
          </p:nvGrpSpPr>
          <p:grpSpPr>
            <a:xfrm>
              <a:off x="3048000" y="2295578"/>
              <a:ext cx="1524000" cy="2847953"/>
              <a:chOff x="0" y="2295575"/>
              <a:chExt cx="1524000" cy="2837455"/>
            </a:xfrm>
          </p:grpSpPr>
          <p:sp>
            <p:nvSpPr>
              <p:cNvPr id="204" name="Google Shape;204;p38"/>
              <p:cNvSpPr/>
              <p:nvPr/>
            </p:nvSpPr>
            <p:spPr>
              <a:xfrm>
                <a:off x="0" y="2823930"/>
                <a:ext cx="1524000" cy="2309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8"/>
              <p:cNvSpPr/>
              <p:nvPr/>
            </p:nvSpPr>
            <p:spPr>
              <a:xfrm>
                <a:off x="0" y="2295575"/>
                <a:ext cx="1524000" cy="537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6" name="Google Shape;206;p38"/>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207" name="Google Shape;207;p38"/>
            <p:cNvSpPr txBox="1"/>
            <p:nvPr/>
          </p:nvSpPr>
          <p:spPr>
            <a:xfrm>
              <a:off x="3374400" y="2457489"/>
              <a:ext cx="871200" cy="2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2000">
                  <a:solidFill>
                    <a:srgbClr val="5E5E5E"/>
                  </a:solidFill>
                  <a:latin typeface="Times New Roman"/>
                  <a:ea typeface="Times New Roman"/>
                  <a:cs typeface="Times New Roman"/>
                  <a:sym typeface="Times New Roman"/>
                </a:rPr>
                <a:t>2020</a:t>
              </a:r>
              <a:endParaRPr sz="2000">
                <a:solidFill>
                  <a:srgbClr val="5E5E5E"/>
                </a:solidFill>
                <a:latin typeface="Times New Roman"/>
                <a:ea typeface="Times New Roman"/>
                <a:cs typeface="Times New Roman"/>
                <a:sym typeface="Times New Roman"/>
              </a:endParaRPr>
            </a:p>
          </p:txBody>
        </p:sp>
      </p:grpSp>
      <p:grpSp>
        <p:nvGrpSpPr>
          <p:cNvPr id="208" name="Google Shape;208;p38"/>
          <p:cNvGrpSpPr/>
          <p:nvPr/>
        </p:nvGrpSpPr>
        <p:grpSpPr>
          <a:xfrm>
            <a:off x="4567023" y="24"/>
            <a:ext cx="1525524" cy="4687451"/>
            <a:chOff x="3048000" y="2295575"/>
            <a:chExt cx="1524000" cy="2847956"/>
          </a:xfrm>
        </p:grpSpPr>
        <p:grpSp>
          <p:nvGrpSpPr>
            <p:cNvPr id="209" name="Google Shape;209;p38"/>
            <p:cNvGrpSpPr/>
            <p:nvPr/>
          </p:nvGrpSpPr>
          <p:grpSpPr>
            <a:xfrm>
              <a:off x="3048000" y="2295578"/>
              <a:ext cx="1524000" cy="2847953"/>
              <a:chOff x="0" y="2295575"/>
              <a:chExt cx="1524000" cy="2837455"/>
            </a:xfrm>
          </p:grpSpPr>
          <p:sp>
            <p:nvSpPr>
              <p:cNvPr id="210" name="Google Shape;210;p38"/>
              <p:cNvSpPr/>
              <p:nvPr/>
            </p:nvSpPr>
            <p:spPr>
              <a:xfrm>
                <a:off x="0" y="2823930"/>
                <a:ext cx="1524000" cy="2309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8"/>
              <p:cNvSpPr/>
              <p:nvPr/>
            </p:nvSpPr>
            <p:spPr>
              <a:xfrm>
                <a:off x="0" y="2295575"/>
                <a:ext cx="1524000" cy="537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12" name="Google Shape;212;p38"/>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213" name="Google Shape;213;p38"/>
            <p:cNvSpPr txBox="1"/>
            <p:nvPr/>
          </p:nvSpPr>
          <p:spPr>
            <a:xfrm>
              <a:off x="3374400" y="2457489"/>
              <a:ext cx="871200" cy="2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2000">
                  <a:solidFill>
                    <a:srgbClr val="5E5E5E"/>
                  </a:solidFill>
                  <a:latin typeface="Times New Roman"/>
                  <a:ea typeface="Times New Roman"/>
                  <a:cs typeface="Times New Roman"/>
                  <a:sym typeface="Times New Roman"/>
                </a:rPr>
                <a:t>2018</a:t>
              </a:r>
              <a:endParaRPr sz="2000">
                <a:solidFill>
                  <a:srgbClr val="5E5E5E"/>
                </a:solidFill>
                <a:latin typeface="Times New Roman"/>
                <a:ea typeface="Times New Roman"/>
                <a:cs typeface="Times New Roman"/>
                <a:sym typeface="Times New Roman"/>
              </a:endParaRPr>
            </a:p>
          </p:txBody>
        </p:sp>
      </p:grpSp>
      <p:grpSp>
        <p:nvGrpSpPr>
          <p:cNvPr id="214" name="Google Shape;214;p38"/>
          <p:cNvGrpSpPr/>
          <p:nvPr/>
        </p:nvGrpSpPr>
        <p:grpSpPr>
          <a:xfrm>
            <a:off x="3041498" y="-2"/>
            <a:ext cx="1525524" cy="4687451"/>
            <a:chOff x="3048000" y="2295575"/>
            <a:chExt cx="1524000" cy="2847956"/>
          </a:xfrm>
        </p:grpSpPr>
        <p:grpSp>
          <p:nvGrpSpPr>
            <p:cNvPr id="215" name="Google Shape;215;p38"/>
            <p:cNvGrpSpPr/>
            <p:nvPr/>
          </p:nvGrpSpPr>
          <p:grpSpPr>
            <a:xfrm>
              <a:off x="3048000" y="2295578"/>
              <a:ext cx="1524000" cy="2847953"/>
              <a:chOff x="0" y="2295575"/>
              <a:chExt cx="1524000" cy="2837455"/>
            </a:xfrm>
          </p:grpSpPr>
          <p:sp>
            <p:nvSpPr>
              <p:cNvPr id="216" name="Google Shape;216;p38"/>
              <p:cNvSpPr/>
              <p:nvPr/>
            </p:nvSpPr>
            <p:spPr>
              <a:xfrm>
                <a:off x="0" y="2823930"/>
                <a:ext cx="1524000" cy="2309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8"/>
              <p:cNvSpPr/>
              <p:nvPr/>
            </p:nvSpPr>
            <p:spPr>
              <a:xfrm>
                <a:off x="0" y="2295575"/>
                <a:ext cx="1524000" cy="537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18" name="Google Shape;218;p38"/>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219" name="Google Shape;219;p38"/>
            <p:cNvSpPr txBox="1"/>
            <p:nvPr/>
          </p:nvSpPr>
          <p:spPr>
            <a:xfrm>
              <a:off x="3374400" y="2457493"/>
              <a:ext cx="871200" cy="2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2000">
                  <a:solidFill>
                    <a:srgbClr val="5E5E5E"/>
                  </a:solidFill>
                  <a:latin typeface="Times New Roman"/>
                  <a:ea typeface="Times New Roman"/>
                  <a:cs typeface="Times New Roman"/>
                  <a:sym typeface="Times New Roman"/>
                </a:rPr>
                <a:t>2013</a:t>
              </a:r>
              <a:endParaRPr sz="2000">
                <a:solidFill>
                  <a:srgbClr val="5E5E5E"/>
                </a:solidFill>
                <a:latin typeface="Times New Roman"/>
                <a:ea typeface="Times New Roman"/>
                <a:cs typeface="Times New Roman"/>
                <a:sym typeface="Times New Roman"/>
              </a:endParaRPr>
            </a:p>
          </p:txBody>
        </p:sp>
      </p:grpSp>
      <p:grpSp>
        <p:nvGrpSpPr>
          <p:cNvPr id="220" name="Google Shape;220;p38"/>
          <p:cNvGrpSpPr/>
          <p:nvPr/>
        </p:nvGrpSpPr>
        <p:grpSpPr>
          <a:xfrm>
            <a:off x="1515974" y="-8"/>
            <a:ext cx="1525524" cy="4687441"/>
            <a:chOff x="1515975" y="2295580"/>
            <a:chExt cx="1525524" cy="2847950"/>
          </a:xfrm>
        </p:grpSpPr>
        <p:sp>
          <p:nvSpPr>
            <p:cNvPr id="221" name="Google Shape;221;p38"/>
            <p:cNvSpPr/>
            <p:nvPr/>
          </p:nvSpPr>
          <p:spPr>
            <a:xfrm>
              <a:off x="1515975" y="2823930"/>
              <a:ext cx="1525500" cy="2319600"/>
            </a:xfrm>
            <a:prstGeom prst="rect">
              <a:avLst/>
            </a:prstGeom>
            <a:solidFill>
              <a:srgbClr val="1B78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8"/>
            <p:cNvSpPr/>
            <p:nvPr/>
          </p:nvSpPr>
          <p:spPr>
            <a:xfrm>
              <a:off x="1515975" y="2295580"/>
              <a:ext cx="1525500" cy="53700"/>
            </a:xfrm>
            <a:prstGeom prst="rect">
              <a:avLst/>
            </a:prstGeom>
            <a:solidFill>
              <a:srgbClr val="1B78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8"/>
            <p:cNvSpPr txBox="1"/>
            <p:nvPr/>
          </p:nvSpPr>
          <p:spPr>
            <a:xfrm>
              <a:off x="1842689" y="2456403"/>
              <a:ext cx="872100" cy="2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2000">
                  <a:solidFill>
                    <a:srgbClr val="1B786E"/>
                  </a:solidFill>
                  <a:latin typeface="Times New Roman"/>
                  <a:ea typeface="Times New Roman"/>
                  <a:cs typeface="Times New Roman"/>
                  <a:sym typeface="Times New Roman"/>
                </a:rPr>
                <a:t>2008</a:t>
              </a:r>
              <a:endParaRPr sz="2000">
                <a:solidFill>
                  <a:srgbClr val="1B786E"/>
                </a:solidFill>
                <a:latin typeface="Times New Roman"/>
                <a:ea typeface="Times New Roman"/>
                <a:cs typeface="Times New Roman"/>
                <a:sym typeface="Times New Roman"/>
              </a:endParaRPr>
            </a:p>
          </p:txBody>
        </p:sp>
        <p:cxnSp>
          <p:nvCxnSpPr>
            <p:cNvPr id="224" name="Google Shape;224;p38"/>
            <p:cNvCxnSpPr/>
            <p:nvPr/>
          </p:nvCxnSpPr>
          <p:spPr>
            <a:xfrm>
              <a:off x="3041499" y="2295580"/>
              <a:ext cx="0" cy="2837400"/>
            </a:xfrm>
            <a:prstGeom prst="straightConnector1">
              <a:avLst/>
            </a:prstGeom>
            <a:noFill/>
            <a:ln cap="flat" cmpd="sng" w="9525">
              <a:solidFill>
                <a:srgbClr val="83E3D9"/>
              </a:solidFill>
              <a:prstDash val="dot"/>
              <a:round/>
              <a:headEnd len="sm" w="sm" type="none"/>
              <a:tailEnd len="sm" w="sm" type="none"/>
            </a:ln>
          </p:spPr>
        </p:cxnSp>
      </p:grpSp>
      <p:grpSp>
        <p:nvGrpSpPr>
          <p:cNvPr id="225" name="Google Shape;225;p38"/>
          <p:cNvGrpSpPr/>
          <p:nvPr/>
        </p:nvGrpSpPr>
        <p:grpSpPr>
          <a:xfrm>
            <a:off x="-9551" y="-75"/>
            <a:ext cx="1525524" cy="4687441"/>
            <a:chOff x="1515975" y="2295580"/>
            <a:chExt cx="1525524" cy="2847950"/>
          </a:xfrm>
        </p:grpSpPr>
        <p:sp>
          <p:nvSpPr>
            <p:cNvPr id="226" name="Google Shape;226;p38"/>
            <p:cNvSpPr/>
            <p:nvPr/>
          </p:nvSpPr>
          <p:spPr>
            <a:xfrm>
              <a:off x="1515975" y="2823930"/>
              <a:ext cx="1525500" cy="2319600"/>
            </a:xfrm>
            <a:prstGeom prst="rect">
              <a:avLst/>
            </a:prstGeom>
            <a:solidFill>
              <a:srgbClr val="1B78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8"/>
            <p:cNvSpPr/>
            <p:nvPr/>
          </p:nvSpPr>
          <p:spPr>
            <a:xfrm>
              <a:off x="1515975" y="2295580"/>
              <a:ext cx="1525500" cy="53700"/>
            </a:xfrm>
            <a:prstGeom prst="rect">
              <a:avLst/>
            </a:prstGeom>
            <a:solidFill>
              <a:srgbClr val="1B78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8"/>
            <p:cNvSpPr txBox="1"/>
            <p:nvPr/>
          </p:nvSpPr>
          <p:spPr>
            <a:xfrm>
              <a:off x="1842677" y="2456403"/>
              <a:ext cx="872100" cy="2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2000">
                  <a:solidFill>
                    <a:srgbClr val="1B786E"/>
                  </a:solidFill>
                  <a:latin typeface="Times New Roman"/>
                  <a:ea typeface="Times New Roman"/>
                  <a:cs typeface="Times New Roman"/>
                  <a:sym typeface="Times New Roman"/>
                </a:rPr>
                <a:t>1992</a:t>
              </a:r>
              <a:endParaRPr sz="2000">
                <a:solidFill>
                  <a:srgbClr val="1B786E"/>
                </a:solidFill>
                <a:latin typeface="Times New Roman"/>
                <a:ea typeface="Times New Roman"/>
                <a:cs typeface="Times New Roman"/>
                <a:sym typeface="Times New Roman"/>
              </a:endParaRPr>
            </a:p>
          </p:txBody>
        </p:sp>
        <p:cxnSp>
          <p:nvCxnSpPr>
            <p:cNvPr id="229" name="Google Shape;229;p38"/>
            <p:cNvCxnSpPr/>
            <p:nvPr/>
          </p:nvCxnSpPr>
          <p:spPr>
            <a:xfrm>
              <a:off x="3041499" y="2295580"/>
              <a:ext cx="0" cy="2837400"/>
            </a:xfrm>
            <a:prstGeom prst="straightConnector1">
              <a:avLst/>
            </a:prstGeom>
            <a:noFill/>
            <a:ln cap="flat" cmpd="sng" w="9525">
              <a:solidFill>
                <a:srgbClr val="83E3D9"/>
              </a:solidFill>
              <a:prstDash val="dot"/>
              <a:round/>
              <a:headEnd len="sm" w="sm" type="none"/>
              <a:tailEnd len="sm" w="sm" type="none"/>
            </a:ln>
          </p:spPr>
        </p:cxnSp>
      </p:grpSp>
      <p:sp>
        <p:nvSpPr>
          <p:cNvPr id="230" name="Google Shape;230;p38"/>
          <p:cNvSpPr txBox="1"/>
          <p:nvPr/>
        </p:nvSpPr>
        <p:spPr>
          <a:xfrm>
            <a:off x="126675" y="836125"/>
            <a:ext cx="1305000" cy="26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Heavy devaluation in INR till 2000s post 1992 economic reforms</a:t>
            </a:r>
            <a:endParaRPr sz="1800">
              <a:latin typeface="Times New Roman"/>
              <a:ea typeface="Times New Roman"/>
              <a:cs typeface="Times New Roman"/>
              <a:sym typeface="Times New Roman"/>
            </a:endParaRPr>
          </a:p>
        </p:txBody>
      </p:sp>
      <p:sp>
        <p:nvSpPr>
          <p:cNvPr id="231" name="Google Shape;231;p38"/>
          <p:cNvSpPr txBox="1"/>
          <p:nvPr/>
        </p:nvSpPr>
        <p:spPr>
          <a:xfrm>
            <a:off x="1588125" y="848800"/>
            <a:ext cx="1305000" cy="3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Rapid decline following global financial crisis as foreign investors started pulling their investments</a:t>
            </a:r>
            <a:endParaRPr sz="1800">
              <a:latin typeface="Times New Roman"/>
              <a:ea typeface="Times New Roman"/>
              <a:cs typeface="Times New Roman"/>
              <a:sym typeface="Times New Roman"/>
            </a:endParaRPr>
          </a:p>
        </p:txBody>
      </p:sp>
      <p:sp>
        <p:nvSpPr>
          <p:cNvPr id="232" name="Google Shape;232;p38"/>
          <p:cNvSpPr txBox="1"/>
          <p:nvPr/>
        </p:nvSpPr>
        <p:spPr>
          <a:xfrm>
            <a:off x="3088325" y="810800"/>
            <a:ext cx="1305000" cy="3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Heavy depreciation due to bad economic reforms, high Inflation, ending of subsidies, Taper Tantrum</a:t>
            </a:r>
            <a:endParaRPr sz="1800">
              <a:solidFill>
                <a:schemeClr val="dk1"/>
              </a:solidFill>
              <a:latin typeface="Times New Roman"/>
              <a:ea typeface="Times New Roman"/>
              <a:cs typeface="Times New Roman"/>
              <a:sym typeface="Times New Roman"/>
            </a:endParaRPr>
          </a:p>
        </p:txBody>
      </p:sp>
      <p:sp>
        <p:nvSpPr>
          <p:cNvPr id="233" name="Google Shape;233;p38"/>
          <p:cNvSpPr txBox="1"/>
          <p:nvPr/>
        </p:nvSpPr>
        <p:spPr>
          <a:xfrm>
            <a:off x="4649675" y="1038825"/>
            <a:ext cx="1347300" cy="34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With start of US Fed rate hike, there was again a heavy depreciation in INR</a:t>
            </a:r>
            <a:endParaRPr sz="1800">
              <a:solidFill>
                <a:schemeClr val="dk1"/>
              </a:solidFill>
              <a:latin typeface="Times New Roman"/>
              <a:ea typeface="Times New Roman"/>
              <a:cs typeface="Times New Roman"/>
              <a:sym typeface="Times New Roman"/>
            </a:endParaRPr>
          </a:p>
        </p:txBody>
      </p:sp>
      <p:sp>
        <p:nvSpPr>
          <p:cNvPr id="234" name="Google Shape;234;p38"/>
          <p:cNvSpPr txBox="1"/>
          <p:nvPr/>
        </p:nvSpPr>
        <p:spPr>
          <a:xfrm>
            <a:off x="6157000" y="1051500"/>
            <a:ext cx="1305000" cy="33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latin typeface="Times New Roman"/>
              <a:ea typeface="Times New Roman"/>
              <a:cs typeface="Times New Roman"/>
              <a:sym typeface="Times New Roman"/>
            </a:endParaRPr>
          </a:p>
        </p:txBody>
      </p:sp>
      <p:sp>
        <p:nvSpPr>
          <p:cNvPr id="235" name="Google Shape;235;p38"/>
          <p:cNvSpPr txBox="1"/>
          <p:nvPr/>
        </p:nvSpPr>
        <p:spPr>
          <a:xfrm>
            <a:off x="6245675" y="1013500"/>
            <a:ext cx="1216200" cy="358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March 2020, During start of covid, as a result of halting of economy, INR formed a all time low of 77</a:t>
            </a:r>
            <a:endParaRPr sz="1800">
              <a:latin typeface="Times New Roman"/>
              <a:ea typeface="Times New Roman"/>
              <a:cs typeface="Times New Roman"/>
              <a:sym typeface="Times New Roman"/>
            </a:endParaRPr>
          </a:p>
        </p:txBody>
      </p:sp>
      <p:sp>
        <p:nvSpPr>
          <p:cNvPr id="236" name="Google Shape;236;p38"/>
          <p:cNvSpPr txBox="1"/>
          <p:nvPr/>
        </p:nvSpPr>
        <p:spPr>
          <a:xfrm>
            <a:off x="7727925" y="1000825"/>
            <a:ext cx="1525500" cy="3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Times New Roman"/>
                <a:ea typeface="Times New Roman"/>
                <a:cs typeface="Times New Roman"/>
                <a:sym typeface="Times New Roman"/>
              </a:rPr>
              <a:t>With  post covid shock slowing of economies, High Inflation, </a:t>
            </a:r>
            <a:r>
              <a:rPr lang="en" sz="1600">
                <a:latin typeface="Times New Roman"/>
                <a:ea typeface="Times New Roman"/>
                <a:cs typeface="Times New Roman"/>
                <a:sym typeface="Times New Roman"/>
              </a:rPr>
              <a:t>Aggressive</a:t>
            </a:r>
            <a:r>
              <a:rPr lang="en" sz="1600">
                <a:latin typeface="Times New Roman"/>
                <a:ea typeface="Times New Roman"/>
                <a:cs typeface="Times New Roman"/>
                <a:sym typeface="Times New Roman"/>
              </a:rPr>
              <a:t> rate hikes by central banks around the world, and war between Russia and Ukraine led to a volatile depreciation</a:t>
            </a:r>
            <a:endParaRPr sz="16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39"/>
          <p:cNvPicPr preferRelativeResize="0"/>
          <p:nvPr/>
        </p:nvPicPr>
        <p:blipFill>
          <a:blip r:embed="rId3">
            <a:alphaModFix/>
          </a:blip>
          <a:stretch>
            <a:fillRect/>
          </a:stretch>
        </p:blipFill>
        <p:spPr>
          <a:xfrm>
            <a:off x="5358875" y="0"/>
            <a:ext cx="3785126" cy="1892574"/>
          </a:xfrm>
          <a:prstGeom prst="rect">
            <a:avLst/>
          </a:prstGeom>
          <a:noFill/>
          <a:ln>
            <a:noFill/>
          </a:ln>
        </p:spPr>
      </p:pic>
      <p:sp>
        <p:nvSpPr>
          <p:cNvPr id="242" name="Google Shape;242;p39"/>
          <p:cNvSpPr txBox="1"/>
          <p:nvPr/>
        </p:nvSpPr>
        <p:spPr>
          <a:xfrm>
            <a:off x="152025" y="139350"/>
            <a:ext cx="5143500" cy="49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Macroeconomic Factors Affecting the Value of INR/USD</a:t>
            </a:r>
            <a:endParaRPr sz="24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SzPts val="1800"/>
              <a:buFont typeface="Times New Roman"/>
              <a:buChar char="●"/>
            </a:pPr>
            <a:r>
              <a:rPr lang="en" sz="2000">
                <a:solidFill>
                  <a:srgbClr val="A72A1E"/>
                </a:solidFill>
                <a:latin typeface="Times New Roman"/>
                <a:ea typeface="Times New Roman"/>
                <a:cs typeface="Times New Roman"/>
                <a:sym typeface="Times New Roman"/>
              </a:rPr>
              <a:t>Inflation Rate</a:t>
            </a:r>
            <a:r>
              <a:rPr lang="en" sz="2000">
                <a:solidFill>
                  <a:schemeClr val="dk1"/>
                </a:solidFill>
                <a:latin typeface="Times New Roman"/>
                <a:ea typeface="Times New Roman"/>
                <a:cs typeface="Times New Roman"/>
                <a:sym typeface="Times New Roman"/>
              </a:rPr>
              <a:t> in India and USA</a:t>
            </a:r>
            <a:r>
              <a:rPr lang="en" sz="1800">
                <a:solidFill>
                  <a:schemeClr val="dk1"/>
                </a:solidFill>
                <a:latin typeface="Times New Roman"/>
                <a:ea typeface="Times New Roman"/>
                <a:cs typeface="Times New Roman"/>
                <a:sym typeface="Times New Roman"/>
              </a:rPr>
              <a:t>: Rise of Inflation at higher rate than USA can lead to a depreciation of INR, as it can erode the purchasing power of INR</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It can also lead to central bank tightening its monetary policy, which will lead to the appreciation of INR</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Strong effect of the inflation rate on INR/USD when the inflation rates of India and the USA are outside their respective acceptable Range as decided by central banks (For India range is 4±2%, and For USA acceptable range is 2±1%)</a:t>
            </a:r>
            <a:endParaRPr sz="1800">
              <a:solidFill>
                <a:schemeClr val="dk1"/>
              </a:solidFill>
              <a:latin typeface="Times New Roman"/>
              <a:ea typeface="Times New Roman"/>
              <a:cs typeface="Times New Roman"/>
              <a:sym typeface="Times New Roman"/>
            </a:endParaRPr>
          </a:p>
        </p:txBody>
      </p:sp>
      <p:sp>
        <p:nvSpPr>
          <p:cNvPr id="243" name="Google Shape;243;p39"/>
          <p:cNvSpPr txBox="1"/>
          <p:nvPr/>
        </p:nvSpPr>
        <p:spPr>
          <a:xfrm>
            <a:off x="5447550" y="2039675"/>
            <a:ext cx="3534600" cy="29646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SzPts val="2400"/>
              <a:buFont typeface="Times New Roman"/>
              <a:buChar char="●"/>
            </a:pPr>
            <a:r>
              <a:rPr lang="en" sz="2000">
                <a:solidFill>
                  <a:srgbClr val="A72A1E"/>
                </a:solidFill>
                <a:latin typeface="Times New Roman"/>
                <a:ea typeface="Times New Roman"/>
                <a:cs typeface="Times New Roman"/>
                <a:sym typeface="Times New Roman"/>
              </a:rPr>
              <a:t>Oil Prices</a:t>
            </a:r>
            <a:r>
              <a:rPr lang="en" sz="2000">
                <a:solidFill>
                  <a:schemeClr val="dk1"/>
                </a:solidFill>
                <a:latin typeface="Times New Roman"/>
                <a:ea typeface="Times New Roman"/>
                <a:cs typeface="Times New Roman"/>
                <a:sym typeface="Times New Roman"/>
              </a:rPr>
              <a:t>:</a:t>
            </a:r>
            <a:r>
              <a:rPr lang="en" sz="1800">
                <a:solidFill>
                  <a:schemeClr val="dk1"/>
                </a:solidFill>
                <a:latin typeface="Times New Roman"/>
                <a:ea typeface="Times New Roman"/>
                <a:cs typeface="Times New Roman"/>
                <a:sym typeface="Times New Roman"/>
              </a:rPr>
              <a:t> Increase in oil prices for a country which is net importer of oil will lead to widening of current account deficit and will lead to depreciation of the domestic currency</a:t>
            </a:r>
            <a:endParaRPr sz="1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0"/>
          <p:cNvSpPr txBox="1"/>
          <p:nvPr/>
        </p:nvSpPr>
        <p:spPr>
          <a:xfrm>
            <a:off x="126675" y="152025"/>
            <a:ext cx="5751600" cy="48396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1200"/>
              </a:spcBef>
              <a:spcAft>
                <a:spcPts val="0"/>
              </a:spcAft>
              <a:buSzPts val="2000"/>
              <a:buFont typeface="Times New Roman"/>
              <a:buChar char="●"/>
            </a:pPr>
            <a:r>
              <a:rPr lang="en" sz="2000">
                <a:solidFill>
                  <a:srgbClr val="A72A1E"/>
                </a:solidFill>
                <a:latin typeface="Times New Roman"/>
                <a:ea typeface="Times New Roman"/>
                <a:cs typeface="Times New Roman"/>
                <a:sym typeface="Times New Roman"/>
              </a:rPr>
              <a:t>Interest Rate</a:t>
            </a:r>
            <a:r>
              <a:rPr lang="en" sz="1800">
                <a:solidFill>
                  <a:schemeClr val="dk1"/>
                </a:solidFill>
                <a:latin typeface="Times New Roman"/>
                <a:ea typeface="Times New Roman"/>
                <a:cs typeface="Times New Roman"/>
                <a:sym typeface="Times New Roman"/>
              </a:rPr>
              <a:t>: An increase in interest rate by central bank of domestic country should lead to ad appreciation of domestic currency.</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A positive interest rate differential increases the demand for domestic money in the exchange of foreign money, which leads to an appreciation of the spot exchange rate.</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Increase in the 10 -year bond yield show a sign of high inflation, which can lead to investors withdrawing and thus weakening of the domestic currency.</a:t>
            </a:r>
            <a:endParaRPr sz="18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 sz="2000">
                <a:solidFill>
                  <a:srgbClr val="A72A1E"/>
                </a:solidFill>
                <a:latin typeface="Times New Roman"/>
                <a:ea typeface="Times New Roman"/>
                <a:cs typeface="Times New Roman"/>
                <a:sym typeface="Times New Roman"/>
              </a:rPr>
              <a:t>Gold Prices</a:t>
            </a:r>
            <a:r>
              <a:rPr lang="en" sz="2000">
                <a:solidFill>
                  <a:schemeClr val="dk1"/>
                </a:solidFill>
                <a:latin typeface="Times New Roman"/>
                <a:ea typeface="Times New Roman"/>
                <a:cs typeface="Times New Roman"/>
                <a:sym typeface="Times New Roman"/>
              </a:rPr>
              <a:t>:</a:t>
            </a:r>
            <a:r>
              <a:rPr lang="en" sz="1800">
                <a:solidFill>
                  <a:schemeClr val="dk1"/>
                </a:solidFill>
                <a:latin typeface="Times New Roman"/>
                <a:ea typeface="Times New Roman"/>
                <a:cs typeface="Times New Roman"/>
                <a:sym typeface="Times New Roman"/>
              </a:rPr>
              <a:t> Since it is a dollar-denoted commodity, if gold prices rise, it will make holding USD more expensive, and USD prices will decrease and domestic currency will appreciate</a:t>
            </a:r>
            <a:endParaRPr sz="1800">
              <a:solidFill>
                <a:schemeClr val="dk1"/>
              </a:solidFill>
              <a:latin typeface="Times New Roman"/>
              <a:ea typeface="Times New Roman"/>
              <a:cs typeface="Times New Roman"/>
              <a:sym typeface="Times New Roman"/>
            </a:endParaRPr>
          </a:p>
        </p:txBody>
      </p:sp>
      <p:sp>
        <p:nvSpPr>
          <p:cNvPr id="249" name="Google Shape;249;p40"/>
          <p:cNvSpPr txBox="1"/>
          <p:nvPr/>
        </p:nvSpPr>
        <p:spPr>
          <a:xfrm>
            <a:off x="6004975" y="190025"/>
            <a:ext cx="3138900" cy="2597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2000">
                <a:solidFill>
                  <a:srgbClr val="A72A1E"/>
                </a:solidFill>
                <a:latin typeface="Times New Roman"/>
                <a:ea typeface="Times New Roman"/>
                <a:cs typeface="Times New Roman"/>
                <a:sym typeface="Times New Roman"/>
              </a:rPr>
              <a:t>Stock market</a:t>
            </a:r>
            <a:r>
              <a:rPr lang="en" sz="1800">
                <a:latin typeface="Times New Roman"/>
                <a:ea typeface="Times New Roman"/>
                <a:cs typeface="Times New Roman"/>
                <a:sym typeface="Times New Roman"/>
              </a:rPr>
              <a:t>: If India's principal stock exchange Nifty50 outperforms the foreign stock market and with positive investor sentiment, it will lead to an increase in demand for INR which will appreciate the INR. </a:t>
            </a:r>
            <a:endParaRPr sz="1800">
              <a:latin typeface="Times New Roman"/>
              <a:ea typeface="Times New Roman"/>
              <a:cs typeface="Times New Roman"/>
              <a:sym typeface="Times New Roman"/>
            </a:endParaRPr>
          </a:p>
        </p:txBody>
      </p:sp>
      <p:pic>
        <p:nvPicPr>
          <p:cNvPr id="250" name="Google Shape;250;p40"/>
          <p:cNvPicPr preferRelativeResize="0"/>
          <p:nvPr/>
        </p:nvPicPr>
        <p:blipFill>
          <a:blip r:embed="rId3">
            <a:alphaModFix/>
          </a:blip>
          <a:stretch>
            <a:fillRect/>
          </a:stretch>
        </p:blipFill>
        <p:spPr>
          <a:xfrm>
            <a:off x="6205225" y="2940050"/>
            <a:ext cx="2938775" cy="20515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nvSpPr>
        <p:spPr>
          <a:xfrm>
            <a:off x="240700" y="114025"/>
            <a:ext cx="8741400" cy="4852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Other Factors Affecting the Value of INR</a:t>
            </a:r>
            <a:endParaRPr sz="24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 sz="2000">
                <a:solidFill>
                  <a:srgbClr val="A72A1E"/>
                </a:solidFill>
                <a:latin typeface="Times New Roman"/>
                <a:ea typeface="Times New Roman"/>
                <a:cs typeface="Times New Roman"/>
                <a:sym typeface="Times New Roman"/>
              </a:rPr>
              <a:t>Political Stability</a:t>
            </a:r>
            <a:r>
              <a:rPr lang="en" sz="1800">
                <a:solidFill>
                  <a:schemeClr val="dk1"/>
                </a:solidFill>
                <a:latin typeface="Times New Roman"/>
                <a:ea typeface="Times New Roman"/>
                <a:cs typeface="Times New Roman"/>
                <a:sym typeface="Times New Roman"/>
              </a:rPr>
              <a:t>: An unstable political situation in the domestic country can lead to a sharp depreciation of the domestic currency of that country in the short run, Ex.) during the 3 months in 2022 for the U.K.'s currency  Pound-Sterling when a situation of 3 Prime Ministers in a year led to a sharp depreciation of the pound-sterling in that period </a:t>
            </a:r>
            <a:endParaRPr sz="18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 sz="2000">
                <a:solidFill>
                  <a:srgbClr val="A72A1E"/>
                </a:solidFill>
                <a:latin typeface="Times New Roman"/>
                <a:ea typeface="Times New Roman"/>
                <a:cs typeface="Times New Roman"/>
                <a:sym typeface="Times New Roman"/>
              </a:rPr>
              <a:t>Liberalization Process</a:t>
            </a:r>
            <a:r>
              <a:rPr lang="en" sz="1800">
                <a:solidFill>
                  <a:schemeClr val="dk1"/>
                </a:solidFill>
                <a:latin typeface="Times New Roman"/>
                <a:ea typeface="Times New Roman"/>
                <a:cs typeface="Times New Roman"/>
                <a:sym typeface="Times New Roman"/>
              </a:rPr>
              <a:t>: A close or ineffective liberalization process can lead to the depreciation of the currency of the domestic country asexports of that country will become less attractive, leading to less demand for domestic currency in the financial market, which will cause depreciation of the domestic currency</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2000">
                <a:solidFill>
                  <a:srgbClr val="A72A1E"/>
                </a:solidFill>
                <a:latin typeface="Times New Roman"/>
                <a:ea typeface="Times New Roman"/>
                <a:cs typeface="Times New Roman"/>
                <a:sym typeface="Times New Roman"/>
              </a:rPr>
              <a:t>Global Factors</a:t>
            </a:r>
            <a:r>
              <a:rPr lang="en" sz="1800">
                <a:solidFill>
                  <a:schemeClr val="dk1"/>
                </a:solidFill>
                <a:latin typeface="Times New Roman"/>
                <a:ea typeface="Times New Roman"/>
                <a:cs typeface="Times New Roman"/>
                <a:sym typeface="Times New Roman"/>
              </a:rPr>
              <a:t>: Various global shocks can lead to sharp appreciation or depreciation of the domestic currency</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2000">
                <a:solidFill>
                  <a:srgbClr val="A72A1E"/>
                </a:solidFill>
                <a:latin typeface="Times New Roman"/>
                <a:ea typeface="Times New Roman"/>
                <a:cs typeface="Times New Roman"/>
                <a:sym typeface="Times New Roman"/>
              </a:rPr>
              <a:t>Central Bank Intervention</a:t>
            </a:r>
            <a:r>
              <a:rPr lang="en" sz="1800">
                <a:solidFill>
                  <a:schemeClr val="dk1"/>
                </a:solidFill>
                <a:latin typeface="Times New Roman"/>
                <a:ea typeface="Times New Roman"/>
                <a:cs typeface="Times New Roman"/>
                <a:sym typeface="Times New Roman"/>
              </a:rPr>
              <a:t>: Central banks intervene in the financial market by buying or selling the currency using foreign exchange reserves to counter sharp variations in currency valuation</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2"/>
          <p:cNvSpPr txBox="1"/>
          <p:nvPr/>
        </p:nvSpPr>
        <p:spPr>
          <a:xfrm>
            <a:off x="126675" y="114025"/>
            <a:ext cx="8766900" cy="483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Times New Roman"/>
                <a:ea typeface="Times New Roman"/>
                <a:cs typeface="Times New Roman"/>
                <a:sym typeface="Times New Roman"/>
              </a:rPr>
              <a:t>Data </a:t>
            </a:r>
            <a:endParaRPr sz="24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Currency exchange rate via-a-vis USD for all the countries, WTI crude prices, USA's 3-month bond yield, and USA's 10-year bond yield are obtained from S.T. LOUIS FED.</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Gold Prices in INR/troy ounce are obtained from World Gold Council.</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 CPI India and CPI USA from the Bank of International Settlements</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Nifty50 data is obtained from NSE India</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India's foreign exchange reserve is obtained from RBI</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India's 3-month bond yield and India's 10-year bond yield are obtained from Yahoo Finance</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0" lvl="0" marL="457200" rtl="0" algn="l">
              <a:spcBef>
                <a:spcPts val="0"/>
              </a:spcBef>
              <a:spcAft>
                <a:spcPts val="0"/>
              </a:spcAft>
              <a:buNone/>
            </a:pPr>
            <a:r>
              <a:rPr lang="en" sz="1800">
                <a:latin typeface="Times New Roman"/>
                <a:ea typeface="Times New Roman"/>
                <a:cs typeface="Times New Roman"/>
                <a:sym typeface="Times New Roman"/>
              </a:rPr>
              <a:t>Our period of study is from February 2002 to April 2023</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nvSpPr>
        <p:spPr>
          <a:xfrm>
            <a:off x="152025" y="114025"/>
            <a:ext cx="8918700" cy="487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Times New Roman"/>
                <a:ea typeface="Times New Roman"/>
                <a:cs typeface="Times New Roman"/>
                <a:sym typeface="Times New Roman"/>
              </a:rPr>
              <a:t>Methodology</a:t>
            </a:r>
            <a:endParaRPr sz="24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solidFill>
                  <a:schemeClr val="dk1"/>
                </a:solidFill>
                <a:latin typeface="Times New Roman"/>
                <a:ea typeface="Times New Roman"/>
                <a:cs typeface="Times New Roman"/>
                <a:sym typeface="Times New Roman"/>
              </a:rPr>
              <a:t>To avoid the multicollinearity problem, the variable CPI USA is removed because of its high collinearity with CPI India, in which the correlation between CPI India and CPI USA is 0.97.</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sz="1800">
                <a:latin typeface="Times New Roman"/>
                <a:ea typeface="Times New Roman"/>
                <a:cs typeface="Times New Roman"/>
                <a:sym typeface="Times New Roman"/>
              </a:rPr>
              <a:t>The model to be estimated becomes</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p:txBody>
      </p:sp>
      <p:pic>
        <p:nvPicPr>
          <p:cNvPr id="266" name="Google Shape;266;p43"/>
          <p:cNvPicPr preferRelativeResize="0"/>
          <p:nvPr/>
        </p:nvPicPr>
        <p:blipFill>
          <a:blip r:embed="rId3">
            <a:alphaModFix/>
          </a:blip>
          <a:stretch>
            <a:fillRect/>
          </a:stretch>
        </p:blipFill>
        <p:spPr>
          <a:xfrm>
            <a:off x="380000" y="2290601"/>
            <a:ext cx="8690725" cy="1243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nvSpPr>
        <p:spPr>
          <a:xfrm>
            <a:off x="190025" y="164700"/>
            <a:ext cx="8766900" cy="48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latin typeface="Times New Roman"/>
                <a:ea typeface="Times New Roman"/>
                <a:cs typeface="Times New Roman"/>
                <a:sym typeface="Times New Roman"/>
              </a:rPr>
              <a:t>Hypothesis building:</a:t>
            </a:r>
            <a:endParaRPr sz="24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800">
                <a:latin typeface="Times New Roman"/>
                <a:ea typeface="Times New Roman"/>
                <a:cs typeface="Times New Roman"/>
                <a:sym typeface="Times New Roman"/>
              </a:rPr>
              <a:t>● 	The microeconomic theory indicates a negative relationship between INR/USD exchange rate and gold prices. Since gold is priced in rupees in our study, then an increase in gold price should lead to a decrease in the value of USD, i.e. an appreciation for the INR.</a:t>
            </a: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800">
                <a:latin typeface="Times New Roman"/>
                <a:ea typeface="Times New Roman"/>
                <a:cs typeface="Times New Roman"/>
                <a:sym typeface="Times New Roman"/>
              </a:rPr>
              <a:t>● 	As per the theory, we expect WTI crude price to have a positive correlation with INR/USD, i.e. an increase in WTI prices should lead to depreciation in INR</a:t>
            </a: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800">
                <a:latin typeface="Times New Roman"/>
                <a:ea typeface="Times New Roman"/>
                <a:cs typeface="Times New Roman"/>
                <a:sym typeface="Times New Roman"/>
              </a:rPr>
              <a:t>● 	We expect CPI India to have a negative coefficient based on the previous study.</a:t>
            </a: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800">
                <a:latin typeface="Times New Roman"/>
                <a:ea typeface="Times New Roman"/>
                <a:cs typeface="Times New Roman"/>
                <a:sym typeface="Times New Roman"/>
              </a:rPr>
              <a:t>● 	Nifty50 should also have a negative correlation with INR/USD, i.e. an increase in nifty should cause an appreciation of INR wrt USD.</a:t>
            </a: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800">
                <a:latin typeface="Times New Roman"/>
                <a:ea typeface="Times New Roman"/>
                <a:cs typeface="Times New Roman"/>
                <a:sym typeface="Times New Roman"/>
              </a:rPr>
              <a:t>● 	India's foreign reserve should have a negative coefficient as per economic theory.</a:t>
            </a: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800">
                <a:latin typeface="Times New Roman"/>
                <a:ea typeface="Times New Roman"/>
                <a:cs typeface="Times New Roman"/>
                <a:sym typeface="Times New Roman"/>
              </a:rPr>
              <a:t>● 	India's 3-month and 10-year bond yields should have positive coefficients, and USA's 3-month and 10-year bond yields should have negative coefficients since they are forward values about market expectation.</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sz="1800">
                <a:latin typeface="Times New Roman"/>
                <a:ea typeface="Times New Roman"/>
                <a:cs typeface="Times New Roman"/>
                <a:sym typeface="Times New Roman"/>
              </a:rPr>
              <a:t>Stata 15 is used for the computation of results.</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nvSpPr>
        <p:spPr>
          <a:xfrm>
            <a:off x="152025" y="177350"/>
            <a:ext cx="8893500" cy="47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Unit Root Test: Since we are working with time series data, we need to check for the variables' stationarity to avoid spurious regression with non-stationary variables. This study uses the Augmented Dickey-Fuller (ADF) unit root test by Said and Dickey (1984). The condition for rejecting the null (i.e. for the series to be stationary) is that the test statistic should be less than the critical value (at 5% significance) in the ADF test.</a:t>
            </a: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sz="1800">
                <a:latin typeface="Times New Roman"/>
                <a:ea typeface="Times New Roman"/>
                <a:cs typeface="Times New Roman"/>
                <a:sym typeface="Times New Roman"/>
              </a:rPr>
              <a:t>Cointegration Test: After performing the stationarity test, we need to establish whether there exists a long-run relationship between the variables. For this, a cointegration test is required. Here, we will be using the Johansen Cointegration test, where we will be testing the null of having no cointegrating equation against the alternative of the presence of cointegration.</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sz="1800">
                <a:latin typeface="Times New Roman"/>
                <a:ea typeface="Times New Roman"/>
                <a:cs typeface="Times New Roman"/>
                <a:sym typeface="Times New Roman"/>
              </a:rPr>
              <a:t>The model selected to determine causality depends on the cointegration test result. If the result shows a long-run relationship, VECM is a better choice model. If no long-run relationship exists among the variables, only the VAR model applies.</a:t>
            </a:r>
            <a:endParaRPr sz="18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graphicFrame>
        <p:nvGraphicFramePr>
          <p:cNvPr id="281" name="Google Shape;281;p46"/>
          <p:cNvGraphicFramePr/>
          <p:nvPr/>
        </p:nvGraphicFramePr>
        <p:xfrm>
          <a:off x="952475" y="285750"/>
          <a:ext cx="3000000" cy="3000000"/>
        </p:xfrm>
        <a:graphic>
          <a:graphicData uri="http://schemas.openxmlformats.org/drawingml/2006/table">
            <a:tbl>
              <a:tblPr>
                <a:noFill/>
                <a:tableStyleId>{9376EDE6-335D-4807-8C5C-3591A90DA23A}</a:tableStyleId>
              </a:tblPr>
              <a:tblGrid>
                <a:gridCol w="1034150"/>
                <a:gridCol w="1034150"/>
                <a:gridCol w="1034150"/>
                <a:gridCol w="1034150"/>
                <a:gridCol w="1034150"/>
                <a:gridCol w="1034150"/>
                <a:gridCol w="1034150"/>
              </a:tblGrid>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Mean</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Min</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Max</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Std. Dev.</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Skewness</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Kurtosis</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ExR</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56.98</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39.267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82.599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12.32163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.3372405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.337240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GoldPr</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69214.15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14325.36</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164066.5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39961.38</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.3413199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2.213466</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WTICrude Pr</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66.1369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16.55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133.93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24.60509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.2689645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2.311254</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CPI_IND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121.4535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62.0549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202.7375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41.57543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.2496963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1.818059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CPI_USA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104.6211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4.047609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139.1219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15.09612</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-.8454996</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9.62127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Nifty50</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7076.991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955.1167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18385.13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4622.17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.7927951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2.884769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FxRes</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1.96e+13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2.48e+12</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4.88e+13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1.30e+13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.765841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2.601497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Ind3monYie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6.197887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2.93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11.18</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1.704779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-.0054791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2.453571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Ind10yrYie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7.288821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5.1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9.316</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.9105015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-.4024386</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2.612184</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US10yrYie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2.972783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0.533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5.406</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1.150411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.0366783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2.032437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US3monYie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1.348574</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-.01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5.417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1.594037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1.180275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latin typeface="Times New Roman"/>
                          <a:ea typeface="Times New Roman"/>
                          <a:cs typeface="Times New Roman"/>
                          <a:sym typeface="Times New Roman"/>
                        </a:rPr>
                        <a:t> 3.21389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82" name="Google Shape;282;p46"/>
          <p:cNvSpPr txBox="1"/>
          <p:nvPr/>
        </p:nvSpPr>
        <p:spPr>
          <a:xfrm>
            <a:off x="164700" y="1266875"/>
            <a:ext cx="608100" cy="191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Times New Roman"/>
                <a:ea typeface="Times New Roman"/>
                <a:cs typeface="Times New Roman"/>
                <a:sym typeface="Times New Roman"/>
              </a:rPr>
              <a:t>R</a:t>
            </a:r>
            <a:endParaRPr sz="1800">
              <a:latin typeface="Times New Roman"/>
              <a:ea typeface="Times New Roman"/>
              <a:cs typeface="Times New Roman"/>
              <a:sym typeface="Times New Roman"/>
            </a:endParaRPr>
          </a:p>
          <a:p>
            <a:pPr indent="0" lvl="0" marL="0" rtl="0" algn="ctr">
              <a:spcBef>
                <a:spcPts val="0"/>
              </a:spcBef>
              <a:spcAft>
                <a:spcPts val="0"/>
              </a:spcAft>
              <a:buNone/>
            </a:pPr>
            <a:r>
              <a:rPr lang="en" sz="1800">
                <a:latin typeface="Times New Roman"/>
                <a:ea typeface="Times New Roman"/>
                <a:cs typeface="Times New Roman"/>
                <a:sym typeface="Times New Roman"/>
              </a:rPr>
              <a:t>E</a:t>
            </a:r>
            <a:endParaRPr sz="1800">
              <a:latin typeface="Times New Roman"/>
              <a:ea typeface="Times New Roman"/>
              <a:cs typeface="Times New Roman"/>
              <a:sym typeface="Times New Roman"/>
            </a:endParaRPr>
          </a:p>
          <a:p>
            <a:pPr indent="0" lvl="0" marL="0" rtl="0" algn="ctr">
              <a:spcBef>
                <a:spcPts val="0"/>
              </a:spcBef>
              <a:spcAft>
                <a:spcPts val="0"/>
              </a:spcAft>
              <a:buNone/>
            </a:pPr>
            <a:r>
              <a:rPr lang="en" sz="1800">
                <a:latin typeface="Times New Roman"/>
                <a:ea typeface="Times New Roman"/>
                <a:cs typeface="Times New Roman"/>
                <a:sym typeface="Times New Roman"/>
              </a:rPr>
              <a:t>S</a:t>
            </a:r>
            <a:endParaRPr sz="1800">
              <a:latin typeface="Times New Roman"/>
              <a:ea typeface="Times New Roman"/>
              <a:cs typeface="Times New Roman"/>
              <a:sym typeface="Times New Roman"/>
            </a:endParaRPr>
          </a:p>
          <a:p>
            <a:pPr indent="0" lvl="0" marL="0" rtl="0" algn="ctr">
              <a:spcBef>
                <a:spcPts val="0"/>
              </a:spcBef>
              <a:spcAft>
                <a:spcPts val="0"/>
              </a:spcAft>
              <a:buNone/>
            </a:pPr>
            <a:r>
              <a:rPr lang="en" sz="1800">
                <a:latin typeface="Times New Roman"/>
                <a:ea typeface="Times New Roman"/>
                <a:cs typeface="Times New Roman"/>
                <a:sym typeface="Times New Roman"/>
              </a:rPr>
              <a:t>U</a:t>
            </a:r>
            <a:endParaRPr sz="1800">
              <a:latin typeface="Times New Roman"/>
              <a:ea typeface="Times New Roman"/>
              <a:cs typeface="Times New Roman"/>
              <a:sym typeface="Times New Roman"/>
            </a:endParaRPr>
          </a:p>
          <a:p>
            <a:pPr indent="0" lvl="0" marL="0" rtl="0" algn="ctr">
              <a:spcBef>
                <a:spcPts val="0"/>
              </a:spcBef>
              <a:spcAft>
                <a:spcPts val="0"/>
              </a:spcAft>
              <a:buNone/>
            </a:pPr>
            <a:r>
              <a:rPr lang="en" sz="1800">
                <a:latin typeface="Times New Roman"/>
                <a:ea typeface="Times New Roman"/>
                <a:cs typeface="Times New Roman"/>
                <a:sym typeface="Times New Roman"/>
              </a:rPr>
              <a:t>L</a:t>
            </a:r>
            <a:endParaRPr sz="1800">
              <a:latin typeface="Times New Roman"/>
              <a:ea typeface="Times New Roman"/>
              <a:cs typeface="Times New Roman"/>
              <a:sym typeface="Times New Roman"/>
            </a:endParaRPr>
          </a:p>
          <a:p>
            <a:pPr indent="0" lvl="0" marL="0" rtl="0" algn="ctr">
              <a:spcBef>
                <a:spcPts val="0"/>
              </a:spcBef>
              <a:spcAft>
                <a:spcPts val="0"/>
              </a:spcAft>
              <a:buNone/>
            </a:pPr>
            <a:r>
              <a:rPr lang="en" sz="1800">
                <a:latin typeface="Times New Roman"/>
                <a:ea typeface="Times New Roman"/>
                <a:cs typeface="Times New Roman"/>
                <a:sym typeface="Times New Roman"/>
              </a:rPr>
              <a:t>T</a:t>
            </a:r>
            <a:endParaRPr sz="1800">
              <a:latin typeface="Times New Roman"/>
              <a:ea typeface="Times New Roman"/>
              <a:cs typeface="Times New Roman"/>
              <a:sym typeface="Times New Roman"/>
            </a:endParaRPr>
          </a:p>
          <a:p>
            <a:pPr indent="0" lvl="0" marL="0" rtl="0" algn="ctr">
              <a:spcBef>
                <a:spcPts val="0"/>
              </a:spcBef>
              <a:spcAft>
                <a:spcPts val="0"/>
              </a:spcAft>
              <a:buNone/>
            </a:pPr>
            <a:r>
              <a:t/>
            </a:r>
            <a:endParaRPr sz="1800">
              <a:latin typeface="Times New Roman"/>
              <a:ea typeface="Times New Roman"/>
              <a:cs typeface="Times New Roman"/>
              <a:sym typeface="Times New Roman"/>
            </a:endParaRPr>
          </a:p>
        </p:txBody>
      </p:sp>
      <p:sp>
        <p:nvSpPr>
          <p:cNvPr id="283" name="Google Shape;283;p46"/>
          <p:cNvSpPr txBox="1"/>
          <p:nvPr/>
        </p:nvSpPr>
        <p:spPr>
          <a:xfrm>
            <a:off x="8298000" y="608100"/>
            <a:ext cx="734700" cy="37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Table 1: Descriptive Statistics of all the variables</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latin typeface="Times New Roman"/>
                <a:ea typeface="Times New Roman"/>
                <a:cs typeface="Times New Roman"/>
                <a:sym typeface="Times New Roman"/>
              </a:rPr>
              <a:t>Source: Estimates by the Author</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7"/>
          <p:cNvSpPr txBox="1"/>
          <p:nvPr/>
        </p:nvSpPr>
        <p:spPr>
          <a:xfrm>
            <a:off x="131550" y="0"/>
            <a:ext cx="8880900" cy="96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latin typeface="Times New Roman"/>
                <a:ea typeface="Times New Roman"/>
                <a:cs typeface="Times New Roman"/>
                <a:sym typeface="Times New Roman"/>
              </a:rPr>
              <a:t>Unit Root Test Results; </a:t>
            </a:r>
            <a:r>
              <a:rPr lang="en">
                <a:solidFill>
                  <a:schemeClr val="dk1"/>
                </a:solidFill>
                <a:latin typeface="Times New Roman"/>
                <a:ea typeface="Times New Roman"/>
                <a:cs typeface="Times New Roman"/>
                <a:sym typeface="Times New Roman"/>
              </a:rPr>
              <a:t>Table 2: ADF  test results for monthly series of variables</a:t>
            </a:r>
            <a:endParaRPr sz="2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p:txBody>
      </p:sp>
      <p:graphicFrame>
        <p:nvGraphicFramePr>
          <p:cNvPr id="289" name="Google Shape;289;p47"/>
          <p:cNvGraphicFramePr/>
          <p:nvPr/>
        </p:nvGraphicFramePr>
        <p:xfrm>
          <a:off x="952500" y="476250"/>
          <a:ext cx="3000000" cy="3000000"/>
        </p:xfrm>
        <a:graphic>
          <a:graphicData uri="http://schemas.openxmlformats.org/drawingml/2006/table">
            <a:tbl>
              <a:tblPr>
                <a:noFill/>
                <a:tableStyleId>{9376EDE6-335D-4807-8C5C-3591A90DA23A}</a:tableStyleId>
              </a:tblPr>
              <a:tblGrid>
                <a:gridCol w="2413000"/>
                <a:gridCol w="2413000"/>
                <a:gridCol w="2413000"/>
              </a:tblGrid>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p-value/variable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ADF (At Level)</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ADF (F.D)</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ExR</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 0.2887**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0.0000*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GoldPr</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0.9945**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0.0000*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WTICrude Pr</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0.1037**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0.0000*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CPI_IND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0.6695**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0.0000*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Nifty50</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0.6283**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0.0000*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FxRes</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0.9731**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0.0000*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Ind3monYie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0.2320**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0.0000*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Ind10yrYie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 0.0698**</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0.0000*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US10yrYie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0.1195**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0.0000*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8100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US3monYie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 0.4882**</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0.0000*</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90" name="Google Shape;290;p47"/>
          <p:cNvSpPr txBox="1"/>
          <p:nvPr/>
        </p:nvSpPr>
        <p:spPr>
          <a:xfrm>
            <a:off x="152025" y="4738100"/>
            <a:ext cx="8880900" cy="240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 sz="1000">
                <a:solidFill>
                  <a:schemeClr val="dk1"/>
                </a:solidFill>
                <a:latin typeface="Times New Roman"/>
                <a:ea typeface="Times New Roman"/>
                <a:cs typeface="Times New Roman"/>
                <a:sym typeface="Times New Roman"/>
              </a:rPr>
              <a:t>** Probability &gt;0.05 then Null Hypothesis is accepted. * Probability &lt; 0.05, then Null Hypothesis is rejected</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Open Sans"/>
              <a:ea typeface="Open Sans"/>
              <a:cs typeface="Open Sans"/>
              <a:sym typeface="Open Sans"/>
            </a:endParaRPr>
          </a:p>
        </p:txBody>
      </p:sp>
      <p:sp>
        <p:nvSpPr>
          <p:cNvPr id="291" name="Google Shape;291;p47"/>
          <p:cNvSpPr txBox="1"/>
          <p:nvPr/>
        </p:nvSpPr>
        <p:spPr>
          <a:xfrm>
            <a:off x="5054825" y="4776100"/>
            <a:ext cx="4206000" cy="240600"/>
          </a:xfrm>
          <a:prstGeom prst="rect">
            <a:avLst/>
          </a:prstGeom>
          <a:noFill/>
          <a:ln>
            <a:noFill/>
          </a:ln>
        </p:spPr>
        <p:txBody>
          <a:bodyPr anchorCtr="0" anchor="t" bIns="91425" lIns="91425" spcFirstLastPara="1" rIns="91425" wrap="square" tIns="91425">
            <a:noAutofit/>
          </a:bodyPr>
          <a:lstStyle/>
          <a:p>
            <a:pPr indent="0" lvl="0" marL="457200" rtl="0" algn="ctr">
              <a:lnSpc>
                <a:spcPct val="115000"/>
              </a:lnSpc>
              <a:spcBef>
                <a:spcPts val="1200"/>
              </a:spcBef>
              <a:spcAft>
                <a:spcPts val="1200"/>
              </a:spcAft>
              <a:buClr>
                <a:schemeClr val="dk1"/>
              </a:buClr>
              <a:buSzPts val="1100"/>
              <a:buFont typeface="Arial"/>
              <a:buNone/>
            </a:pPr>
            <a:r>
              <a:t/>
            </a:r>
            <a:endParaRPr>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nvSpPr>
        <p:spPr>
          <a:xfrm>
            <a:off x="240700" y="190025"/>
            <a:ext cx="8754000" cy="468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Unit Root Test Results: By applying the ADF test at the level for all variables, we observed all variables accepted the null hypothesis at 5% critical value and at the first difference, all variables rejected the null hypothesis at 5% critical level.</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Cointegration Test Results: Since all variables in the model are integrated of order one I(1), the cointegration test is applicable. Johansen test is carried out with the appropriate number of lags to eliminate serial correlation.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457200" lvl="0" marL="914400" rtl="0" algn="l">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Table 3: Select order criteria for the cointegration test; </a:t>
            </a:r>
            <a:r>
              <a:rPr lang="en" sz="1000">
                <a:solidFill>
                  <a:schemeClr val="dk1"/>
                </a:solidFill>
                <a:latin typeface="Times New Roman"/>
                <a:ea typeface="Times New Roman"/>
                <a:cs typeface="Times New Roman"/>
                <a:sym typeface="Times New Roman"/>
              </a:rPr>
              <a:t>Source: Estimates by the Author</a:t>
            </a:r>
            <a:endParaRPr sz="1800">
              <a:solidFill>
                <a:schemeClr val="dk1"/>
              </a:solidFill>
              <a:latin typeface="Times New Roman"/>
              <a:ea typeface="Times New Roman"/>
              <a:cs typeface="Times New Roman"/>
              <a:sym typeface="Times New Roman"/>
            </a:endParaRPr>
          </a:p>
        </p:txBody>
      </p:sp>
      <p:pic>
        <p:nvPicPr>
          <p:cNvPr id="297" name="Google Shape;297;p48"/>
          <p:cNvPicPr preferRelativeResize="0"/>
          <p:nvPr/>
        </p:nvPicPr>
        <p:blipFill>
          <a:blip r:embed="rId3">
            <a:alphaModFix/>
          </a:blip>
          <a:stretch>
            <a:fillRect/>
          </a:stretch>
        </p:blipFill>
        <p:spPr>
          <a:xfrm>
            <a:off x="164700" y="2382100"/>
            <a:ext cx="8374025" cy="2171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49"/>
          <p:cNvPicPr preferRelativeResize="0"/>
          <p:nvPr/>
        </p:nvPicPr>
        <p:blipFill>
          <a:blip r:embed="rId3">
            <a:alphaModFix/>
          </a:blip>
          <a:stretch>
            <a:fillRect/>
          </a:stretch>
        </p:blipFill>
        <p:spPr>
          <a:xfrm>
            <a:off x="152400" y="152400"/>
            <a:ext cx="8627025" cy="3610200"/>
          </a:xfrm>
          <a:prstGeom prst="rect">
            <a:avLst/>
          </a:prstGeom>
          <a:noFill/>
          <a:ln>
            <a:noFill/>
          </a:ln>
        </p:spPr>
      </p:pic>
      <p:sp>
        <p:nvSpPr>
          <p:cNvPr id="303" name="Google Shape;303;p49"/>
          <p:cNvSpPr txBox="1"/>
          <p:nvPr/>
        </p:nvSpPr>
        <p:spPr>
          <a:xfrm>
            <a:off x="278700" y="3901975"/>
            <a:ext cx="8678100" cy="108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Table 4: Johansen tests for cointegration, </a:t>
            </a:r>
            <a:r>
              <a:rPr lang="en" sz="1000">
                <a:solidFill>
                  <a:schemeClr val="dk1"/>
                </a:solidFill>
                <a:latin typeface="Times New Roman"/>
                <a:ea typeface="Times New Roman"/>
                <a:cs typeface="Times New Roman"/>
                <a:sym typeface="Times New Roman"/>
              </a:rPr>
              <a:t>Source: Estimates by the Author</a:t>
            </a:r>
            <a:endParaRPr sz="10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1800">
                <a:solidFill>
                  <a:schemeClr val="dk1"/>
                </a:solidFill>
                <a:latin typeface="Times New Roman"/>
                <a:ea typeface="Times New Roman"/>
                <a:cs typeface="Times New Roman"/>
                <a:sym typeface="Times New Roman"/>
              </a:rPr>
              <a:t>The Trace Test indicates 1 cointegrating equation as the null hypothesis of r = 1 is rejected, meaning that there is 1 long-run equilibrium relationship between the variables.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0"/>
          <p:cNvSpPr txBox="1"/>
          <p:nvPr/>
        </p:nvSpPr>
        <p:spPr>
          <a:xfrm>
            <a:off x="76000" y="76000"/>
            <a:ext cx="9068100" cy="495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VECM Estimation for Long Run: </a:t>
            </a:r>
            <a:r>
              <a:rPr lang="en" sz="1200">
                <a:solidFill>
                  <a:schemeClr val="dk1"/>
                </a:solidFill>
                <a:latin typeface="Times New Roman"/>
                <a:ea typeface="Times New Roman"/>
                <a:cs typeface="Times New Roman"/>
                <a:sym typeface="Times New Roman"/>
              </a:rPr>
              <a:t> </a:t>
            </a:r>
            <a:r>
              <a:rPr lang="en" sz="1800">
                <a:solidFill>
                  <a:schemeClr val="dk1"/>
                </a:solidFill>
                <a:latin typeface="Times New Roman"/>
                <a:ea typeface="Times New Roman"/>
                <a:cs typeface="Times New Roman"/>
                <a:sym typeface="Times New Roman"/>
              </a:rPr>
              <a:t>Since all the variables are I(1), we take the percentage changes of all the variables, i.e., (Xt - Xt-1) *100 / (Xt-1).</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309" name="Google Shape;309;p50"/>
          <p:cNvPicPr preferRelativeResize="0"/>
          <p:nvPr/>
        </p:nvPicPr>
        <p:blipFill>
          <a:blip r:embed="rId3">
            <a:alphaModFix/>
          </a:blip>
          <a:stretch>
            <a:fillRect/>
          </a:stretch>
        </p:blipFill>
        <p:spPr>
          <a:xfrm>
            <a:off x="253750" y="735150"/>
            <a:ext cx="8627025" cy="3610225"/>
          </a:xfrm>
          <a:prstGeom prst="rect">
            <a:avLst/>
          </a:prstGeom>
          <a:noFill/>
          <a:ln>
            <a:noFill/>
          </a:ln>
        </p:spPr>
      </p:pic>
      <p:sp>
        <p:nvSpPr>
          <p:cNvPr id="310" name="Google Shape;310;p50"/>
          <p:cNvSpPr txBox="1"/>
          <p:nvPr/>
        </p:nvSpPr>
        <p:spPr>
          <a:xfrm>
            <a:off x="266050" y="4370700"/>
            <a:ext cx="8728800" cy="595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Table 5: Vector error-correction model for INR/USD return, Source: Estimates by the Author</a:t>
            </a:r>
            <a:endParaRPr sz="1200">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nvSpPr>
        <p:spPr>
          <a:xfrm>
            <a:off x="228025" y="126675"/>
            <a:ext cx="8817600" cy="4826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All the coefficients (except nifty50 and India's 3-month bond yield) are significant even at a 1% significance level, while nifty50 is significant at a 10% significance level.</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The inflation rate is the main factor influencing the changes in the value of the INR/USD exchange rate.in the long run with the highest coefficient </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1% increase in gold price leads to a decrease in the INR/USD value by 3%, the decline in the dollar value against rupees can be interpreted as a gold price increase in rupee denomination and vice versa</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Value of WTI crude and INR/USD move hand in hand, which is in line with economic theory, as increases in the price of crude for a country that is a net importer of crude results in the depreciation of the currency of that country</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Increase in the country's foreign exchange reserve will lead to the appreciation of the currency (INR), i.e. a decrease in the value of INR/USD</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The 10-year bond yield of India and the USA are respectively with positive and negative coefficients, as an increase in long term bond yield is seen as sign of higher Inflation (above the acceptable range of central banks) which leads to investors moving away from investing in assets of that country which leads to depreciation of the domestic currency</a:t>
            </a:r>
            <a:endParaRPr sz="180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2"/>
          <p:cNvSpPr txBox="1"/>
          <p:nvPr/>
        </p:nvSpPr>
        <p:spPr>
          <a:xfrm>
            <a:off x="278700" y="177350"/>
            <a:ext cx="8716200" cy="4725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Nifty50,  is significant at a 10% level of significance, an increases in return on the Indian equity market value lead to increases in investment by foreign investors which in turn increases the demand for INR (domestic currency) leading to the appreciation of INR</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sz="1800">
                <a:latin typeface="Times New Roman"/>
                <a:ea typeface="Times New Roman"/>
                <a:cs typeface="Times New Roman"/>
                <a:sym typeface="Times New Roman"/>
              </a:rPr>
              <a:t>This makes the long-run error correction term:</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sz="1800">
                <a:latin typeface="Times New Roman"/>
                <a:ea typeface="Times New Roman"/>
                <a:cs typeface="Times New Roman"/>
                <a:sym typeface="Times New Roman"/>
              </a:rPr>
              <a:t>where all the variables are the percentage change from last month (or monthly returns).</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p:txBody>
      </p:sp>
      <p:pic>
        <p:nvPicPr>
          <p:cNvPr id="321" name="Google Shape;321;p52"/>
          <p:cNvPicPr preferRelativeResize="0"/>
          <p:nvPr/>
        </p:nvPicPr>
        <p:blipFill>
          <a:blip r:embed="rId3">
            <a:alphaModFix/>
          </a:blip>
          <a:stretch>
            <a:fillRect/>
          </a:stretch>
        </p:blipFill>
        <p:spPr>
          <a:xfrm>
            <a:off x="278700" y="2147900"/>
            <a:ext cx="8640076" cy="1133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3"/>
          <p:cNvSpPr txBox="1"/>
          <p:nvPr/>
        </p:nvSpPr>
        <p:spPr>
          <a:xfrm>
            <a:off x="114025" y="114025"/>
            <a:ext cx="8931600" cy="4877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Regression analysis between September 2021 to April 2023 to observe the effect of the macroeconomic variable on INR/USD during the recent high volatility post covid-19 period</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We dropped Nifty50, USA's 3-month bond yield, and India's 3-month bond yield</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VAR model to capture the effect of macroeconomic variables in the short run after performing the ADF test and finding the appropriate lag order</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Results</a:t>
            </a:r>
            <a:endParaRPr sz="24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All our selected variables to be non-stationary at the level and stationary at the first difference after the ADF test, for the selected time period.</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4"/>
          <p:cNvSpPr txBox="1"/>
          <p:nvPr/>
        </p:nvSpPr>
        <p:spPr>
          <a:xfrm>
            <a:off x="114025" y="126675"/>
            <a:ext cx="8842800" cy="477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a:p>
            <a:pPr indent="0" lvl="0" marL="0" rtl="0" algn="ctr">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Table 6: Select order criteria for the VAR model, Source: Estimates by the Author</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800">
                <a:solidFill>
                  <a:schemeClr val="dk1"/>
                </a:solidFill>
                <a:latin typeface="Times New Roman"/>
                <a:ea typeface="Times New Roman"/>
                <a:cs typeface="Times New Roman"/>
                <a:sym typeface="Times New Roman"/>
              </a:rPr>
              <a:t>Based on Table 6 test result for lag order determination, we used the VAR model with lag order 3 to find the results as mentioned in Table 7</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1st lag of gold prices has a negative effect on the exchange rate, and 2nd and 3rd lag of gold prices has a positive effect on the value of INR/USD at 1% level of significance.</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1st lag of WTI crude has a positive effect, while 2nd and 3rd lag has a negative effect on the exchange rate at a 1% significance level.</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latin typeface="Times New Roman"/>
              <a:ea typeface="Times New Roman"/>
              <a:cs typeface="Times New Roman"/>
              <a:sym typeface="Times New Roman"/>
            </a:endParaRPr>
          </a:p>
        </p:txBody>
      </p:sp>
      <p:pic>
        <p:nvPicPr>
          <p:cNvPr id="332" name="Google Shape;332;p54"/>
          <p:cNvPicPr preferRelativeResize="0"/>
          <p:nvPr/>
        </p:nvPicPr>
        <p:blipFill>
          <a:blip r:embed="rId3">
            <a:alphaModFix/>
          </a:blip>
          <a:stretch>
            <a:fillRect/>
          </a:stretch>
        </p:blipFill>
        <p:spPr>
          <a:xfrm>
            <a:off x="152400" y="152400"/>
            <a:ext cx="8715700" cy="1924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5"/>
          <p:cNvSpPr txBox="1"/>
          <p:nvPr/>
        </p:nvSpPr>
        <p:spPr>
          <a:xfrm>
            <a:off x="240700" y="190025"/>
            <a:ext cx="8728800" cy="47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pic>
        <p:nvPicPr>
          <p:cNvPr id="338" name="Google Shape;338;p55"/>
          <p:cNvPicPr preferRelativeResize="0"/>
          <p:nvPr/>
        </p:nvPicPr>
        <p:blipFill>
          <a:blip r:embed="rId3">
            <a:alphaModFix/>
          </a:blip>
          <a:stretch>
            <a:fillRect/>
          </a:stretch>
        </p:blipFill>
        <p:spPr>
          <a:xfrm>
            <a:off x="240700" y="190025"/>
            <a:ext cx="5270200" cy="4725600"/>
          </a:xfrm>
          <a:prstGeom prst="rect">
            <a:avLst/>
          </a:prstGeom>
          <a:noFill/>
          <a:ln>
            <a:noFill/>
          </a:ln>
        </p:spPr>
      </p:pic>
      <p:sp>
        <p:nvSpPr>
          <p:cNvPr id="339" name="Google Shape;339;p55"/>
          <p:cNvSpPr txBox="1"/>
          <p:nvPr/>
        </p:nvSpPr>
        <p:spPr>
          <a:xfrm>
            <a:off x="5434875" y="240700"/>
            <a:ext cx="3610500" cy="4725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Inflation has the highest coefficient but has a  positive effect on the value of INR/USD at 1st lag order at a  1% level of significance, which is according to our stated behaviour, i.e. the effect of Inflation is sharp and different when it is outside its acceptable Range decided by the central bank.</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56"/>
          <p:cNvPicPr preferRelativeResize="0"/>
          <p:nvPr/>
        </p:nvPicPr>
        <p:blipFill>
          <a:blip r:embed="rId3">
            <a:alphaModFix/>
          </a:blip>
          <a:stretch>
            <a:fillRect/>
          </a:stretch>
        </p:blipFill>
        <p:spPr>
          <a:xfrm>
            <a:off x="152400" y="152400"/>
            <a:ext cx="5358500" cy="4268975"/>
          </a:xfrm>
          <a:prstGeom prst="rect">
            <a:avLst/>
          </a:prstGeom>
          <a:noFill/>
          <a:ln>
            <a:noFill/>
          </a:ln>
        </p:spPr>
      </p:pic>
      <p:sp>
        <p:nvSpPr>
          <p:cNvPr id="345" name="Google Shape;345;p56"/>
          <p:cNvSpPr txBox="1"/>
          <p:nvPr/>
        </p:nvSpPr>
        <p:spPr>
          <a:xfrm>
            <a:off x="5650250" y="164700"/>
            <a:ext cx="3433200" cy="4814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India's foreign exchange reserve has a negative effect at the 1st and 3rd lag order while a positive effect at the 2nd lag order at a 1% significance level</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India's 10-year bond yield has a positive effect, and USA's 10-year bond yield has a negative effect on all 3 lag orders, respectively, at a 1% significance level.</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p:txBody>
      </p:sp>
      <p:sp>
        <p:nvSpPr>
          <p:cNvPr id="346" name="Google Shape;346;p56"/>
          <p:cNvSpPr txBox="1"/>
          <p:nvPr/>
        </p:nvSpPr>
        <p:spPr>
          <a:xfrm>
            <a:off x="304050" y="4459400"/>
            <a:ext cx="5206800" cy="506700"/>
          </a:xfrm>
          <a:prstGeom prst="rect">
            <a:avLst/>
          </a:prstGeom>
          <a:noFill/>
          <a:ln>
            <a:noFill/>
          </a:ln>
        </p:spPr>
        <p:txBody>
          <a:bodyPr anchorCtr="0" anchor="t" bIns="91425" lIns="91425" spcFirstLastPara="1" rIns="91425" wrap="square" tIns="91425">
            <a:noAutofit/>
          </a:bodyPr>
          <a:lstStyle/>
          <a:p>
            <a:pPr indent="457200" lvl="0" marL="0" rtl="0" algn="ctr">
              <a:lnSpc>
                <a:spcPct val="115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Table 7: Vector Autoregression Test Results for the Period of Sep21 to April 23, Source: Estimates by the Author</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7"/>
          <p:cNvSpPr txBox="1"/>
          <p:nvPr/>
        </p:nvSpPr>
        <p:spPr>
          <a:xfrm>
            <a:off x="126675" y="101350"/>
            <a:ext cx="8855400" cy="48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latin typeface="Times New Roman"/>
                <a:ea typeface="Times New Roman"/>
                <a:cs typeface="Times New Roman"/>
                <a:sym typeface="Times New Roman"/>
              </a:rPr>
              <a:t>Comparison with other countries' exchange rate</a:t>
            </a:r>
            <a:endParaRPr sz="24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Next, we compared the changes in valuation of currencies of  QUAD nations, BRICS nations, Euro, Pound-Sterling, Mexican Peso, South Korean Won and Indonesian Ruppee wrt USD post covid-19.</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The period of comparison is between </a:t>
            </a:r>
            <a:r>
              <a:rPr lang="en" sz="1800">
                <a:latin typeface="Times New Roman"/>
                <a:ea typeface="Times New Roman"/>
                <a:cs typeface="Times New Roman"/>
                <a:sym typeface="Times New Roman"/>
              </a:rPr>
              <a:t>June' 21</a:t>
            </a:r>
            <a:r>
              <a:rPr lang="en" sz="1800">
                <a:latin typeface="Times New Roman"/>
                <a:ea typeface="Times New Roman"/>
                <a:cs typeface="Times New Roman"/>
                <a:sym typeface="Times New Roman"/>
              </a:rPr>
              <a:t> to </a:t>
            </a:r>
            <a:r>
              <a:rPr lang="en" sz="1800">
                <a:latin typeface="Times New Roman"/>
                <a:ea typeface="Times New Roman"/>
                <a:cs typeface="Times New Roman"/>
                <a:sym typeface="Times New Roman"/>
              </a:rPr>
              <a:t>April 23 </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0" lvl="0" marL="457200" rtl="0" algn="l">
              <a:spcBef>
                <a:spcPts val="0"/>
              </a:spcBef>
              <a:spcAft>
                <a:spcPts val="0"/>
              </a:spcAft>
              <a:buNone/>
            </a:pPr>
            <a:r>
              <a:rPr lang="en" sz="2400">
                <a:latin typeface="Times New Roman"/>
                <a:ea typeface="Times New Roman"/>
                <a:cs typeface="Times New Roman"/>
                <a:sym typeface="Times New Roman"/>
              </a:rPr>
              <a:t>Observations:</a:t>
            </a:r>
            <a:endParaRPr sz="24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We observe that INR/USD has devalued 12.26% on comparison between its maximum and minimum value, only bettered by IDR/USD at 10.83% and similar to CAD/USD at 12.02% and CNY/USD at 13.34%</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graphicFrame>
        <p:nvGraphicFramePr>
          <p:cNvPr id="356" name="Google Shape;356;p58"/>
          <p:cNvGraphicFramePr/>
          <p:nvPr/>
        </p:nvGraphicFramePr>
        <p:xfrm>
          <a:off x="1237875" y="-3312"/>
          <a:ext cx="3000000" cy="3000000"/>
        </p:xfrm>
        <a:graphic>
          <a:graphicData uri="http://schemas.openxmlformats.org/drawingml/2006/table">
            <a:tbl>
              <a:tblPr>
                <a:noFill/>
                <a:tableStyleId>{9376EDE6-335D-4807-8C5C-3591A90DA23A}</a:tableStyleId>
              </a:tblPr>
              <a:tblGrid>
                <a:gridCol w="2222750"/>
                <a:gridCol w="2222750"/>
                <a:gridCol w="2222750"/>
              </a:tblGrid>
              <a:tr h="513475">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The relative distance of maximum from the minimum value</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The relative size of Range compared to the central spread</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INR_USD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12.2608</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25.2626</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EUR_USD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22.2769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163.0429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GBP_USD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23.9709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90.3495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CAD_USD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12.0204</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76.5553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JAY_USD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33.8624</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76.4488</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AUD_USD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19.9858</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125.7366</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KRW_USD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27.0315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144.4791</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CNY_USD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13.3463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80.0196</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RUB_USD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64.3463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136.9197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ZAR_USD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31.2396</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74.0295</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BRL_USD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18.9319</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289.173</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IDR_USD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10.8317</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122.5768</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356150">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MXN_USD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15.6464</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lang="en" sz="1200">
                          <a:latin typeface="Times New Roman"/>
                          <a:ea typeface="Times New Roman"/>
                          <a:cs typeface="Times New Roman"/>
                          <a:sym typeface="Times New Roman"/>
                        </a:rPr>
                        <a:t>235.8464</a:t>
                      </a:r>
                      <a:endParaRPr sz="1200">
                        <a:latin typeface="Times New Roman"/>
                        <a:ea typeface="Times New Roman"/>
                        <a:cs typeface="Times New Roman"/>
                        <a:sym typeface="Times New Roman"/>
                      </a:endParaRPr>
                    </a:p>
                  </a:txBody>
                  <a:tcPr marT="63500" marB="63500" marR="63500" marL="63500">
                    <a:lnL cap="flat" cmpd="sng">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57" name="Google Shape;357;p58"/>
          <p:cNvSpPr txBox="1"/>
          <p:nvPr/>
        </p:nvSpPr>
        <p:spPr>
          <a:xfrm>
            <a:off x="114025" y="291375"/>
            <a:ext cx="924600" cy="4499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Table 8: Percentage devaluation of currencies and relative size of Range compared to iqr</a:t>
            </a:r>
            <a:endParaRPr sz="1200">
              <a:solidFill>
                <a:schemeClr val="dk1"/>
              </a:solidFill>
              <a:latin typeface="Times New Roman"/>
              <a:ea typeface="Times New Roman"/>
              <a:cs typeface="Times New Roman"/>
              <a:sym typeface="Times New Roman"/>
            </a:endParaRPr>
          </a:p>
          <a:p>
            <a:pPr indent="0" lvl="0" marL="0" rtl="0" algn="ctr">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Source: Estimates by the Author</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9"/>
          <p:cNvSpPr txBox="1"/>
          <p:nvPr/>
        </p:nvSpPr>
        <p:spPr>
          <a:xfrm>
            <a:off x="291375" y="190025"/>
            <a:ext cx="8766900" cy="4750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RUB/USD the most depreciating at 64.34% wrt its minimum value followed by other significant devaluation of JAY/USD at 33.86%, ZAR/USD at 31.23%, KRW/USD at 27.03%, GBP/USD at 23.97%, EUR/USD at 22.27%, AUD?USD at 19.98%, and BRL/USD and MXN/USD at 18.93% and 15.64% respectively.</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INR/USD has the lowest kurtosis meaning it has the least heavy tails compared to others, and data points are more evenly spread out,compared to exchange rates with high kurtosis who likely to have more extreme values or a heavily pronounced tail either on left or right side of mean depending upon the sign of their skewness.</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We can confer that INR, like all currencies, has devalued wrt USD post covid-19 but has performed relatively much better than both in terms of its percentage devaluation, presence of extreme values when compared to the mean based on its kurtosis, and the spread of Range compared to the relative spread of inter-quantile Range.</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Among important global economic groups such as QUAD and BRICS, of which India is a vital part, we can conclude that INR has performed best among all currencies when compared their devaluation against USD</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Also, is also one of the top-performing currencies among G-20 nations.</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0"/>
          <p:cNvSpPr txBox="1"/>
          <p:nvPr/>
        </p:nvSpPr>
        <p:spPr>
          <a:xfrm>
            <a:off x="266050" y="253375"/>
            <a:ext cx="8716200" cy="46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pic>
        <p:nvPicPr>
          <p:cNvPr id="368" name="Google Shape;368;p60"/>
          <p:cNvPicPr preferRelativeResize="0"/>
          <p:nvPr/>
        </p:nvPicPr>
        <p:blipFill>
          <a:blip r:embed="rId3">
            <a:alphaModFix/>
          </a:blip>
          <a:stretch>
            <a:fillRect/>
          </a:stretch>
        </p:blipFill>
        <p:spPr>
          <a:xfrm>
            <a:off x="152400" y="152400"/>
            <a:ext cx="7005425" cy="4991100"/>
          </a:xfrm>
          <a:prstGeom prst="rect">
            <a:avLst/>
          </a:prstGeom>
          <a:noFill/>
          <a:ln>
            <a:noFill/>
          </a:ln>
        </p:spPr>
      </p:pic>
      <p:sp>
        <p:nvSpPr>
          <p:cNvPr id="369" name="Google Shape;369;p60"/>
          <p:cNvSpPr txBox="1"/>
          <p:nvPr/>
        </p:nvSpPr>
        <p:spPr>
          <a:xfrm>
            <a:off x="7322525" y="164700"/>
            <a:ext cx="1545600" cy="472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Table 9: Descriptive Statistics of  Exchange Rate</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latin typeface="Times New Roman"/>
                <a:ea typeface="Times New Roman"/>
                <a:cs typeface="Times New Roman"/>
                <a:sym typeface="Times New Roman"/>
              </a:rPr>
              <a:t>Source: Estimates by the Author</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1"/>
          <p:cNvSpPr txBox="1"/>
          <p:nvPr/>
        </p:nvSpPr>
        <p:spPr>
          <a:xfrm>
            <a:off x="253375" y="152025"/>
            <a:ext cx="8766900" cy="47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Conclusion and Discussion</a:t>
            </a:r>
            <a:endParaRPr sz="24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For the Period of Feb 2002 to Apr 2023 we found that </a:t>
            </a:r>
            <a:r>
              <a:rPr lang="en" sz="1800">
                <a:solidFill>
                  <a:schemeClr val="dk1"/>
                </a:solidFill>
                <a:latin typeface="Times New Roman"/>
                <a:ea typeface="Times New Roman"/>
                <a:cs typeface="Times New Roman"/>
                <a:sym typeface="Times New Roman"/>
              </a:rPr>
              <a:t>movement</a:t>
            </a:r>
            <a:r>
              <a:rPr lang="en" sz="1800">
                <a:solidFill>
                  <a:schemeClr val="dk1"/>
                </a:solidFill>
                <a:latin typeface="Times New Roman"/>
                <a:ea typeface="Times New Roman"/>
                <a:cs typeface="Times New Roman"/>
                <a:sym typeface="Times New Roman"/>
              </a:rPr>
              <a:t> in INR/USD has a negative relation to gold prices, cpi India, India's foreign exchange reserve, USA's 10-year bond yield and USA's 3-month bond yield and positive relation with WTI crude price, India's 10-year bond yield has a positive correlation with INR/USD at 1% level of significance, while nifty50 has negative correlation at 10% level of significance</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In the short period of high fluctuations in INR/USD we fund that except for CPI India, all variables have the same correlation with the exchange rate (in terms of the direction of their effect) at 1st lag order, while Inflation in a high volatility period during which it was outside its acceptable Range has a positive effect at 1st lag order on the exchange rate of INR vis-a-vis USD.</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2"/>
          <p:cNvSpPr txBox="1"/>
          <p:nvPr/>
        </p:nvSpPr>
        <p:spPr>
          <a:xfrm>
            <a:off x="177350" y="164700"/>
            <a:ext cx="8880900" cy="4776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To comment on the recent discussion of whether the INR has lost its value or USD has strengthened, we compared INR devaluation to other currencies devaluation wrt USD, and concluded that INR has performed much better compared to all the currencies around the world in terms of its relative extreme values during the period and relative variation  in its Range compared to the inter-quantile Range</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The Study does not consider the devaluation of INR a bad thing for the Indian economy, rather devaluation of INR for the highly growing economy is good for the overall increase in export of the Indian economy as long as the exports are also rising for the Indian economy.</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The study considers sudden fluctuations and sharp devaluations to be bad for the economy as they can lead to the exit of foreign investors, loss for the Indian companies operating at the global level while also making the financial market unattractive due to high volatility, a sudden increase in current account deficit which in turn cause the downfall in GDP d</a:t>
            </a:r>
            <a:endParaRPr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Open Sans"/>
              <a:ea typeface="Open Sans"/>
              <a:cs typeface="Open Sans"/>
              <a:sym typeface="Ope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3"/>
          <p:cNvSpPr txBox="1"/>
          <p:nvPr/>
        </p:nvSpPr>
        <p:spPr>
          <a:xfrm>
            <a:off x="126675" y="139350"/>
            <a:ext cx="8918700" cy="476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latin typeface="Times New Roman"/>
              <a:ea typeface="Times New Roman"/>
              <a:cs typeface="Times New Roman"/>
              <a:sym typeface="Times New Roman"/>
            </a:endParaRPr>
          </a:p>
          <a:p>
            <a:pPr indent="0" lvl="0" marL="0" rtl="0" algn="ctr">
              <a:spcBef>
                <a:spcPts val="0"/>
              </a:spcBef>
              <a:spcAft>
                <a:spcPts val="0"/>
              </a:spcAft>
              <a:buNone/>
            </a:pPr>
            <a:r>
              <a:t/>
            </a:r>
            <a:endParaRPr sz="2400">
              <a:latin typeface="Times New Roman"/>
              <a:ea typeface="Times New Roman"/>
              <a:cs typeface="Times New Roman"/>
              <a:sym typeface="Times New Roman"/>
            </a:endParaRPr>
          </a:p>
        </p:txBody>
      </p:sp>
      <p:pic>
        <p:nvPicPr>
          <p:cNvPr id="385" name="Google Shape;385;p63"/>
          <p:cNvPicPr preferRelativeResize="0"/>
          <p:nvPr/>
        </p:nvPicPr>
        <p:blipFill>
          <a:blip r:embed="rId3">
            <a:alphaModFix/>
          </a:blip>
          <a:stretch>
            <a:fillRect/>
          </a:stretch>
        </p:blipFill>
        <p:spPr>
          <a:xfrm>
            <a:off x="152400" y="152400"/>
            <a:ext cx="2809875" cy="2581275"/>
          </a:xfrm>
          <a:prstGeom prst="rect">
            <a:avLst/>
          </a:prstGeom>
          <a:noFill/>
          <a:ln>
            <a:noFill/>
          </a:ln>
        </p:spPr>
      </p:pic>
      <p:pic>
        <p:nvPicPr>
          <p:cNvPr id="386" name="Google Shape;386;p63"/>
          <p:cNvPicPr preferRelativeResize="0"/>
          <p:nvPr/>
        </p:nvPicPr>
        <p:blipFill>
          <a:blip r:embed="rId4">
            <a:alphaModFix/>
          </a:blip>
          <a:stretch>
            <a:fillRect/>
          </a:stretch>
        </p:blipFill>
        <p:spPr>
          <a:xfrm>
            <a:off x="3067725" y="190600"/>
            <a:ext cx="3000375" cy="2504875"/>
          </a:xfrm>
          <a:prstGeom prst="rect">
            <a:avLst/>
          </a:prstGeom>
          <a:noFill/>
          <a:ln>
            <a:noFill/>
          </a:ln>
        </p:spPr>
      </p:pic>
      <p:pic>
        <p:nvPicPr>
          <p:cNvPr id="387" name="Google Shape;387;p63"/>
          <p:cNvPicPr preferRelativeResize="0"/>
          <p:nvPr/>
        </p:nvPicPr>
        <p:blipFill>
          <a:blip r:embed="rId5">
            <a:alphaModFix/>
          </a:blip>
          <a:stretch>
            <a:fillRect/>
          </a:stretch>
        </p:blipFill>
        <p:spPr>
          <a:xfrm>
            <a:off x="6173550" y="219075"/>
            <a:ext cx="2952750" cy="2447925"/>
          </a:xfrm>
          <a:prstGeom prst="rect">
            <a:avLst/>
          </a:prstGeom>
          <a:noFill/>
          <a:ln>
            <a:noFill/>
          </a:ln>
        </p:spPr>
      </p:pic>
      <p:pic>
        <p:nvPicPr>
          <p:cNvPr id="388" name="Google Shape;388;p63"/>
          <p:cNvPicPr preferRelativeResize="0"/>
          <p:nvPr/>
        </p:nvPicPr>
        <p:blipFill>
          <a:blip r:embed="rId6">
            <a:alphaModFix/>
          </a:blip>
          <a:stretch>
            <a:fillRect/>
          </a:stretch>
        </p:blipFill>
        <p:spPr>
          <a:xfrm>
            <a:off x="123825" y="2571750"/>
            <a:ext cx="2838450" cy="2428875"/>
          </a:xfrm>
          <a:prstGeom prst="rect">
            <a:avLst/>
          </a:prstGeom>
          <a:noFill/>
          <a:ln>
            <a:noFill/>
          </a:ln>
        </p:spPr>
      </p:pic>
      <p:pic>
        <p:nvPicPr>
          <p:cNvPr id="389" name="Google Shape;389;p63"/>
          <p:cNvPicPr preferRelativeResize="0"/>
          <p:nvPr/>
        </p:nvPicPr>
        <p:blipFill>
          <a:blip r:embed="rId7">
            <a:alphaModFix/>
          </a:blip>
          <a:stretch>
            <a:fillRect/>
          </a:stretch>
        </p:blipFill>
        <p:spPr>
          <a:xfrm>
            <a:off x="3114675" y="2719400"/>
            <a:ext cx="2914650" cy="2183350"/>
          </a:xfrm>
          <a:prstGeom prst="rect">
            <a:avLst/>
          </a:prstGeom>
          <a:noFill/>
          <a:ln>
            <a:noFill/>
          </a:ln>
        </p:spPr>
      </p:pic>
      <p:pic>
        <p:nvPicPr>
          <p:cNvPr id="390" name="Google Shape;390;p63"/>
          <p:cNvPicPr preferRelativeResize="0"/>
          <p:nvPr/>
        </p:nvPicPr>
        <p:blipFill>
          <a:blip r:embed="rId8">
            <a:alphaModFix/>
          </a:blip>
          <a:stretch>
            <a:fillRect/>
          </a:stretch>
        </p:blipFill>
        <p:spPr>
          <a:xfrm>
            <a:off x="6181725" y="2749038"/>
            <a:ext cx="2914650" cy="21240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id="395" name="Google Shape;395;p64"/>
          <p:cNvPicPr preferRelativeResize="0"/>
          <p:nvPr/>
        </p:nvPicPr>
        <p:blipFill>
          <a:blip r:embed="rId3">
            <a:alphaModFix/>
          </a:blip>
          <a:stretch>
            <a:fillRect/>
          </a:stretch>
        </p:blipFill>
        <p:spPr>
          <a:xfrm>
            <a:off x="152400" y="152400"/>
            <a:ext cx="2895600" cy="2114550"/>
          </a:xfrm>
          <a:prstGeom prst="rect">
            <a:avLst/>
          </a:prstGeom>
          <a:noFill/>
          <a:ln>
            <a:noFill/>
          </a:ln>
        </p:spPr>
      </p:pic>
      <p:pic>
        <p:nvPicPr>
          <p:cNvPr id="396" name="Google Shape;396;p64"/>
          <p:cNvPicPr preferRelativeResize="0"/>
          <p:nvPr/>
        </p:nvPicPr>
        <p:blipFill>
          <a:blip r:embed="rId4">
            <a:alphaModFix/>
          </a:blip>
          <a:stretch>
            <a:fillRect/>
          </a:stretch>
        </p:blipFill>
        <p:spPr>
          <a:xfrm>
            <a:off x="3200400" y="152400"/>
            <a:ext cx="2895600" cy="2114550"/>
          </a:xfrm>
          <a:prstGeom prst="rect">
            <a:avLst/>
          </a:prstGeom>
          <a:noFill/>
          <a:ln>
            <a:noFill/>
          </a:ln>
        </p:spPr>
      </p:pic>
      <p:pic>
        <p:nvPicPr>
          <p:cNvPr id="397" name="Google Shape;397;p64"/>
          <p:cNvPicPr preferRelativeResize="0"/>
          <p:nvPr/>
        </p:nvPicPr>
        <p:blipFill>
          <a:blip r:embed="rId5">
            <a:alphaModFix/>
          </a:blip>
          <a:stretch>
            <a:fillRect/>
          </a:stretch>
        </p:blipFill>
        <p:spPr>
          <a:xfrm>
            <a:off x="152400" y="2419350"/>
            <a:ext cx="2952750" cy="2295525"/>
          </a:xfrm>
          <a:prstGeom prst="rect">
            <a:avLst/>
          </a:prstGeom>
          <a:noFill/>
          <a:ln>
            <a:noFill/>
          </a:ln>
        </p:spPr>
      </p:pic>
      <p:pic>
        <p:nvPicPr>
          <p:cNvPr id="398" name="Google Shape;398;p64"/>
          <p:cNvPicPr preferRelativeResize="0"/>
          <p:nvPr/>
        </p:nvPicPr>
        <p:blipFill>
          <a:blip r:embed="rId6">
            <a:alphaModFix/>
          </a:blip>
          <a:stretch>
            <a:fillRect/>
          </a:stretch>
        </p:blipFill>
        <p:spPr>
          <a:xfrm>
            <a:off x="3257550" y="2419350"/>
            <a:ext cx="2914650" cy="2286000"/>
          </a:xfrm>
          <a:prstGeom prst="rect">
            <a:avLst/>
          </a:prstGeom>
          <a:noFill/>
          <a:ln>
            <a:noFill/>
          </a:ln>
        </p:spPr>
      </p:pic>
      <p:pic>
        <p:nvPicPr>
          <p:cNvPr id="399" name="Google Shape;399;p64"/>
          <p:cNvPicPr preferRelativeResize="0"/>
          <p:nvPr/>
        </p:nvPicPr>
        <p:blipFill>
          <a:blip r:embed="rId7">
            <a:alphaModFix/>
          </a:blip>
          <a:stretch>
            <a:fillRect/>
          </a:stretch>
        </p:blipFill>
        <p:spPr>
          <a:xfrm>
            <a:off x="6324600" y="152400"/>
            <a:ext cx="2667000" cy="199807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65"/>
          <p:cNvPicPr preferRelativeResize="0"/>
          <p:nvPr/>
        </p:nvPicPr>
        <p:blipFill>
          <a:blip r:embed="rId3">
            <a:alphaModFix/>
          </a:blip>
          <a:stretch>
            <a:fillRect/>
          </a:stretch>
        </p:blipFill>
        <p:spPr>
          <a:xfrm>
            <a:off x="152400" y="152400"/>
            <a:ext cx="2990850" cy="2295525"/>
          </a:xfrm>
          <a:prstGeom prst="rect">
            <a:avLst/>
          </a:prstGeom>
          <a:noFill/>
          <a:ln>
            <a:noFill/>
          </a:ln>
        </p:spPr>
      </p:pic>
      <p:pic>
        <p:nvPicPr>
          <p:cNvPr id="405" name="Google Shape;405;p65"/>
          <p:cNvPicPr preferRelativeResize="0"/>
          <p:nvPr/>
        </p:nvPicPr>
        <p:blipFill>
          <a:blip r:embed="rId4">
            <a:alphaModFix/>
          </a:blip>
          <a:stretch>
            <a:fillRect/>
          </a:stretch>
        </p:blipFill>
        <p:spPr>
          <a:xfrm>
            <a:off x="3295650" y="152400"/>
            <a:ext cx="2800350" cy="2257425"/>
          </a:xfrm>
          <a:prstGeom prst="rect">
            <a:avLst/>
          </a:prstGeom>
          <a:noFill/>
          <a:ln>
            <a:noFill/>
          </a:ln>
        </p:spPr>
      </p:pic>
      <p:pic>
        <p:nvPicPr>
          <p:cNvPr id="406" name="Google Shape;406;p65"/>
          <p:cNvPicPr preferRelativeResize="0"/>
          <p:nvPr/>
        </p:nvPicPr>
        <p:blipFill>
          <a:blip r:embed="rId5">
            <a:alphaModFix/>
          </a:blip>
          <a:stretch>
            <a:fillRect/>
          </a:stretch>
        </p:blipFill>
        <p:spPr>
          <a:xfrm>
            <a:off x="152400" y="2600325"/>
            <a:ext cx="2886075" cy="2257425"/>
          </a:xfrm>
          <a:prstGeom prst="rect">
            <a:avLst/>
          </a:prstGeom>
          <a:noFill/>
          <a:ln>
            <a:noFill/>
          </a:ln>
        </p:spPr>
      </p:pic>
      <p:pic>
        <p:nvPicPr>
          <p:cNvPr id="407" name="Google Shape;407;p65"/>
          <p:cNvPicPr preferRelativeResize="0"/>
          <p:nvPr/>
        </p:nvPicPr>
        <p:blipFill rotWithShape="1">
          <a:blip r:embed="rId6">
            <a:alphaModFix/>
          </a:blip>
          <a:srcRect b="0" l="0" r="0" t="3185"/>
          <a:stretch/>
        </p:blipFill>
        <p:spPr>
          <a:xfrm>
            <a:off x="3190875" y="2600325"/>
            <a:ext cx="2971800" cy="2171700"/>
          </a:xfrm>
          <a:prstGeom prst="rect">
            <a:avLst/>
          </a:prstGeom>
          <a:noFill/>
          <a:ln>
            <a:noFill/>
          </a:ln>
        </p:spPr>
      </p:pic>
      <p:pic>
        <p:nvPicPr>
          <p:cNvPr id="408" name="Google Shape;408;p65"/>
          <p:cNvPicPr preferRelativeResize="0"/>
          <p:nvPr/>
        </p:nvPicPr>
        <p:blipFill>
          <a:blip r:embed="rId7">
            <a:alphaModFix/>
          </a:blip>
          <a:stretch>
            <a:fillRect/>
          </a:stretch>
        </p:blipFill>
        <p:spPr>
          <a:xfrm>
            <a:off x="6315075" y="152400"/>
            <a:ext cx="2676525" cy="22574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id="413" name="Google Shape;413;p66"/>
          <p:cNvPicPr preferRelativeResize="0"/>
          <p:nvPr/>
        </p:nvPicPr>
        <p:blipFill>
          <a:blip r:embed="rId3">
            <a:alphaModFix/>
          </a:blip>
          <a:stretch>
            <a:fillRect/>
          </a:stretch>
        </p:blipFill>
        <p:spPr>
          <a:xfrm>
            <a:off x="152400" y="152400"/>
            <a:ext cx="2981325" cy="2190750"/>
          </a:xfrm>
          <a:prstGeom prst="rect">
            <a:avLst/>
          </a:prstGeom>
          <a:noFill/>
          <a:ln>
            <a:noFill/>
          </a:ln>
        </p:spPr>
      </p:pic>
      <p:pic>
        <p:nvPicPr>
          <p:cNvPr id="414" name="Google Shape;414;p66"/>
          <p:cNvPicPr preferRelativeResize="0"/>
          <p:nvPr/>
        </p:nvPicPr>
        <p:blipFill>
          <a:blip r:embed="rId4">
            <a:alphaModFix/>
          </a:blip>
          <a:stretch>
            <a:fillRect/>
          </a:stretch>
        </p:blipFill>
        <p:spPr>
          <a:xfrm>
            <a:off x="3324125" y="166675"/>
            <a:ext cx="2828925" cy="2162175"/>
          </a:xfrm>
          <a:prstGeom prst="rect">
            <a:avLst/>
          </a:prstGeom>
          <a:noFill/>
          <a:ln>
            <a:noFill/>
          </a:ln>
        </p:spPr>
      </p:pic>
      <p:pic>
        <p:nvPicPr>
          <p:cNvPr id="415" name="Google Shape;415;p66"/>
          <p:cNvPicPr preferRelativeResize="0"/>
          <p:nvPr/>
        </p:nvPicPr>
        <p:blipFill>
          <a:blip r:embed="rId5">
            <a:alphaModFix/>
          </a:blip>
          <a:stretch>
            <a:fillRect/>
          </a:stretch>
        </p:blipFill>
        <p:spPr>
          <a:xfrm>
            <a:off x="152400" y="2495550"/>
            <a:ext cx="2886075" cy="2200275"/>
          </a:xfrm>
          <a:prstGeom prst="rect">
            <a:avLst/>
          </a:prstGeom>
          <a:noFill/>
          <a:ln>
            <a:noFill/>
          </a:ln>
        </p:spPr>
      </p:pic>
      <p:pic>
        <p:nvPicPr>
          <p:cNvPr id="416" name="Google Shape;416;p66"/>
          <p:cNvPicPr preferRelativeResize="0"/>
          <p:nvPr/>
        </p:nvPicPr>
        <p:blipFill>
          <a:blip r:embed="rId6">
            <a:alphaModFix/>
          </a:blip>
          <a:stretch>
            <a:fillRect/>
          </a:stretch>
        </p:blipFill>
        <p:spPr>
          <a:xfrm>
            <a:off x="3228875" y="2490788"/>
            <a:ext cx="2924175" cy="2209800"/>
          </a:xfrm>
          <a:prstGeom prst="rect">
            <a:avLst/>
          </a:prstGeom>
          <a:noFill/>
          <a:ln>
            <a:noFill/>
          </a:ln>
        </p:spPr>
      </p:pic>
      <p:pic>
        <p:nvPicPr>
          <p:cNvPr id="417" name="Google Shape;417;p66"/>
          <p:cNvPicPr preferRelativeResize="0"/>
          <p:nvPr/>
        </p:nvPicPr>
        <p:blipFill>
          <a:blip r:embed="rId7">
            <a:alphaModFix/>
          </a:blip>
          <a:stretch>
            <a:fillRect/>
          </a:stretch>
        </p:blipFill>
        <p:spPr>
          <a:xfrm>
            <a:off x="6213725" y="1608925"/>
            <a:ext cx="2828925" cy="2032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67"/>
          <p:cNvPicPr preferRelativeResize="0"/>
          <p:nvPr/>
        </p:nvPicPr>
        <p:blipFill>
          <a:blip r:embed="rId3">
            <a:alphaModFix/>
          </a:blip>
          <a:stretch>
            <a:fillRect/>
          </a:stretch>
        </p:blipFill>
        <p:spPr>
          <a:xfrm>
            <a:off x="152400" y="152400"/>
            <a:ext cx="2933700" cy="2143125"/>
          </a:xfrm>
          <a:prstGeom prst="rect">
            <a:avLst/>
          </a:prstGeom>
          <a:noFill/>
          <a:ln>
            <a:noFill/>
          </a:ln>
        </p:spPr>
      </p:pic>
      <p:pic>
        <p:nvPicPr>
          <p:cNvPr id="423" name="Google Shape;423;p67"/>
          <p:cNvPicPr preferRelativeResize="0"/>
          <p:nvPr/>
        </p:nvPicPr>
        <p:blipFill>
          <a:blip r:embed="rId4">
            <a:alphaModFix/>
          </a:blip>
          <a:stretch>
            <a:fillRect/>
          </a:stretch>
        </p:blipFill>
        <p:spPr>
          <a:xfrm>
            <a:off x="3238500" y="152400"/>
            <a:ext cx="2867025" cy="2143125"/>
          </a:xfrm>
          <a:prstGeom prst="rect">
            <a:avLst/>
          </a:prstGeom>
          <a:noFill/>
          <a:ln>
            <a:noFill/>
          </a:ln>
        </p:spPr>
      </p:pic>
      <p:pic>
        <p:nvPicPr>
          <p:cNvPr id="424" name="Google Shape;424;p67"/>
          <p:cNvPicPr preferRelativeResize="0"/>
          <p:nvPr/>
        </p:nvPicPr>
        <p:blipFill>
          <a:blip r:embed="rId5">
            <a:alphaModFix/>
          </a:blip>
          <a:stretch>
            <a:fillRect/>
          </a:stretch>
        </p:blipFill>
        <p:spPr>
          <a:xfrm>
            <a:off x="152400" y="2447925"/>
            <a:ext cx="2933700" cy="21526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8" name="Shape 428"/>
        <p:cNvGrpSpPr/>
        <p:nvPr/>
      </p:nvGrpSpPr>
      <p:grpSpPr>
        <a:xfrm>
          <a:off x="0" y="0"/>
          <a:ext cx="0" cy="0"/>
          <a:chOff x="0" y="0"/>
          <a:chExt cx="0" cy="0"/>
        </a:xfrm>
      </p:grpSpPr>
      <p:sp>
        <p:nvSpPr>
          <p:cNvPr id="429" name="Google Shape;429;p68"/>
          <p:cNvSpPr txBox="1"/>
          <p:nvPr/>
        </p:nvSpPr>
        <p:spPr>
          <a:xfrm>
            <a:off x="291375" y="114025"/>
            <a:ext cx="8665500" cy="482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sp>
        <p:nvSpPr>
          <p:cNvPr id="430" name="Google Shape;430;p68"/>
          <p:cNvSpPr txBox="1"/>
          <p:nvPr/>
        </p:nvSpPr>
        <p:spPr>
          <a:xfrm>
            <a:off x="3154500" y="3711925"/>
            <a:ext cx="734700" cy="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sp>
        <p:nvSpPr>
          <p:cNvPr id="431" name="Google Shape;431;p68"/>
          <p:cNvSpPr txBox="1"/>
          <p:nvPr/>
        </p:nvSpPr>
        <p:spPr>
          <a:xfrm rot="822">
            <a:off x="3230525" y="785250"/>
            <a:ext cx="2508600" cy="136860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A72A1E"/>
                </a:solidFill>
                <a:latin typeface="Times New Roman"/>
                <a:ea typeface="Times New Roman"/>
                <a:cs typeface="Times New Roman"/>
                <a:sym typeface="Times New Roman"/>
              </a:rPr>
              <a:t>Thank You</a:t>
            </a:r>
            <a:endParaRPr sz="3000">
              <a:solidFill>
                <a:srgbClr val="A72A1E"/>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