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4"/>
  </p:sldMasterIdLst>
  <p:notesMasterIdLst>
    <p:notesMasterId r:id="rId15"/>
  </p:notesMasterIdLst>
  <p:sldIdLst>
    <p:sldId id="256" r:id="rId5"/>
    <p:sldId id="278" r:id="rId6"/>
    <p:sldId id="271" r:id="rId7"/>
    <p:sldId id="279" r:id="rId8"/>
    <p:sldId id="270" r:id="rId9"/>
    <p:sldId id="276" r:id="rId10"/>
    <p:sldId id="267" r:id="rId11"/>
    <p:sldId id="266" r:id="rId12"/>
    <p:sldId id="268" r:id="rId13"/>
    <p:sldId id="269" r:id="rId14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C0504D"/>
    <a:srgbClr val="9BBB59"/>
    <a:srgbClr val="131F33"/>
    <a:srgbClr val="254061"/>
    <a:srgbClr val="14405D"/>
    <a:srgbClr val="FB6300"/>
    <a:srgbClr val="2980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998004-5AF2-46C7-49BD-5ED75D6DDD25}" v="144" dt="2025-04-27T23:02:36.075"/>
    <p1510:client id="{179375C0-28E5-E64F-EE71-F89449F49E86}" v="17" dt="2025-04-28T00:16:59.676"/>
    <p1510:client id="{27B205DD-7F9B-6DCD-4812-777B576C930A}" v="5" dt="2025-04-27T17:27:52.432"/>
    <p1510:client id="{8CFAA77A-1730-F146-9304-B667B54FFA0C}" v="63" dt="2025-04-27T19:12:31.968"/>
    <p1510:client id="{C2D8795B-53DB-454A-8D3E-23011BFC1FB8}" v="433" dt="2025-04-27T21:44:03.888"/>
    <p1510:client id="{D39C91BD-D94F-DEFD-BCC5-4437337CD6F2}" v="13" dt="2025-04-28T02:57:05.541"/>
    <p1510:client id="{D78454DA-836A-EC53-2D50-BF070DF0B6D6}" v="15" dt="2025-04-28T00:12:03.231"/>
  </p1510:revLst>
</p1510:revInfo>
</file>

<file path=ppt/tableStyles.xml><?xml version="1.0" encoding="utf-8"?>
<a:tblStyleLst xmlns:a="http://schemas.openxmlformats.org/drawingml/2006/main" def="{7E07D85F-19FC-4DD1-972B-AD5A6AF8B62C}">
  <a:tblStyle styleId="{7E07D85F-19FC-4DD1-972B-AD5A6AF8B62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1326F535-FEC1-42A9-E9D0-4FAD49ED9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f3c16a734_0_14:notes">
            <a:extLst>
              <a:ext uri="{FF2B5EF4-FFF2-40B4-BE49-F238E27FC236}">
                <a16:creationId xmlns:a16="http://schemas.microsoft.com/office/drawing/2014/main" id="{6ADBCDF0-58C0-9C23-B8DE-B39147D2DE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34f3c16a734_0_14:notes">
            <a:extLst>
              <a:ext uri="{FF2B5EF4-FFF2-40B4-BE49-F238E27FC236}">
                <a16:creationId xmlns:a16="http://schemas.microsoft.com/office/drawing/2014/main" id="{ACDA534C-362A-0E02-DA5F-5F5990CF70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9727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C047DCEC-8DB3-1966-2A6D-D8C9487C7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f3c16a734_0_38:notes">
            <a:extLst>
              <a:ext uri="{FF2B5EF4-FFF2-40B4-BE49-F238E27FC236}">
                <a16:creationId xmlns:a16="http://schemas.microsoft.com/office/drawing/2014/main" id="{0569ABD5-AD92-2C1F-8D15-0307B74A44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g34f3c16a734_0_38:notes">
            <a:extLst>
              <a:ext uri="{FF2B5EF4-FFF2-40B4-BE49-F238E27FC236}">
                <a16:creationId xmlns:a16="http://schemas.microsoft.com/office/drawing/2014/main" id="{3C6AFE2D-D897-AB9A-2F3A-89426A9A8B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1033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B1E3A64-434D-FB4B-3A57-1E1BDE855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dfa3055da_6_0:notes">
            <a:extLst>
              <a:ext uri="{FF2B5EF4-FFF2-40B4-BE49-F238E27FC236}">
                <a16:creationId xmlns:a16="http://schemas.microsoft.com/office/drawing/2014/main" id="{6A95D603-EAE2-879A-847B-4E19C5725A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err="1"/>
              <a:t>Orforglipron</a:t>
            </a:r>
            <a:r>
              <a:rPr lang="en-US"/>
              <a:t> beats Ozempic from novo </a:t>
            </a:r>
            <a:r>
              <a:rPr lang="en-US" err="1"/>
              <a:t>nordisk</a:t>
            </a:r>
            <a:r>
              <a:rPr lang="en-US"/>
              <a:t> on all metrics.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err="1"/>
              <a:t>Zepbound</a:t>
            </a:r>
            <a:r>
              <a:rPr lang="en-US"/>
              <a:t> and </a:t>
            </a:r>
            <a:r>
              <a:rPr lang="en-US" err="1"/>
              <a:t>Mounjaro</a:t>
            </a:r>
            <a:r>
              <a:rPr lang="en-US"/>
              <a:t> are both drugs aimed at helping individuals deal with obesity and type 2 diabetes.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/>
              <a:t>Currently 53 Billion market size and is expected to grow by 17% CAGR. North America is about 77% of market share for GLP-1 receptor agonists.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/>
              <a:t>FY 2023 revenue ~34 billion and increased to 45billion ~32% increase YoY.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/>
              <a:t>Inflation Reduction Act: U.S. government can </a:t>
            </a:r>
            <a:r>
              <a:rPr lang="en-US" b="1"/>
              <a:t>negotiate prices</a:t>
            </a:r>
            <a:r>
              <a:rPr lang="en-US"/>
              <a:t> for certain high-cost drugs. Trulicity and Jardiance were selected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/>
              <a:t>Incretins/GLP-1 receptor agonists account for about 40% of revenue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/>
              <a:t>Trulicity is down 25% YoY due to cannibalization from </a:t>
            </a:r>
            <a:r>
              <a:rPr lang="en-US" err="1"/>
              <a:t>Mounjaro</a:t>
            </a:r>
            <a:r>
              <a:rPr lang="en-US"/>
              <a:t> as they are both GLP-1 receptor agonists.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/>
              <a:t>New facilities opening in Indiana and </a:t>
            </a:r>
            <a:r>
              <a:rPr lang="en-US" err="1"/>
              <a:t>Wisonsin</a:t>
            </a:r>
            <a:r>
              <a:rPr lang="en-US"/>
              <a:t> 9 billion in Indiana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/>
              <a:t>Expanding into other medicines including oncology, neurology, and immunology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/>
              <a:t>Jardiance and Trulicity were both hit by Medicare Price negotiation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/>
              <a:t>Trulicity patent expires in 2027, Jardiance expires in 2028, </a:t>
            </a:r>
            <a:r>
              <a:rPr lang="en-US" err="1"/>
              <a:t>Verzinio</a:t>
            </a:r>
            <a:r>
              <a:rPr lang="en-US"/>
              <a:t> expires in 2031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34dfa3055da_6_0:notes">
            <a:extLst>
              <a:ext uri="{FF2B5EF4-FFF2-40B4-BE49-F238E27FC236}">
                <a16:creationId xmlns:a16="http://schemas.microsoft.com/office/drawing/2014/main" id="{996B20F6-7634-B7B1-FFAF-8CE38DF6D0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33129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974286D1-D031-AD75-E1CA-881CFC45A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f3c16a734_5_44:notes">
            <a:extLst>
              <a:ext uri="{FF2B5EF4-FFF2-40B4-BE49-F238E27FC236}">
                <a16:creationId xmlns:a16="http://schemas.microsoft.com/office/drawing/2014/main" id="{B808931C-E590-F6C5-B0AA-761463ED6B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34f3c16a734_5_44:notes">
            <a:extLst>
              <a:ext uri="{FF2B5EF4-FFF2-40B4-BE49-F238E27FC236}">
                <a16:creationId xmlns:a16="http://schemas.microsoft.com/office/drawing/2014/main" id="{DDD14E2A-AA9F-498A-0765-561F8F5798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1711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f3c16a734_5_4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34f3c16a734_5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f3c16a734_5_2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4f3c16a734_5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f3c16a734_5_3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34f3c16a734_5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1e45b98b2_8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31e45b98b2_8_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>
  <p:cSld name="OBJECT">
    <p:bg>
      <p:bgPr>
        <a:solidFill>
          <a:schemeClr val="l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420526" y="271081"/>
            <a:ext cx="6302946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3659159" y="1929836"/>
            <a:ext cx="4547234" cy="148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rgbClr val="131F3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rgbClr val="131F3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420526" y="271081"/>
            <a:ext cx="6302946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1420526" y="271081"/>
            <a:ext cx="6302946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5924896"/>
            <a:ext cx="9143999" cy="93310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420526" y="271081"/>
            <a:ext cx="6302946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659159" y="1929836"/>
            <a:ext cx="4547234" cy="148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131F3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 txBox="1"/>
          <p:nvPr/>
        </p:nvSpPr>
        <p:spPr>
          <a:xfrm>
            <a:off x="3406589" y="3979701"/>
            <a:ext cx="4503317" cy="750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400" b="1" dirty="0">
                <a:solidFill>
                  <a:srgbClr val="F6F5EC"/>
                </a:solidFill>
                <a:latin typeface="Calibri"/>
                <a:ea typeface="Calibri"/>
                <a:cs typeface="Calibri"/>
                <a:sym typeface="Calibri"/>
              </a:rPr>
              <a:t>Applied Portfolio Management, Prof. Richard Excell</a:t>
            </a:r>
            <a:endParaRPr sz="2400" dirty="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" name="Google Shape;47;p7"/>
          <p:cNvSpPr txBox="1"/>
          <p:nvPr/>
        </p:nvSpPr>
        <p:spPr>
          <a:xfrm>
            <a:off x="3402150" y="4733125"/>
            <a:ext cx="3701400" cy="13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Group ABBV &amp; JNJ</a:t>
            </a:r>
            <a:endParaRPr sz="1700" b="1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Abhinn Tejpal Sharma      Aakash Bansal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Aastha Shah                       Chenghao Zhu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Sharang Mantri                  Nick Sommer</a:t>
            </a:r>
            <a:endParaRPr sz="1700" b="1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3BB9E-F28E-B202-8F08-B34D0BDF74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B724C43-9C34-EAB5-E701-966EABCB2BC7}"/>
              </a:ext>
            </a:extLst>
          </p:cNvPr>
          <p:cNvGrpSpPr/>
          <p:nvPr/>
        </p:nvGrpSpPr>
        <p:grpSpPr>
          <a:xfrm>
            <a:off x="138561" y="2868637"/>
            <a:ext cx="3877599" cy="1846608"/>
            <a:chOff x="3888259" y="3642564"/>
            <a:chExt cx="4415481" cy="202590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DABE4D2-79A4-3A76-466A-1449BB6AB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8624" y="3642564"/>
              <a:ext cx="3014751" cy="1002461"/>
            </a:xfrm>
            <a:custGeom>
              <a:avLst/>
              <a:gdLst>
                <a:gd name="T0" fmla="*/ 0 w 947"/>
                <a:gd name="T1" fmla="*/ 198 h 430"/>
                <a:gd name="T2" fmla="*/ 473 w 947"/>
                <a:gd name="T3" fmla="*/ 0 h 430"/>
                <a:gd name="T4" fmla="*/ 947 w 947"/>
                <a:gd name="T5" fmla="*/ 198 h 430"/>
                <a:gd name="T6" fmla="*/ 473 w 947"/>
                <a:gd name="T7" fmla="*/ 430 h 430"/>
                <a:gd name="T8" fmla="*/ 0 w 947"/>
                <a:gd name="T9" fmla="*/ 198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7" h="430">
                  <a:moveTo>
                    <a:pt x="0" y="198"/>
                  </a:moveTo>
                  <a:lnTo>
                    <a:pt x="473" y="0"/>
                  </a:lnTo>
                  <a:lnTo>
                    <a:pt x="947" y="198"/>
                  </a:lnTo>
                  <a:lnTo>
                    <a:pt x="473" y="430"/>
                  </a:lnTo>
                  <a:lnTo>
                    <a:pt x="0" y="1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108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329ECAB-41AA-CA3D-36E3-945E03101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4407" y="4104162"/>
              <a:ext cx="2209333" cy="1564304"/>
            </a:xfrm>
            <a:custGeom>
              <a:avLst/>
              <a:gdLst>
                <a:gd name="T0" fmla="*/ 0 w 694"/>
                <a:gd name="T1" fmla="*/ 671 h 671"/>
                <a:gd name="T2" fmla="*/ 694 w 694"/>
                <a:gd name="T3" fmla="*/ 329 h 671"/>
                <a:gd name="T4" fmla="*/ 474 w 694"/>
                <a:gd name="T5" fmla="*/ 0 h 671"/>
                <a:gd name="T6" fmla="*/ 0 w 694"/>
                <a:gd name="T7" fmla="*/ 232 h 671"/>
                <a:gd name="T8" fmla="*/ 0 w 694"/>
                <a:gd name="T9" fmla="*/ 671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4" h="671">
                  <a:moveTo>
                    <a:pt x="0" y="671"/>
                  </a:moveTo>
                  <a:lnTo>
                    <a:pt x="694" y="329"/>
                  </a:lnTo>
                  <a:lnTo>
                    <a:pt x="474" y="0"/>
                  </a:lnTo>
                  <a:lnTo>
                    <a:pt x="0" y="232"/>
                  </a:lnTo>
                  <a:lnTo>
                    <a:pt x="0" y="671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5E44AFF-B015-5595-0678-8F6DBD737D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259" y="4104162"/>
              <a:ext cx="2206148" cy="1564304"/>
            </a:xfrm>
            <a:custGeom>
              <a:avLst/>
              <a:gdLst>
                <a:gd name="T0" fmla="*/ 693 w 693"/>
                <a:gd name="T1" fmla="*/ 232 h 671"/>
                <a:gd name="T2" fmla="*/ 220 w 693"/>
                <a:gd name="T3" fmla="*/ 0 h 671"/>
                <a:gd name="T4" fmla="*/ 0 w 693"/>
                <a:gd name="T5" fmla="*/ 329 h 671"/>
                <a:gd name="T6" fmla="*/ 693 w 693"/>
                <a:gd name="T7" fmla="*/ 671 h 671"/>
                <a:gd name="T8" fmla="*/ 693 w 693"/>
                <a:gd name="T9" fmla="*/ 232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3" h="671">
                  <a:moveTo>
                    <a:pt x="693" y="232"/>
                  </a:moveTo>
                  <a:lnTo>
                    <a:pt x="220" y="0"/>
                  </a:lnTo>
                  <a:lnTo>
                    <a:pt x="0" y="329"/>
                  </a:lnTo>
                  <a:lnTo>
                    <a:pt x="693" y="671"/>
                  </a:lnTo>
                  <a:lnTo>
                    <a:pt x="693" y="23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B9D9CD8-FBB1-5614-D20A-B0D0DEE88A3B}"/>
              </a:ext>
            </a:extLst>
          </p:cNvPr>
          <p:cNvGrpSpPr/>
          <p:nvPr/>
        </p:nvGrpSpPr>
        <p:grpSpPr>
          <a:xfrm>
            <a:off x="713750" y="2064030"/>
            <a:ext cx="2547925" cy="1390201"/>
            <a:chOff x="4642742" y="2837957"/>
            <a:chExt cx="2906513" cy="1524671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DE455D2-FF4D-7938-D126-FA1D252649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3107" y="2837957"/>
              <a:ext cx="1505783" cy="501230"/>
            </a:xfrm>
            <a:custGeom>
              <a:avLst/>
              <a:gdLst>
                <a:gd name="T0" fmla="*/ 0 w 473"/>
                <a:gd name="T1" fmla="*/ 97 h 215"/>
                <a:gd name="T2" fmla="*/ 236 w 473"/>
                <a:gd name="T3" fmla="*/ 0 h 215"/>
                <a:gd name="T4" fmla="*/ 473 w 473"/>
                <a:gd name="T5" fmla="*/ 97 h 215"/>
                <a:gd name="T6" fmla="*/ 236 w 473"/>
                <a:gd name="T7" fmla="*/ 215 h 215"/>
                <a:gd name="T8" fmla="*/ 0 w 473"/>
                <a:gd name="T9" fmla="*/ 97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3" h="215">
                  <a:moveTo>
                    <a:pt x="0" y="97"/>
                  </a:moveTo>
                  <a:lnTo>
                    <a:pt x="236" y="0"/>
                  </a:lnTo>
                  <a:lnTo>
                    <a:pt x="473" y="97"/>
                  </a:lnTo>
                  <a:lnTo>
                    <a:pt x="236" y="215"/>
                  </a:lnTo>
                  <a:lnTo>
                    <a:pt x="0" y="97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75000"/>
                  </a:schemeClr>
                </a:gs>
                <a:gs pos="100000">
                  <a:schemeClr val="accent2"/>
                </a:gs>
              </a:gsLst>
              <a:lin ang="108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AA127D3-EAD3-2DDF-05F0-F21E86156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4407" y="3064093"/>
              <a:ext cx="1454848" cy="1298535"/>
            </a:xfrm>
            <a:custGeom>
              <a:avLst/>
              <a:gdLst>
                <a:gd name="T0" fmla="*/ 0 w 457"/>
                <a:gd name="T1" fmla="*/ 557 h 557"/>
                <a:gd name="T2" fmla="*/ 457 w 457"/>
                <a:gd name="T3" fmla="*/ 333 h 557"/>
                <a:gd name="T4" fmla="*/ 237 w 457"/>
                <a:gd name="T5" fmla="*/ 0 h 557"/>
                <a:gd name="T6" fmla="*/ 0 w 457"/>
                <a:gd name="T7" fmla="*/ 118 h 557"/>
                <a:gd name="T8" fmla="*/ 0 w 457"/>
                <a:gd name="T9" fmla="*/ 557 h 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7" h="557">
                  <a:moveTo>
                    <a:pt x="0" y="557"/>
                  </a:moveTo>
                  <a:lnTo>
                    <a:pt x="457" y="333"/>
                  </a:lnTo>
                  <a:lnTo>
                    <a:pt x="237" y="0"/>
                  </a:lnTo>
                  <a:lnTo>
                    <a:pt x="0" y="118"/>
                  </a:lnTo>
                  <a:lnTo>
                    <a:pt x="0" y="557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75000"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5E963E87-A87F-83AE-1BE9-9D1196F2CE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742" y="3064093"/>
              <a:ext cx="1451665" cy="1298535"/>
            </a:xfrm>
            <a:custGeom>
              <a:avLst/>
              <a:gdLst>
                <a:gd name="T0" fmla="*/ 456 w 456"/>
                <a:gd name="T1" fmla="*/ 118 h 557"/>
                <a:gd name="T2" fmla="*/ 220 w 456"/>
                <a:gd name="T3" fmla="*/ 0 h 557"/>
                <a:gd name="T4" fmla="*/ 0 w 456"/>
                <a:gd name="T5" fmla="*/ 333 h 557"/>
                <a:gd name="T6" fmla="*/ 456 w 456"/>
                <a:gd name="T7" fmla="*/ 557 h 557"/>
                <a:gd name="T8" fmla="*/ 456 w 456"/>
                <a:gd name="T9" fmla="*/ 118 h 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6" h="557">
                  <a:moveTo>
                    <a:pt x="456" y="118"/>
                  </a:moveTo>
                  <a:lnTo>
                    <a:pt x="220" y="0"/>
                  </a:lnTo>
                  <a:lnTo>
                    <a:pt x="0" y="333"/>
                  </a:lnTo>
                  <a:lnTo>
                    <a:pt x="456" y="557"/>
                  </a:lnTo>
                  <a:lnTo>
                    <a:pt x="456" y="11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08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B8F1D5E-00CE-8898-2C33-F6BB899D0232}"/>
              </a:ext>
            </a:extLst>
          </p:cNvPr>
          <p:cNvGrpSpPr/>
          <p:nvPr/>
        </p:nvGrpSpPr>
        <p:grpSpPr>
          <a:xfrm>
            <a:off x="1277735" y="1279330"/>
            <a:ext cx="1229457" cy="943120"/>
            <a:chOff x="5397227" y="2053257"/>
            <a:chExt cx="1397545" cy="1032767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A2B4C30-F494-BADB-EF54-5B2347022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4407" y="2053257"/>
              <a:ext cx="700365" cy="1032767"/>
            </a:xfrm>
            <a:custGeom>
              <a:avLst/>
              <a:gdLst>
                <a:gd name="T0" fmla="*/ 0 w 220"/>
                <a:gd name="T1" fmla="*/ 443 h 443"/>
                <a:gd name="T2" fmla="*/ 220 w 220"/>
                <a:gd name="T3" fmla="*/ 333 h 443"/>
                <a:gd name="T4" fmla="*/ 0 w 220"/>
                <a:gd name="T5" fmla="*/ 0 h 443"/>
                <a:gd name="T6" fmla="*/ 0 w 220"/>
                <a:gd name="T7" fmla="*/ 4 h 443"/>
                <a:gd name="T8" fmla="*/ 0 w 220"/>
                <a:gd name="T9" fmla="*/ 443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443">
                  <a:moveTo>
                    <a:pt x="0" y="443"/>
                  </a:moveTo>
                  <a:lnTo>
                    <a:pt x="220" y="333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43"/>
                  </a:lnTo>
                  <a:close/>
                </a:path>
              </a:pathLst>
            </a:custGeom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3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42685B6-6B6D-1EB9-6B75-1B3B876AC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7227" y="2053257"/>
              <a:ext cx="697180" cy="1032767"/>
            </a:xfrm>
            <a:custGeom>
              <a:avLst/>
              <a:gdLst>
                <a:gd name="T0" fmla="*/ 219 w 219"/>
                <a:gd name="T1" fmla="*/ 4 h 443"/>
                <a:gd name="T2" fmla="*/ 219 w 219"/>
                <a:gd name="T3" fmla="*/ 0 h 443"/>
                <a:gd name="T4" fmla="*/ 0 w 219"/>
                <a:gd name="T5" fmla="*/ 333 h 443"/>
                <a:gd name="T6" fmla="*/ 219 w 219"/>
                <a:gd name="T7" fmla="*/ 443 h 443"/>
                <a:gd name="T8" fmla="*/ 219 w 219"/>
                <a:gd name="T9" fmla="*/ 4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9" h="443">
                  <a:moveTo>
                    <a:pt x="219" y="4"/>
                  </a:moveTo>
                  <a:lnTo>
                    <a:pt x="219" y="0"/>
                  </a:lnTo>
                  <a:lnTo>
                    <a:pt x="0" y="333"/>
                  </a:lnTo>
                  <a:lnTo>
                    <a:pt x="219" y="443"/>
                  </a:lnTo>
                  <a:lnTo>
                    <a:pt x="219" y="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08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9BBFDBF8-F9B4-4488-CFE9-F4816CB872B3}"/>
              </a:ext>
            </a:extLst>
          </p:cNvPr>
          <p:cNvSpPr/>
          <p:nvPr/>
        </p:nvSpPr>
        <p:spPr>
          <a:xfrm>
            <a:off x="5795500" y="1344908"/>
            <a:ext cx="3116860" cy="57785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>
                <a:solidFill>
                  <a:srgbClr val="9BBB59"/>
                </a:solidFill>
              </a:rPr>
              <a:t>Stagflation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E4BB6D-FF85-020A-11BB-4F04AC7AEF7C}"/>
              </a:ext>
            </a:extLst>
          </p:cNvPr>
          <p:cNvSpPr/>
          <p:nvPr/>
        </p:nvSpPr>
        <p:spPr>
          <a:xfrm>
            <a:off x="5797425" y="2292833"/>
            <a:ext cx="3137639" cy="57785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d-ID" sz="2400" b="1">
                <a:solidFill>
                  <a:srgbClr val="C0504D"/>
                </a:solidFill>
              </a:rPr>
              <a:t>HealthCare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6A5F0B-5362-975E-31E6-62A13C0F507A}"/>
              </a:ext>
            </a:extLst>
          </p:cNvPr>
          <p:cNvSpPr/>
          <p:nvPr/>
        </p:nvSpPr>
        <p:spPr>
          <a:xfrm>
            <a:off x="5791823" y="3240758"/>
            <a:ext cx="3143241" cy="168584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d-ID" sz="2400" b="1">
                <a:solidFill>
                  <a:srgbClr val="4F81BD"/>
                </a:solidFill>
              </a:rPr>
              <a:t>LLY   ~  Buy</a:t>
            </a:r>
          </a:p>
          <a:p>
            <a:pPr algn="just">
              <a:lnSpc>
                <a:spcPct val="150000"/>
              </a:lnSpc>
            </a:pPr>
            <a:r>
              <a:rPr lang="id-ID" sz="2400" b="1">
                <a:solidFill>
                  <a:srgbClr val="4F81BD"/>
                </a:solidFill>
              </a:rPr>
              <a:t>JNJ   ~ Hold </a:t>
            </a:r>
          </a:p>
          <a:p>
            <a:pPr algn="just">
              <a:lnSpc>
                <a:spcPct val="150000"/>
              </a:lnSpc>
            </a:pPr>
            <a:r>
              <a:rPr lang="id-ID" sz="2400" b="1">
                <a:solidFill>
                  <a:srgbClr val="4F81BD"/>
                </a:solidFill>
              </a:rPr>
              <a:t>ABBV  ~ Sell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E054C8-206F-46AC-F755-5EBC8D156CAD}"/>
              </a:ext>
            </a:extLst>
          </p:cNvPr>
          <p:cNvCxnSpPr/>
          <p:nvPr/>
        </p:nvCxnSpPr>
        <p:spPr>
          <a:xfrm>
            <a:off x="2637586" y="1724090"/>
            <a:ext cx="2430708" cy="0"/>
          </a:xfrm>
          <a:prstGeom prst="line">
            <a:avLst/>
          </a:prstGeom>
          <a:ln w="15875">
            <a:solidFill>
              <a:schemeClr val="accent3"/>
            </a:solidFill>
            <a:prstDash val="solid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F33CCDD-0788-ACEA-0856-FF582B1C0AC6}"/>
              </a:ext>
            </a:extLst>
          </p:cNvPr>
          <p:cNvCxnSpPr/>
          <p:nvPr/>
        </p:nvCxnSpPr>
        <p:spPr>
          <a:xfrm>
            <a:off x="3220956" y="2673822"/>
            <a:ext cx="1847338" cy="0"/>
          </a:xfrm>
          <a:prstGeom prst="line">
            <a:avLst/>
          </a:prstGeom>
          <a:ln w="15875">
            <a:solidFill>
              <a:schemeClr val="accent2"/>
            </a:solidFill>
            <a:prstDash val="solid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FB6BE6E-66EA-DEC8-770E-6B1A01380FDA}"/>
              </a:ext>
            </a:extLst>
          </p:cNvPr>
          <p:cNvCxnSpPr/>
          <p:nvPr/>
        </p:nvCxnSpPr>
        <p:spPr>
          <a:xfrm>
            <a:off x="3747549" y="3702917"/>
            <a:ext cx="1320745" cy="0"/>
          </a:xfrm>
          <a:prstGeom prst="line">
            <a:avLst/>
          </a:prstGeom>
          <a:ln w="15875">
            <a:solidFill>
              <a:schemeClr val="accent1"/>
            </a:solidFill>
            <a:prstDash val="solid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4178033-19C5-B6E4-AC19-366D03D0E61C}"/>
              </a:ext>
            </a:extLst>
          </p:cNvPr>
          <p:cNvGrpSpPr/>
          <p:nvPr/>
        </p:nvGrpSpPr>
        <p:grpSpPr>
          <a:xfrm>
            <a:off x="5304922" y="3473678"/>
            <a:ext cx="358943" cy="371423"/>
            <a:chOff x="1727201" y="319088"/>
            <a:chExt cx="503237" cy="504825"/>
          </a:xfrm>
          <a:solidFill>
            <a:schemeClr val="accent1"/>
          </a:solidFill>
        </p:grpSpPr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72343401-42E7-1A08-3696-F980C202D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2925" y="406400"/>
              <a:ext cx="120650" cy="119062"/>
            </a:xfrm>
            <a:custGeom>
              <a:avLst/>
              <a:gdLst>
                <a:gd name="T0" fmla="*/ 30 w 32"/>
                <a:gd name="T1" fmla="*/ 0 h 32"/>
                <a:gd name="T2" fmla="*/ 0 w 32"/>
                <a:gd name="T3" fmla="*/ 30 h 32"/>
                <a:gd name="T4" fmla="*/ 2 w 32"/>
                <a:gd name="T5" fmla="*/ 32 h 32"/>
                <a:gd name="T6" fmla="*/ 4 w 32"/>
                <a:gd name="T7" fmla="*/ 30 h 32"/>
                <a:gd name="T8" fmla="*/ 30 w 32"/>
                <a:gd name="T9" fmla="*/ 4 h 32"/>
                <a:gd name="T10" fmla="*/ 32 w 32"/>
                <a:gd name="T11" fmla="*/ 2 h 32"/>
                <a:gd name="T12" fmla="*/ 30 w 32"/>
                <a:gd name="T13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2">
                  <a:moveTo>
                    <a:pt x="30" y="0"/>
                  </a:moveTo>
                  <a:cubicBezTo>
                    <a:pt x="13" y="0"/>
                    <a:pt x="0" y="13"/>
                    <a:pt x="0" y="30"/>
                  </a:cubicBezTo>
                  <a:cubicBezTo>
                    <a:pt x="0" y="31"/>
                    <a:pt x="1" y="32"/>
                    <a:pt x="2" y="32"/>
                  </a:cubicBezTo>
                  <a:cubicBezTo>
                    <a:pt x="3" y="32"/>
                    <a:pt x="4" y="31"/>
                    <a:pt x="4" y="30"/>
                  </a:cubicBezTo>
                  <a:cubicBezTo>
                    <a:pt x="4" y="15"/>
                    <a:pt x="15" y="4"/>
                    <a:pt x="30" y="4"/>
                  </a:cubicBezTo>
                  <a:cubicBezTo>
                    <a:pt x="31" y="4"/>
                    <a:pt x="32" y="3"/>
                    <a:pt x="32" y="2"/>
                  </a:cubicBezTo>
                  <a:cubicBezTo>
                    <a:pt x="32" y="1"/>
                    <a:pt x="31" y="0"/>
                    <a:pt x="3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AD6087F3-2EE8-1325-C42A-402BF5011C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7201" y="319088"/>
              <a:ext cx="503237" cy="504825"/>
            </a:xfrm>
            <a:custGeom>
              <a:avLst/>
              <a:gdLst>
                <a:gd name="T0" fmla="*/ 131 w 134"/>
                <a:gd name="T1" fmla="*/ 120 h 134"/>
                <a:gd name="T2" fmla="*/ 102 w 134"/>
                <a:gd name="T3" fmla="*/ 91 h 134"/>
                <a:gd name="T4" fmla="*/ 95 w 134"/>
                <a:gd name="T5" fmla="*/ 90 h 134"/>
                <a:gd name="T6" fmla="*/ 89 w 134"/>
                <a:gd name="T7" fmla="*/ 84 h 134"/>
                <a:gd name="T8" fmla="*/ 89 w 134"/>
                <a:gd name="T9" fmla="*/ 84 h 134"/>
                <a:gd name="T10" fmla="*/ 87 w 134"/>
                <a:gd name="T11" fmla="*/ 19 h 134"/>
                <a:gd name="T12" fmla="*/ 19 w 134"/>
                <a:gd name="T13" fmla="*/ 19 h 134"/>
                <a:gd name="T14" fmla="*/ 19 w 134"/>
                <a:gd name="T15" fmla="*/ 87 h 134"/>
                <a:gd name="T16" fmla="*/ 84 w 134"/>
                <a:gd name="T17" fmla="*/ 89 h 134"/>
                <a:gd name="T18" fmla="*/ 84 w 134"/>
                <a:gd name="T19" fmla="*/ 89 h 134"/>
                <a:gd name="T20" fmla="*/ 90 w 134"/>
                <a:gd name="T21" fmla="*/ 95 h 134"/>
                <a:gd name="T22" fmla="*/ 91 w 134"/>
                <a:gd name="T23" fmla="*/ 102 h 134"/>
                <a:gd name="T24" fmla="*/ 120 w 134"/>
                <a:gd name="T25" fmla="*/ 131 h 134"/>
                <a:gd name="T26" fmla="*/ 130 w 134"/>
                <a:gd name="T27" fmla="*/ 130 h 134"/>
                <a:gd name="T28" fmla="*/ 131 w 134"/>
                <a:gd name="T29" fmla="*/ 120 h 134"/>
                <a:gd name="T30" fmla="*/ 81 w 134"/>
                <a:gd name="T31" fmla="*/ 81 h 134"/>
                <a:gd name="T32" fmla="*/ 24 w 134"/>
                <a:gd name="T33" fmla="*/ 81 h 134"/>
                <a:gd name="T34" fmla="*/ 24 w 134"/>
                <a:gd name="T35" fmla="*/ 24 h 134"/>
                <a:gd name="T36" fmla="*/ 81 w 134"/>
                <a:gd name="T37" fmla="*/ 24 h 134"/>
                <a:gd name="T38" fmla="*/ 81 w 134"/>
                <a:gd name="T39" fmla="*/ 8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4" h="134">
                  <a:moveTo>
                    <a:pt x="131" y="120"/>
                  </a:moveTo>
                  <a:cubicBezTo>
                    <a:pt x="102" y="91"/>
                    <a:pt x="102" y="91"/>
                    <a:pt x="102" y="91"/>
                  </a:cubicBezTo>
                  <a:cubicBezTo>
                    <a:pt x="100" y="89"/>
                    <a:pt x="98" y="89"/>
                    <a:pt x="95" y="90"/>
                  </a:cubicBezTo>
                  <a:cubicBezTo>
                    <a:pt x="89" y="84"/>
                    <a:pt x="89" y="84"/>
                    <a:pt x="89" y="84"/>
                  </a:cubicBezTo>
                  <a:cubicBezTo>
                    <a:pt x="89" y="84"/>
                    <a:pt x="89" y="84"/>
                    <a:pt x="89" y="84"/>
                  </a:cubicBezTo>
                  <a:cubicBezTo>
                    <a:pt x="105" y="65"/>
                    <a:pt x="104" y="36"/>
                    <a:pt x="87" y="19"/>
                  </a:cubicBezTo>
                  <a:cubicBezTo>
                    <a:pt x="68" y="0"/>
                    <a:pt x="38" y="0"/>
                    <a:pt x="19" y="19"/>
                  </a:cubicBezTo>
                  <a:cubicBezTo>
                    <a:pt x="0" y="37"/>
                    <a:pt x="0" y="68"/>
                    <a:pt x="19" y="87"/>
                  </a:cubicBezTo>
                  <a:cubicBezTo>
                    <a:pt x="37" y="104"/>
                    <a:pt x="65" y="105"/>
                    <a:pt x="84" y="89"/>
                  </a:cubicBezTo>
                  <a:cubicBezTo>
                    <a:pt x="84" y="89"/>
                    <a:pt x="84" y="89"/>
                    <a:pt x="84" y="89"/>
                  </a:cubicBezTo>
                  <a:cubicBezTo>
                    <a:pt x="90" y="95"/>
                    <a:pt x="90" y="95"/>
                    <a:pt x="90" y="95"/>
                  </a:cubicBezTo>
                  <a:cubicBezTo>
                    <a:pt x="89" y="98"/>
                    <a:pt x="89" y="100"/>
                    <a:pt x="91" y="102"/>
                  </a:cubicBezTo>
                  <a:cubicBezTo>
                    <a:pt x="120" y="131"/>
                    <a:pt x="120" y="131"/>
                    <a:pt x="120" y="131"/>
                  </a:cubicBezTo>
                  <a:cubicBezTo>
                    <a:pt x="122" y="134"/>
                    <a:pt x="127" y="133"/>
                    <a:pt x="130" y="130"/>
                  </a:cubicBezTo>
                  <a:cubicBezTo>
                    <a:pt x="133" y="127"/>
                    <a:pt x="134" y="122"/>
                    <a:pt x="131" y="120"/>
                  </a:cubicBezTo>
                  <a:close/>
                  <a:moveTo>
                    <a:pt x="81" y="81"/>
                  </a:moveTo>
                  <a:cubicBezTo>
                    <a:pt x="65" y="97"/>
                    <a:pt x="40" y="97"/>
                    <a:pt x="24" y="81"/>
                  </a:cubicBezTo>
                  <a:cubicBezTo>
                    <a:pt x="9" y="65"/>
                    <a:pt x="9" y="40"/>
                    <a:pt x="24" y="24"/>
                  </a:cubicBezTo>
                  <a:cubicBezTo>
                    <a:pt x="40" y="9"/>
                    <a:pt x="65" y="9"/>
                    <a:pt x="81" y="24"/>
                  </a:cubicBezTo>
                  <a:cubicBezTo>
                    <a:pt x="97" y="40"/>
                    <a:pt x="97" y="65"/>
                    <a:pt x="81" y="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9B1B633-9D9F-1331-ED36-D408E2812B15}"/>
              </a:ext>
            </a:extLst>
          </p:cNvPr>
          <p:cNvGrpSpPr/>
          <p:nvPr/>
        </p:nvGrpSpPr>
        <p:grpSpPr>
          <a:xfrm>
            <a:off x="5298227" y="1473649"/>
            <a:ext cx="383540" cy="456059"/>
            <a:chOff x="4616451" y="1741488"/>
            <a:chExt cx="2959100" cy="3371850"/>
          </a:xfrm>
          <a:solidFill>
            <a:schemeClr val="accent3"/>
          </a:solidFill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2EFF8DAC-0C89-527D-B654-10A69DA746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16451" y="1741488"/>
              <a:ext cx="2959100" cy="3371850"/>
            </a:xfrm>
            <a:custGeom>
              <a:avLst/>
              <a:gdLst>
                <a:gd name="T0" fmla="*/ 578 w 786"/>
                <a:gd name="T1" fmla="*/ 28 h 896"/>
                <a:gd name="T2" fmla="*/ 205 w 786"/>
                <a:gd name="T3" fmla="*/ 59 h 896"/>
                <a:gd name="T4" fmla="*/ 67 w 786"/>
                <a:gd name="T5" fmla="*/ 236 h 896"/>
                <a:gd name="T6" fmla="*/ 68 w 786"/>
                <a:gd name="T7" fmla="*/ 346 h 896"/>
                <a:gd name="T8" fmla="*/ 70 w 786"/>
                <a:gd name="T9" fmla="*/ 356 h 896"/>
                <a:gd name="T10" fmla="*/ 39 w 786"/>
                <a:gd name="T11" fmla="*/ 406 h 896"/>
                <a:gd name="T12" fmla="*/ 14 w 786"/>
                <a:gd name="T13" fmla="*/ 441 h 896"/>
                <a:gd name="T14" fmla="*/ 14 w 786"/>
                <a:gd name="T15" fmla="*/ 442 h 896"/>
                <a:gd name="T16" fmla="*/ 36 w 786"/>
                <a:gd name="T17" fmla="*/ 540 h 896"/>
                <a:gd name="T18" fmla="*/ 50 w 786"/>
                <a:gd name="T19" fmla="*/ 587 h 896"/>
                <a:gd name="T20" fmla="*/ 75 w 786"/>
                <a:gd name="T21" fmla="*/ 649 h 896"/>
                <a:gd name="T22" fmla="*/ 74 w 786"/>
                <a:gd name="T23" fmla="*/ 694 h 896"/>
                <a:gd name="T24" fmla="*/ 169 w 786"/>
                <a:gd name="T25" fmla="*/ 773 h 896"/>
                <a:gd name="T26" fmla="*/ 244 w 786"/>
                <a:gd name="T27" fmla="*/ 830 h 896"/>
                <a:gd name="T28" fmla="*/ 618 w 786"/>
                <a:gd name="T29" fmla="*/ 896 h 896"/>
                <a:gd name="T30" fmla="*/ 686 w 786"/>
                <a:gd name="T31" fmla="*/ 814 h 896"/>
                <a:gd name="T32" fmla="*/ 664 w 786"/>
                <a:gd name="T33" fmla="*/ 637 h 896"/>
                <a:gd name="T34" fmla="*/ 777 w 786"/>
                <a:gd name="T35" fmla="*/ 417 h 896"/>
                <a:gd name="T36" fmla="*/ 706 w 786"/>
                <a:gd name="T37" fmla="*/ 118 h 896"/>
                <a:gd name="T38" fmla="*/ 627 w 786"/>
                <a:gd name="T39" fmla="*/ 606 h 896"/>
                <a:gd name="T40" fmla="*/ 639 w 786"/>
                <a:gd name="T41" fmla="*/ 823 h 896"/>
                <a:gd name="T42" fmla="*/ 618 w 786"/>
                <a:gd name="T43" fmla="*/ 847 h 896"/>
                <a:gd name="T44" fmla="*/ 292 w 786"/>
                <a:gd name="T45" fmla="*/ 827 h 896"/>
                <a:gd name="T46" fmla="*/ 260 w 786"/>
                <a:gd name="T47" fmla="*/ 706 h 896"/>
                <a:gd name="T48" fmla="*/ 169 w 786"/>
                <a:gd name="T49" fmla="*/ 725 h 896"/>
                <a:gd name="T50" fmla="*/ 101 w 786"/>
                <a:gd name="T51" fmla="*/ 604 h 896"/>
                <a:gd name="T52" fmla="*/ 110 w 786"/>
                <a:gd name="T53" fmla="*/ 568 h 896"/>
                <a:gd name="T54" fmla="*/ 86 w 786"/>
                <a:gd name="T55" fmla="*/ 555 h 896"/>
                <a:gd name="T56" fmla="*/ 94 w 786"/>
                <a:gd name="T57" fmla="*/ 519 h 896"/>
                <a:gd name="T58" fmla="*/ 65 w 786"/>
                <a:gd name="T59" fmla="*/ 501 h 896"/>
                <a:gd name="T60" fmla="*/ 55 w 786"/>
                <a:gd name="T61" fmla="*/ 467 h 896"/>
                <a:gd name="T62" fmla="*/ 112 w 786"/>
                <a:gd name="T63" fmla="*/ 381 h 896"/>
                <a:gd name="T64" fmla="*/ 115 w 786"/>
                <a:gd name="T65" fmla="*/ 335 h 896"/>
                <a:gd name="T66" fmla="*/ 114 w 786"/>
                <a:gd name="T67" fmla="*/ 248 h 896"/>
                <a:gd name="T68" fmla="*/ 729 w 786"/>
                <a:gd name="T69" fmla="*/ 410 h 8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86" h="896">
                  <a:moveTo>
                    <a:pt x="706" y="118"/>
                  </a:moveTo>
                  <a:cubicBezTo>
                    <a:pt x="672" y="79"/>
                    <a:pt x="629" y="49"/>
                    <a:pt x="578" y="28"/>
                  </a:cubicBezTo>
                  <a:cubicBezTo>
                    <a:pt x="531" y="10"/>
                    <a:pt x="478" y="0"/>
                    <a:pt x="425" y="0"/>
                  </a:cubicBezTo>
                  <a:cubicBezTo>
                    <a:pt x="346" y="0"/>
                    <a:pt x="268" y="21"/>
                    <a:pt x="205" y="59"/>
                  </a:cubicBezTo>
                  <a:cubicBezTo>
                    <a:pt x="171" y="79"/>
                    <a:pt x="142" y="104"/>
                    <a:pt x="119" y="133"/>
                  </a:cubicBezTo>
                  <a:cubicBezTo>
                    <a:pt x="94" y="164"/>
                    <a:pt x="77" y="198"/>
                    <a:pt x="67" y="236"/>
                  </a:cubicBezTo>
                  <a:cubicBezTo>
                    <a:pt x="59" y="268"/>
                    <a:pt x="58" y="305"/>
                    <a:pt x="65" y="335"/>
                  </a:cubicBezTo>
                  <a:cubicBezTo>
                    <a:pt x="68" y="346"/>
                    <a:pt x="68" y="346"/>
                    <a:pt x="68" y="346"/>
                  </a:cubicBezTo>
                  <a:cubicBezTo>
                    <a:pt x="68" y="349"/>
                    <a:pt x="69" y="352"/>
                    <a:pt x="70" y="354"/>
                  </a:cubicBezTo>
                  <a:cubicBezTo>
                    <a:pt x="70" y="355"/>
                    <a:pt x="70" y="356"/>
                    <a:pt x="70" y="356"/>
                  </a:cubicBezTo>
                  <a:cubicBezTo>
                    <a:pt x="68" y="360"/>
                    <a:pt x="68" y="360"/>
                    <a:pt x="68" y="360"/>
                  </a:cubicBezTo>
                  <a:cubicBezTo>
                    <a:pt x="61" y="375"/>
                    <a:pt x="50" y="390"/>
                    <a:pt x="39" y="406"/>
                  </a:cubicBezTo>
                  <a:cubicBezTo>
                    <a:pt x="31" y="417"/>
                    <a:pt x="22" y="428"/>
                    <a:pt x="14" y="441"/>
                  </a:cubicBezTo>
                  <a:cubicBezTo>
                    <a:pt x="14" y="441"/>
                    <a:pt x="14" y="441"/>
                    <a:pt x="14" y="441"/>
                  </a:cubicBezTo>
                  <a:cubicBezTo>
                    <a:pt x="14" y="441"/>
                    <a:pt x="14" y="441"/>
                    <a:pt x="14" y="441"/>
                  </a:cubicBezTo>
                  <a:cubicBezTo>
                    <a:pt x="14" y="442"/>
                    <a:pt x="14" y="442"/>
                    <a:pt x="14" y="442"/>
                  </a:cubicBezTo>
                  <a:cubicBezTo>
                    <a:pt x="3" y="459"/>
                    <a:pt x="0" y="481"/>
                    <a:pt x="6" y="501"/>
                  </a:cubicBezTo>
                  <a:cubicBezTo>
                    <a:pt x="11" y="517"/>
                    <a:pt x="22" y="531"/>
                    <a:pt x="36" y="540"/>
                  </a:cubicBezTo>
                  <a:cubicBezTo>
                    <a:pt x="35" y="553"/>
                    <a:pt x="37" y="565"/>
                    <a:pt x="43" y="576"/>
                  </a:cubicBezTo>
                  <a:cubicBezTo>
                    <a:pt x="45" y="580"/>
                    <a:pt x="47" y="584"/>
                    <a:pt x="50" y="587"/>
                  </a:cubicBezTo>
                  <a:cubicBezTo>
                    <a:pt x="48" y="603"/>
                    <a:pt x="52" y="619"/>
                    <a:pt x="62" y="632"/>
                  </a:cubicBezTo>
                  <a:cubicBezTo>
                    <a:pt x="75" y="649"/>
                    <a:pt x="75" y="649"/>
                    <a:pt x="75" y="649"/>
                  </a:cubicBezTo>
                  <a:cubicBezTo>
                    <a:pt x="75" y="652"/>
                    <a:pt x="75" y="654"/>
                    <a:pt x="74" y="657"/>
                  </a:cubicBezTo>
                  <a:cubicBezTo>
                    <a:pt x="74" y="667"/>
                    <a:pt x="73" y="680"/>
                    <a:pt x="74" y="694"/>
                  </a:cubicBezTo>
                  <a:cubicBezTo>
                    <a:pt x="77" y="715"/>
                    <a:pt x="85" y="732"/>
                    <a:pt x="97" y="746"/>
                  </a:cubicBezTo>
                  <a:cubicBezTo>
                    <a:pt x="114" y="764"/>
                    <a:pt x="139" y="773"/>
                    <a:pt x="169" y="773"/>
                  </a:cubicBezTo>
                  <a:cubicBezTo>
                    <a:pt x="189" y="773"/>
                    <a:pt x="212" y="769"/>
                    <a:pt x="240" y="761"/>
                  </a:cubicBezTo>
                  <a:cubicBezTo>
                    <a:pt x="241" y="779"/>
                    <a:pt x="243" y="801"/>
                    <a:pt x="244" y="830"/>
                  </a:cubicBezTo>
                  <a:cubicBezTo>
                    <a:pt x="246" y="867"/>
                    <a:pt x="276" y="896"/>
                    <a:pt x="313" y="896"/>
                  </a:cubicBezTo>
                  <a:cubicBezTo>
                    <a:pt x="618" y="896"/>
                    <a:pt x="618" y="896"/>
                    <a:pt x="618" y="896"/>
                  </a:cubicBezTo>
                  <a:cubicBezTo>
                    <a:pt x="638" y="896"/>
                    <a:pt x="658" y="887"/>
                    <a:pt x="671" y="871"/>
                  </a:cubicBezTo>
                  <a:cubicBezTo>
                    <a:pt x="684" y="855"/>
                    <a:pt x="690" y="834"/>
                    <a:pt x="686" y="814"/>
                  </a:cubicBezTo>
                  <a:cubicBezTo>
                    <a:pt x="658" y="658"/>
                    <a:pt x="658" y="658"/>
                    <a:pt x="658" y="658"/>
                  </a:cubicBezTo>
                  <a:cubicBezTo>
                    <a:pt x="657" y="650"/>
                    <a:pt x="659" y="643"/>
                    <a:pt x="664" y="637"/>
                  </a:cubicBezTo>
                  <a:cubicBezTo>
                    <a:pt x="686" y="610"/>
                    <a:pt x="712" y="578"/>
                    <a:pt x="733" y="541"/>
                  </a:cubicBezTo>
                  <a:cubicBezTo>
                    <a:pt x="756" y="501"/>
                    <a:pt x="770" y="460"/>
                    <a:pt x="777" y="417"/>
                  </a:cubicBezTo>
                  <a:cubicBezTo>
                    <a:pt x="786" y="355"/>
                    <a:pt x="784" y="298"/>
                    <a:pt x="772" y="247"/>
                  </a:cubicBezTo>
                  <a:cubicBezTo>
                    <a:pt x="759" y="198"/>
                    <a:pt x="737" y="154"/>
                    <a:pt x="706" y="118"/>
                  </a:cubicBezTo>
                  <a:close/>
                  <a:moveTo>
                    <a:pt x="729" y="410"/>
                  </a:moveTo>
                  <a:cubicBezTo>
                    <a:pt x="717" y="491"/>
                    <a:pt x="674" y="550"/>
                    <a:pt x="627" y="606"/>
                  </a:cubicBezTo>
                  <a:cubicBezTo>
                    <a:pt x="613" y="622"/>
                    <a:pt x="607" y="645"/>
                    <a:pt x="611" y="666"/>
                  </a:cubicBezTo>
                  <a:cubicBezTo>
                    <a:pt x="639" y="823"/>
                    <a:pt x="639" y="823"/>
                    <a:pt x="639" y="823"/>
                  </a:cubicBezTo>
                  <a:cubicBezTo>
                    <a:pt x="640" y="829"/>
                    <a:pt x="638" y="835"/>
                    <a:pt x="634" y="840"/>
                  </a:cubicBezTo>
                  <a:cubicBezTo>
                    <a:pt x="630" y="845"/>
                    <a:pt x="624" y="847"/>
                    <a:pt x="618" y="847"/>
                  </a:cubicBezTo>
                  <a:cubicBezTo>
                    <a:pt x="313" y="847"/>
                    <a:pt x="313" y="847"/>
                    <a:pt x="313" y="847"/>
                  </a:cubicBezTo>
                  <a:cubicBezTo>
                    <a:pt x="302" y="847"/>
                    <a:pt x="293" y="839"/>
                    <a:pt x="292" y="827"/>
                  </a:cubicBezTo>
                  <a:cubicBezTo>
                    <a:pt x="290" y="774"/>
                    <a:pt x="286" y="742"/>
                    <a:pt x="284" y="724"/>
                  </a:cubicBezTo>
                  <a:cubicBezTo>
                    <a:pt x="284" y="715"/>
                    <a:pt x="272" y="706"/>
                    <a:pt x="260" y="706"/>
                  </a:cubicBezTo>
                  <a:cubicBezTo>
                    <a:pt x="258" y="706"/>
                    <a:pt x="256" y="706"/>
                    <a:pt x="254" y="707"/>
                  </a:cubicBezTo>
                  <a:cubicBezTo>
                    <a:pt x="216" y="720"/>
                    <a:pt x="189" y="725"/>
                    <a:pt x="169" y="725"/>
                  </a:cubicBezTo>
                  <a:cubicBezTo>
                    <a:pt x="95" y="725"/>
                    <a:pt x="134" y="648"/>
                    <a:pt x="120" y="629"/>
                  </a:cubicBezTo>
                  <a:cubicBezTo>
                    <a:pt x="101" y="604"/>
                    <a:pt x="101" y="604"/>
                    <a:pt x="101" y="604"/>
                  </a:cubicBezTo>
                  <a:cubicBezTo>
                    <a:pt x="96" y="597"/>
                    <a:pt x="96" y="589"/>
                    <a:pt x="100" y="583"/>
                  </a:cubicBezTo>
                  <a:cubicBezTo>
                    <a:pt x="110" y="568"/>
                    <a:pt x="110" y="568"/>
                    <a:pt x="110" y="568"/>
                  </a:cubicBezTo>
                  <a:cubicBezTo>
                    <a:pt x="98" y="565"/>
                    <a:pt x="98" y="565"/>
                    <a:pt x="98" y="565"/>
                  </a:cubicBezTo>
                  <a:cubicBezTo>
                    <a:pt x="93" y="563"/>
                    <a:pt x="89" y="560"/>
                    <a:pt x="86" y="555"/>
                  </a:cubicBezTo>
                  <a:cubicBezTo>
                    <a:pt x="84" y="550"/>
                    <a:pt x="84" y="545"/>
                    <a:pt x="86" y="540"/>
                  </a:cubicBezTo>
                  <a:cubicBezTo>
                    <a:pt x="94" y="519"/>
                    <a:pt x="94" y="519"/>
                    <a:pt x="94" y="519"/>
                  </a:cubicBezTo>
                  <a:cubicBezTo>
                    <a:pt x="95" y="517"/>
                    <a:pt x="94" y="514"/>
                    <a:pt x="92" y="513"/>
                  </a:cubicBezTo>
                  <a:cubicBezTo>
                    <a:pt x="65" y="501"/>
                    <a:pt x="65" y="501"/>
                    <a:pt x="65" y="501"/>
                  </a:cubicBezTo>
                  <a:cubicBezTo>
                    <a:pt x="59" y="499"/>
                    <a:pt x="54" y="493"/>
                    <a:pt x="52" y="487"/>
                  </a:cubicBezTo>
                  <a:cubicBezTo>
                    <a:pt x="50" y="480"/>
                    <a:pt x="51" y="473"/>
                    <a:pt x="55" y="467"/>
                  </a:cubicBezTo>
                  <a:cubicBezTo>
                    <a:pt x="55" y="466"/>
                    <a:pt x="55" y="466"/>
                    <a:pt x="55" y="466"/>
                  </a:cubicBezTo>
                  <a:cubicBezTo>
                    <a:pt x="73" y="438"/>
                    <a:pt x="97" y="412"/>
                    <a:pt x="112" y="381"/>
                  </a:cubicBezTo>
                  <a:cubicBezTo>
                    <a:pt x="118" y="368"/>
                    <a:pt x="118" y="368"/>
                    <a:pt x="118" y="368"/>
                  </a:cubicBezTo>
                  <a:cubicBezTo>
                    <a:pt x="122" y="359"/>
                    <a:pt x="117" y="345"/>
                    <a:pt x="115" y="335"/>
                  </a:cubicBezTo>
                  <a:cubicBezTo>
                    <a:pt x="112" y="325"/>
                    <a:pt x="112" y="325"/>
                    <a:pt x="112" y="325"/>
                  </a:cubicBezTo>
                  <a:cubicBezTo>
                    <a:pt x="107" y="301"/>
                    <a:pt x="108" y="271"/>
                    <a:pt x="114" y="248"/>
                  </a:cubicBezTo>
                  <a:cubicBezTo>
                    <a:pt x="146" y="120"/>
                    <a:pt x="286" y="48"/>
                    <a:pt x="425" y="48"/>
                  </a:cubicBezTo>
                  <a:cubicBezTo>
                    <a:pt x="597" y="48"/>
                    <a:pt x="767" y="158"/>
                    <a:pt x="729" y="4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8114147B-8B10-4712-D7EB-1510C0E211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4776" y="2062163"/>
              <a:ext cx="2085975" cy="1700213"/>
            </a:xfrm>
            <a:custGeom>
              <a:avLst/>
              <a:gdLst>
                <a:gd name="T0" fmla="*/ 367 w 554"/>
                <a:gd name="T1" fmla="*/ 21 h 452"/>
                <a:gd name="T2" fmla="*/ 325 w 554"/>
                <a:gd name="T3" fmla="*/ 5 h 452"/>
                <a:gd name="T4" fmla="*/ 298 w 554"/>
                <a:gd name="T5" fmla="*/ 11 h 452"/>
                <a:gd name="T6" fmla="*/ 267 w 554"/>
                <a:gd name="T7" fmla="*/ 0 h 452"/>
                <a:gd name="T8" fmla="*/ 243 w 554"/>
                <a:gd name="T9" fmla="*/ 7 h 452"/>
                <a:gd name="T10" fmla="*/ 223 w 554"/>
                <a:gd name="T11" fmla="*/ 5 h 452"/>
                <a:gd name="T12" fmla="*/ 168 w 554"/>
                <a:gd name="T13" fmla="*/ 24 h 452"/>
                <a:gd name="T14" fmla="*/ 163 w 554"/>
                <a:gd name="T15" fmla="*/ 24 h 452"/>
                <a:gd name="T16" fmla="*/ 96 w 554"/>
                <a:gd name="T17" fmla="*/ 54 h 452"/>
                <a:gd name="T18" fmla="*/ 38 w 554"/>
                <a:gd name="T19" fmla="*/ 123 h 452"/>
                <a:gd name="T20" fmla="*/ 15 w 554"/>
                <a:gd name="T21" fmla="*/ 156 h 452"/>
                <a:gd name="T22" fmla="*/ 15 w 554"/>
                <a:gd name="T23" fmla="*/ 161 h 452"/>
                <a:gd name="T24" fmla="*/ 0 w 554"/>
                <a:gd name="T25" fmla="*/ 210 h 452"/>
                <a:gd name="T26" fmla="*/ 39 w 554"/>
                <a:gd name="T27" fmla="*/ 282 h 452"/>
                <a:gd name="T28" fmla="*/ 103 w 554"/>
                <a:gd name="T29" fmla="*/ 327 h 452"/>
                <a:gd name="T30" fmla="*/ 135 w 554"/>
                <a:gd name="T31" fmla="*/ 319 h 452"/>
                <a:gd name="T32" fmla="*/ 177 w 554"/>
                <a:gd name="T33" fmla="*/ 344 h 452"/>
                <a:gd name="T34" fmla="*/ 260 w 554"/>
                <a:gd name="T35" fmla="*/ 403 h 452"/>
                <a:gd name="T36" fmla="*/ 296 w 554"/>
                <a:gd name="T37" fmla="*/ 395 h 452"/>
                <a:gd name="T38" fmla="*/ 391 w 554"/>
                <a:gd name="T39" fmla="*/ 452 h 452"/>
                <a:gd name="T40" fmla="*/ 492 w 554"/>
                <a:gd name="T41" fmla="*/ 382 h 452"/>
                <a:gd name="T42" fmla="*/ 549 w 554"/>
                <a:gd name="T43" fmla="*/ 287 h 452"/>
                <a:gd name="T44" fmla="*/ 547 w 554"/>
                <a:gd name="T45" fmla="*/ 267 h 452"/>
                <a:gd name="T46" fmla="*/ 554 w 554"/>
                <a:gd name="T47" fmla="*/ 235 h 452"/>
                <a:gd name="T48" fmla="*/ 536 w 554"/>
                <a:gd name="T49" fmla="*/ 185 h 452"/>
                <a:gd name="T50" fmla="*/ 537 w 554"/>
                <a:gd name="T51" fmla="*/ 174 h 452"/>
                <a:gd name="T52" fmla="*/ 493 w 554"/>
                <a:gd name="T53" fmla="*/ 106 h 452"/>
                <a:gd name="T54" fmla="*/ 367 w 554"/>
                <a:gd name="T55" fmla="*/ 21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54" h="452">
                  <a:moveTo>
                    <a:pt x="367" y="21"/>
                  </a:moveTo>
                  <a:cubicBezTo>
                    <a:pt x="356" y="11"/>
                    <a:pt x="341" y="5"/>
                    <a:pt x="325" y="5"/>
                  </a:cubicBezTo>
                  <a:cubicBezTo>
                    <a:pt x="315" y="5"/>
                    <a:pt x="306" y="7"/>
                    <a:pt x="298" y="11"/>
                  </a:cubicBezTo>
                  <a:cubicBezTo>
                    <a:pt x="289" y="4"/>
                    <a:pt x="279" y="0"/>
                    <a:pt x="267" y="0"/>
                  </a:cubicBezTo>
                  <a:cubicBezTo>
                    <a:pt x="258" y="0"/>
                    <a:pt x="250" y="3"/>
                    <a:pt x="243" y="7"/>
                  </a:cubicBezTo>
                  <a:cubicBezTo>
                    <a:pt x="237" y="5"/>
                    <a:pt x="230" y="5"/>
                    <a:pt x="223" y="5"/>
                  </a:cubicBezTo>
                  <a:cubicBezTo>
                    <a:pt x="203" y="5"/>
                    <a:pt x="183" y="12"/>
                    <a:pt x="168" y="24"/>
                  </a:cubicBezTo>
                  <a:cubicBezTo>
                    <a:pt x="166" y="24"/>
                    <a:pt x="165" y="24"/>
                    <a:pt x="163" y="24"/>
                  </a:cubicBezTo>
                  <a:cubicBezTo>
                    <a:pt x="136" y="24"/>
                    <a:pt x="112" y="36"/>
                    <a:pt x="96" y="54"/>
                  </a:cubicBezTo>
                  <a:cubicBezTo>
                    <a:pt x="63" y="60"/>
                    <a:pt x="38" y="89"/>
                    <a:pt x="38" y="123"/>
                  </a:cubicBezTo>
                  <a:cubicBezTo>
                    <a:pt x="24" y="128"/>
                    <a:pt x="15" y="141"/>
                    <a:pt x="15" y="156"/>
                  </a:cubicBezTo>
                  <a:cubicBezTo>
                    <a:pt x="15" y="158"/>
                    <a:pt x="15" y="159"/>
                    <a:pt x="15" y="161"/>
                  </a:cubicBezTo>
                  <a:cubicBezTo>
                    <a:pt x="6" y="175"/>
                    <a:pt x="0" y="192"/>
                    <a:pt x="0" y="210"/>
                  </a:cubicBezTo>
                  <a:cubicBezTo>
                    <a:pt x="0" y="240"/>
                    <a:pt x="16" y="266"/>
                    <a:pt x="39" y="282"/>
                  </a:cubicBezTo>
                  <a:cubicBezTo>
                    <a:pt x="48" y="308"/>
                    <a:pt x="74" y="327"/>
                    <a:pt x="103" y="327"/>
                  </a:cubicBezTo>
                  <a:cubicBezTo>
                    <a:pt x="115" y="327"/>
                    <a:pt x="126" y="324"/>
                    <a:pt x="135" y="319"/>
                  </a:cubicBezTo>
                  <a:cubicBezTo>
                    <a:pt x="145" y="332"/>
                    <a:pt x="160" y="341"/>
                    <a:pt x="177" y="344"/>
                  </a:cubicBezTo>
                  <a:cubicBezTo>
                    <a:pt x="189" y="378"/>
                    <a:pt x="222" y="403"/>
                    <a:pt x="260" y="403"/>
                  </a:cubicBezTo>
                  <a:cubicBezTo>
                    <a:pt x="273" y="403"/>
                    <a:pt x="285" y="400"/>
                    <a:pt x="296" y="395"/>
                  </a:cubicBezTo>
                  <a:cubicBezTo>
                    <a:pt x="314" y="429"/>
                    <a:pt x="350" y="452"/>
                    <a:pt x="391" y="452"/>
                  </a:cubicBezTo>
                  <a:cubicBezTo>
                    <a:pt x="437" y="452"/>
                    <a:pt x="477" y="423"/>
                    <a:pt x="492" y="382"/>
                  </a:cubicBezTo>
                  <a:cubicBezTo>
                    <a:pt x="526" y="364"/>
                    <a:pt x="549" y="328"/>
                    <a:pt x="549" y="287"/>
                  </a:cubicBezTo>
                  <a:cubicBezTo>
                    <a:pt x="549" y="280"/>
                    <a:pt x="548" y="274"/>
                    <a:pt x="547" y="267"/>
                  </a:cubicBezTo>
                  <a:cubicBezTo>
                    <a:pt x="552" y="257"/>
                    <a:pt x="554" y="246"/>
                    <a:pt x="554" y="235"/>
                  </a:cubicBezTo>
                  <a:cubicBezTo>
                    <a:pt x="554" y="216"/>
                    <a:pt x="547" y="199"/>
                    <a:pt x="536" y="185"/>
                  </a:cubicBezTo>
                  <a:cubicBezTo>
                    <a:pt x="536" y="182"/>
                    <a:pt x="537" y="178"/>
                    <a:pt x="537" y="174"/>
                  </a:cubicBezTo>
                  <a:cubicBezTo>
                    <a:pt x="537" y="144"/>
                    <a:pt x="519" y="118"/>
                    <a:pt x="493" y="106"/>
                  </a:cubicBezTo>
                  <a:cubicBezTo>
                    <a:pt x="472" y="57"/>
                    <a:pt x="423" y="22"/>
                    <a:pt x="367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810849E-AFCD-E66D-A6F0-97C826DBC114}"/>
              </a:ext>
            </a:extLst>
          </p:cNvPr>
          <p:cNvGrpSpPr/>
          <p:nvPr/>
        </p:nvGrpSpPr>
        <p:grpSpPr>
          <a:xfrm>
            <a:off x="5322600" y="2497855"/>
            <a:ext cx="323588" cy="296360"/>
            <a:chOff x="5326063" y="2705101"/>
            <a:chExt cx="1506538" cy="1349374"/>
          </a:xfrm>
          <a:solidFill>
            <a:schemeClr val="accent2"/>
          </a:solidFill>
        </p:grpSpPr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E5FD83A7-BECE-3D67-F248-285700D5EB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26063" y="2705101"/>
              <a:ext cx="1506538" cy="1349374"/>
            </a:xfrm>
            <a:custGeom>
              <a:avLst/>
              <a:gdLst>
                <a:gd name="T0" fmla="*/ 109 w 112"/>
                <a:gd name="T1" fmla="*/ 4 h 100"/>
                <a:gd name="T2" fmla="*/ 83 w 112"/>
                <a:gd name="T3" fmla="*/ 0 h 100"/>
                <a:gd name="T4" fmla="*/ 67 w 112"/>
                <a:gd name="T5" fmla="*/ 3 h 100"/>
                <a:gd name="T6" fmla="*/ 56 w 112"/>
                <a:gd name="T7" fmla="*/ 10 h 100"/>
                <a:gd name="T8" fmla="*/ 45 w 112"/>
                <a:gd name="T9" fmla="*/ 3 h 100"/>
                <a:gd name="T10" fmla="*/ 29 w 112"/>
                <a:gd name="T11" fmla="*/ 0 h 100"/>
                <a:gd name="T12" fmla="*/ 3 w 112"/>
                <a:gd name="T13" fmla="*/ 4 h 100"/>
                <a:gd name="T14" fmla="*/ 0 w 112"/>
                <a:gd name="T15" fmla="*/ 5 h 100"/>
                <a:gd name="T16" fmla="*/ 0 w 112"/>
                <a:gd name="T17" fmla="*/ 92 h 100"/>
                <a:gd name="T18" fmla="*/ 5 w 112"/>
                <a:gd name="T19" fmla="*/ 91 h 100"/>
                <a:gd name="T20" fmla="*/ 41 w 112"/>
                <a:gd name="T21" fmla="*/ 91 h 100"/>
                <a:gd name="T22" fmla="*/ 56 w 112"/>
                <a:gd name="T23" fmla="*/ 100 h 100"/>
                <a:gd name="T24" fmla="*/ 71 w 112"/>
                <a:gd name="T25" fmla="*/ 91 h 100"/>
                <a:gd name="T26" fmla="*/ 107 w 112"/>
                <a:gd name="T27" fmla="*/ 91 h 100"/>
                <a:gd name="T28" fmla="*/ 112 w 112"/>
                <a:gd name="T29" fmla="*/ 92 h 100"/>
                <a:gd name="T30" fmla="*/ 112 w 112"/>
                <a:gd name="T31" fmla="*/ 5 h 100"/>
                <a:gd name="T32" fmla="*/ 109 w 112"/>
                <a:gd name="T33" fmla="*/ 4 h 100"/>
                <a:gd name="T34" fmla="*/ 52 w 112"/>
                <a:gd name="T35" fmla="*/ 87 h 100"/>
                <a:gd name="T36" fmla="*/ 44 w 112"/>
                <a:gd name="T37" fmla="*/ 83 h 100"/>
                <a:gd name="T38" fmla="*/ 27 w 112"/>
                <a:gd name="T39" fmla="*/ 81 h 100"/>
                <a:gd name="T40" fmla="*/ 8 w 112"/>
                <a:gd name="T41" fmla="*/ 82 h 100"/>
                <a:gd name="T42" fmla="*/ 8 w 112"/>
                <a:gd name="T43" fmla="*/ 11 h 100"/>
                <a:gd name="T44" fmla="*/ 29 w 112"/>
                <a:gd name="T45" fmla="*/ 8 h 100"/>
                <a:gd name="T46" fmla="*/ 42 w 112"/>
                <a:gd name="T47" fmla="*/ 11 h 100"/>
                <a:gd name="T48" fmla="*/ 52 w 112"/>
                <a:gd name="T49" fmla="*/ 20 h 100"/>
                <a:gd name="T50" fmla="*/ 52 w 112"/>
                <a:gd name="T51" fmla="*/ 21 h 100"/>
                <a:gd name="T52" fmla="*/ 52 w 112"/>
                <a:gd name="T53" fmla="*/ 84 h 100"/>
                <a:gd name="T54" fmla="*/ 52 w 112"/>
                <a:gd name="T55" fmla="*/ 84 h 100"/>
                <a:gd name="T56" fmla="*/ 52 w 112"/>
                <a:gd name="T57" fmla="*/ 87 h 100"/>
                <a:gd name="T58" fmla="*/ 104 w 112"/>
                <a:gd name="T59" fmla="*/ 82 h 100"/>
                <a:gd name="T60" fmla="*/ 85 w 112"/>
                <a:gd name="T61" fmla="*/ 81 h 100"/>
                <a:gd name="T62" fmla="*/ 68 w 112"/>
                <a:gd name="T63" fmla="*/ 83 h 100"/>
                <a:gd name="T64" fmla="*/ 60 w 112"/>
                <a:gd name="T65" fmla="*/ 87 h 100"/>
                <a:gd name="T66" fmla="*/ 60 w 112"/>
                <a:gd name="T67" fmla="*/ 84 h 100"/>
                <a:gd name="T68" fmla="*/ 60 w 112"/>
                <a:gd name="T69" fmla="*/ 84 h 100"/>
                <a:gd name="T70" fmla="*/ 60 w 112"/>
                <a:gd name="T71" fmla="*/ 21 h 100"/>
                <a:gd name="T72" fmla="*/ 60 w 112"/>
                <a:gd name="T73" fmla="*/ 20 h 100"/>
                <a:gd name="T74" fmla="*/ 70 w 112"/>
                <a:gd name="T75" fmla="*/ 11 h 100"/>
                <a:gd name="T76" fmla="*/ 83 w 112"/>
                <a:gd name="T77" fmla="*/ 8 h 100"/>
                <a:gd name="T78" fmla="*/ 104 w 112"/>
                <a:gd name="T79" fmla="*/ 11 h 100"/>
                <a:gd name="T80" fmla="*/ 104 w 112"/>
                <a:gd name="T81" fmla="*/ 82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2" h="100">
                  <a:moveTo>
                    <a:pt x="109" y="4"/>
                  </a:moveTo>
                  <a:cubicBezTo>
                    <a:pt x="109" y="4"/>
                    <a:pt x="96" y="0"/>
                    <a:pt x="83" y="0"/>
                  </a:cubicBezTo>
                  <a:cubicBezTo>
                    <a:pt x="77" y="0"/>
                    <a:pt x="71" y="1"/>
                    <a:pt x="67" y="3"/>
                  </a:cubicBezTo>
                  <a:cubicBezTo>
                    <a:pt x="62" y="5"/>
                    <a:pt x="58" y="7"/>
                    <a:pt x="56" y="10"/>
                  </a:cubicBezTo>
                  <a:cubicBezTo>
                    <a:pt x="54" y="7"/>
                    <a:pt x="50" y="5"/>
                    <a:pt x="45" y="3"/>
                  </a:cubicBezTo>
                  <a:cubicBezTo>
                    <a:pt x="41" y="1"/>
                    <a:pt x="35" y="0"/>
                    <a:pt x="29" y="0"/>
                  </a:cubicBezTo>
                  <a:cubicBezTo>
                    <a:pt x="16" y="0"/>
                    <a:pt x="3" y="4"/>
                    <a:pt x="3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5" y="91"/>
                    <a:pt x="5" y="91"/>
                    <a:pt x="5" y="91"/>
                  </a:cubicBezTo>
                  <a:cubicBezTo>
                    <a:pt x="19" y="88"/>
                    <a:pt x="28" y="88"/>
                    <a:pt x="41" y="91"/>
                  </a:cubicBezTo>
                  <a:cubicBezTo>
                    <a:pt x="41" y="91"/>
                    <a:pt x="52" y="92"/>
                    <a:pt x="56" y="100"/>
                  </a:cubicBezTo>
                  <a:cubicBezTo>
                    <a:pt x="60" y="92"/>
                    <a:pt x="71" y="91"/>
                    <a:pt x="71" y="91"/>
                  </a:cubicBezTo>
                  <a:cubicBezTo>
                    <a:pt x="84" y="88"/>
                    <a:pt x="93" y="88"/>
                    <a:pt x="107" y="91"/>
                  </a:cubicBezTo>
                  <a:cubicBezTo>
                    <a:pt x="112" y="92"/>
                    <a:pt x="112" y="92"/>
                    <a:pt x="112" y="92"/>
                  </a:cubicBezTo>
                  <a:cubicBezTo>
                    <a:pt x="112" y="5"/>
                    <a:pt x="112" y="5"/>
                    <a:pt x="112" y="5"/>
                  </a:cubicBezTo>
                  <a:lnTo>
                    <a:pt x="109" y="4"/>
                  </a:lnTo>
                  <a:close/>
                  <a:moveTo>
                    <a:pt x="52" y="87"/>
                  </a:moveTo>
                  <a:cubicBezTo>
                    <a:pt x="49" y="85"/>
                    <a:pt x="47" y="84"/>
                    <a:pt x="44" y="83"/>
                  </a:cubicBezTo>
                  <a:cubicBezTo>
                    <a:pt x="39" y="81"/>
                    <a:pt x="32" y="81"/>
                    <a:pt x="27" y="81"/>
                  </a:cubicBezTo>
                  <a:cubicBezTo>
                    <a:pt x="21" y="81"/>
                    <a:pt x="15" y="81"/>
                    <a:pt x="8" y="82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12" y="10"/>
                    <a:pt x="20" y="8"/>
                    <a:pt x="29" y="8"/>
                  </a:cubicBezTo>
                  <a:cubicBezTo>
                    <a:pt x="34" y="8"/>
                    <a:pt x="39" y="9"/>
                    <a:pt x="42" y="11"/>
                  </a:cubicBezTo>
                  <a:cubicBezTo>
                    <a:pt x="50" y="13"/>
                    <a:pt x="52" y="17"/>
                    <a:pt x="52" y="20"/>
                  </a:cubicBezTo>
                  <a:cubicBezTo>
                    <a:pt x="52" y="20"/>
                    <a:pt x="52" y="21"/>
                    <a:pt x="52" y="21"/>
                  </a:cubicBezTo>
                  <a:cubicBezTo>
                    <a:pt x="52" y="84"/>
                    <a:pt x="52" y="84"/>
                    <a:pt x="52" y="84"/>
                  </a:cubicBezTo>
                  <a:cubicBezTo>
                    <a:pt x="52" y="84"/>
                    <a:pt x="52" y="84"/>
                    <a:pt x="52" y="84"/>
                  </a:cubicBezTo>
                  <a:lnTo>
                    <a:pt x="52" y="87"/>
                  </a:lnTo>
                  <a:close/>
                  <a:moveTo>
                    <a:pt x="104" y="82"/>
                  </a:moveTo>
                  <a:cubicBezTo>
                    <a:pt x="97" y="81"/>
                    <a:pt x="91" y="81"/>
                    <a:pt x="85" y="81"/>
                  </a:cubicBezTo>
                  <a:cubicBezTo>
                    <a:pt x="80" y="81"/>
                    <a:pt x="73" y="81"/>
                    <a:pt x="68" y="83"/>
                  </a:cubicBezTo>
                  <a:cubicBezTo>
                    <a:pt x="65" y="84"/>
                    <a:pt x="63" y="85"/>
                    <a:pt x="60" y="87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60" y="21"/>
                    <a:pt x="60" y="20"/>
                    <a:pt x="60" y="20"/>
                  </a:cubicBezTo>
                  <a:cubicBezTo>
                    <a:pt x="60" y="17"/>
                    <a:pt x="62" y="13"/>
                    <a:pt x="70" y="11"/>
                  </a:cubicBezTo>
                  <a:cubicBezTo>
                    <a:pt x="73" y="9"/>
                    <a:pt x="78" y="8"/>
                    <a:pt x="83" y="8"/>
                  </a:cubicBezTo>
                  <a:cubicBezTo>
                    <a:pt x="91" y="8"/>
                    <a:pt x="100" y="10"/>
                    <a:pt x="104" y="11"/>
                  </a:cubicBezTo>
                  <a:lnTo>
                    <a:pt x="104" y="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78C606BD-5945-5FFB-28A9-72A2B13FC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4975" y="2921000"/>
              <a:ext cx="430213" cy="161925"/>
            </a:xfrm>
            <a:custGeom>
              <a:avLst/>
              <a:gdLst>
                <a:gd name="T0" fmla="*/ 1 w 32"/>
                <a:gd name="T1" fmla="*/ 4 h 12"/>
                <a:gd name="T2" fmla="*/ 0 w 32"/>
                <a:gd name="T3" fmla="*/ 7 h 12"/>
                <a:gd name="T4" fmla="*/ 3 w 32"/>
                <a:gd name="T5" fmla="*/ 8 h 12"/>
                <a:gd name="T6" fmla="*/ 29 w 32"/>
                <a:gd name="T7" fmla="*/ 12 h 12"/>
                <a:gd name="T8" fmla="*/ 30 w 32"/>
                <a:gd name="T9" fmla="*/ 12 h 12"/>
                <a:gd name="T10" fmla="*/ 31 w 32"/>
                <a:gd name="T11" fmla="*/ 12 h 12"/>
                <a:gd name="T12" fmla="*/ 31 w 32"/>
                <a:gd name="T13" fmla="*/ 9 h 12"/>
                <a:gd name="T14" fmla="*/ 1 w 32"/>
                <a:gd name="T15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12">
                  <a:moveTo>
                    <a:pt x="1" y="4"/>
                  </a:moveTo>
                  <a:cubicBezTo>
                    <a:pt x="0" y="5"/>
                    <a:pt x="0" y="6"/>
                    <a:pt x="0" y="7"/>
                  </a:cubicBezTo>
                  <a:cubicBezTo>
                    <a:pt x="1" y="8"/>
                    <a:pt x="2" y="9"/>
                    <a:pt x="3" y="8"/>
                  </a:cubicBezTo>
                  <a:cubicBezTo>
                    <a:pt x="10" y="5"/>
                    <a:pt x="21" y="4"/>
                    <a:pt x="29" y="12"/>
                  </a:cubicBezTo>
                  <a:cubicBezTo>
                    <a:pt x="29" y="12"/>
                    <a:pt x="29" y="12"/>
                    <a:pt x="30" y="12"/>
                  </a:cubicBezTo>
                  <a:cubicBezTo>
                    <a:pt x="30" y="12"/>
                    <a:pt x="31" y="12"/>
                    <a:pt x="31" y="12"/>
                  </a:cubicBezTo>
                  <a:cubicBezTo>
                    <a:pt x="32" y="11"/>
                    <a:pt x="32" y="10"/>
                    <a:pt x="31" y="9"/>
                  </a:cubicBezTo>
                  <a:cubicBezTo>
                    <a:pt x="23" y="0"/>
                    <a:pt x="10" y="1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2" name="Freeform 7">
              <a:extLst>
                <a:ext uri="{FF2B5EF4-FFF2-40B4-BE49-F238E27FC236}">
                  <a16:creationId xmlns:a16="http://schemas.microsoft.com/office/drawing/2014/main" id="{22298379-968E-F5CA-1935-4CB3B31088D0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4975" y="3082925"/>
              <a:ext cx="430213" cy="161925"/>
            </a:xfrm>
            <a:custGeom>
              <a:avLst/>
              <a:gdLst>
                <a:gd name="T0" fmla="*/ 1 w 32"/>
                <a:gd name="T1" fmla="*/ 4 h 12"/>
                <a:gd name="T2" fmla="*/ 0 w 32"/>
                <a:gd name="T3" fmla="*/ 7 h 12"/>
                <a:gd name="T4" fmla="*/ 3 w 32"/>
                <a:gd name="T5" fmla="*/ 8 h 12"/>
                <a:gd name="T6" fmla="*/ 29 w 32"/>
                <a:gd name="T7" fmla="*/ 11 h 12"/>
                <a:gd name="T8" fmla="*/ 30 w 32"/>
                <a:gd name="T9" fmla="*/ 12 h 12"/>
                <a:gd name="T10" fmla="*/ 31 w 32"/>
                <a:gd name="T11" fmla="*/ 11 h 12"/>
                <a:gd name="T12" fmla="*/ 31 w 32"/>
                <a:gd name="T13" fmla="*/ 8 h 12"/>
                <a:gd name="T14" fmla="*/ 1 w 32"/>
                <a:gd name="T15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12">
                  <a:moveTo>
                    <a:pt x="1" y="4"/>
                  </a:moveTo>
                  <a:cubicBezTo>
                    <a:pt x="0" y="4"/>
                    <a:pt x="0" y="6"/>
                    <a:pt x="0" y="7"/>
                  </a:cubicBezTo>
                  <a:cubicBezTo>
                    <a:pt x="1" y="8"/>
                    <a:pt x="2" y="8"/>
                    <a:pt x="3" y="8"/>
                  </a:cubicBezTo>
                  <a:cubicBezTo>
                    <a:pt x="10" y="5"/>
                    <a:pt x="21" y="4"/>
                    <a:pt x="29" y="11"/>
                  </a:cubicBezTo>
                  <a:cubicBezTo>
                    <a:pt x="29" y="12"/>
                    <a:pt x="29" y="12"/>
                    <a:pt x="30" y="12"/>
                  </a:cubicBezTo>
                  <a:cubicBezTo>
                    <a:pt x="30" y="12"/>
                    <a:pt x="31" y="12"/>
                    <a:pt x="31" y="11"/>
                  </a:cubicBezTo>
                  <a:cubicBezTo>
                    <a:pt x="32" y="10"/>
                    <a:pt x="32" y="9"/>
                    <a:pt x="31" y="8"/>
                  </a:cubicBezTo>
                  <a:cubicBezTo>
                    <a:pt x="23" y="0"/>
                    <a:pt x="10" y="0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3" name="Freeform 8">
              <a:extLst>
                <a:ext uri="{FF2B5EF4-FFF2-40B4-BE49-F238E27FC236}">
                  <a16:creationId xmlns:a16="http://schemas.microsoft.com/office/drawing/2014/main" id="{D409AAFB-61F5-8348-BEE9-17D8D63EB0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4975" y="3232150"/>
              <a:ext cx="430213" cy="161925"/>
            </a:xfrm>
            <a:custGeom>
              <a:avLst/>
              <a:gdLst>
                <a:gd name="T0" fmla="*/ 1 w 32"/>
                <a:gd name="T1" fmla="*/ 5 h 12"/>
                <a:gd name="T2" fmla="*/ 0 w 32"/>
                <a:gd name="T3" fmla="*/ 7 h 12"/>
                <a:gd name="T4" fmla="*/ 3 w 32"/>
                <a:gd name="T5" fmla="*/ 8 h 12"/>
                <a:gd name="T6" fmla="*/ 29 w 32"/>
                <a:gd name="T7" fmla="*/ 12 h 12"/>
                <a:gd name="T8" fmla="*/ 30 w 32"/>
                <a:gd name="T9" fmla="*/ 12 h 12"/>
                <a:gd name="T10" fmla="*/ 31 w 32"/>
                <a:gd name="T11" fmla="*/ 12 h 12"/>
                <a:gd name="T12" fmla="*/ 31 w 32"/>
                <a:gd name="T13" fmla="*/ 9 h 12"/>
                <a:gd name="T14" fmla="*/ 1 w 32"/>
                <a:gd name="T15" fmla="*/ 5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12">
                  <a:moveTo>
                    <a:pt x="1" y="5"/>
                  </a:moveTo>
                  <a:cubicBezTo>
                    <a:pt x="0" y="5"/>
                    <a:pt x="0" y="6"/>
                    <a:pt x="0" y="7"/>
                  </a:cubicBezTo>
                  <a:cubicBezTo>
                    <a:pt x="1" y="8"/>
                    <a:pt x="2" y="9"/>
                    <a:pt x="3" y="8"/>
                  </a:cubicBezTo>
                  <a:cubicBezTo>
                    <a:pt x="10" y="5"/>
                    <a:pt x="21" y="5"/>
                    <a:pt x="29" y="12"/>
                  </a:cubicBezTo>
                  <a:cubicBezTo>
                    <a:pt x="29" y="12"/>
                    <a:pt x="29" y="12"/>
                    <a:pt x="30" y="12"/>
                  </a:cubicBezTo>
                  <a:cubicBezTo>
                    <a:pt x="30" y="12"/>
                    <a:pt x="31" y="12"/>
                    <a:pt x="31" y="12"/>
                  </a:cubicBezTo>
                  <a:cubicBezTo>
                    <a:pt x="32" y="11"/>
                    <a:pt x="32" y="10"/>
                    <a:pt x="31" y="9"/>
                  </a:cubicBezTo>
                  <a:cubicBezTo>
                    <a:pt x="23" y="0"/>
                    <a:pt x="10" y="1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4" name="Freeform 9">
              <a:extLst>
                <a:ext uri="{FF2B5EF4-FFF2-40B4-BE49-F238E27FC236}">
                  <a16:creationId xmlns:a16="http://schemas.microsoft.com/office/drawing/2014/main" id="{5999D9BF-AE23-ADDD-EBA5-BCED0E0044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4975" y="3394075"/>
              <a:ext cx="430213" cy="161925"/>
            </a:xfrm>
            <a:custGeom>
              <a:avLst/>
              <a:gdLst>
                <a:gd name="T0" fmla="*/ 1 w 32"/>
                <a:gd name="T1" fmla="*/ 4 h 12"/>
                <a:gd name="T2" fmla="*/ 0 w 32"/>
                <a:gd name="T3" fmla="*/ 7 h 12"/>
                <a:gd name="T4" fmla="*/ 3 w 32"/>
                <a:gd name="T5" fmla="*/ 8 h 12"/>
                <a:gd name="T6" fmla="*/ 29 w 32"/>
                <a:gd name="T7" fmla="*/ 11 h 12"/>
                <a:gd name="T8" fmla="*/ 30 w 32"/>
                <a:gd name="T9" fmla="*/ 12 h 12"/>
                <a:gd name="T10" fmla="*/ 31 w 32"/>
                <a:gd name="T11" fmla="*/ 11 h 12"/>
                <a:gd name="T12" fmla="*/ 31 w 32"/>
                <a:gd name="T13" fmla="*/ 9 h 12"/>
                <a:gd name="T14" fmla="*/ 1 w 32"/>
                <a:gd name="T15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12">
                  <a:moveTo>
                    <a:pt x="1" y="4"/>
                  </a:moveTo>
                  <a:cubicBezTo>
                    <a:pt x="0" y="4"/>
                    <a:pt x="0" y="6"/>
                    <a:pt x="0" y="7"/>
                  </a:cubicBezTo>
                  <a:cubicBezTo>
                    <a:pt x="1" y="8"/>
                    <a:pt x="2" y="8"/>
                    <a:pt x="3" y="8"/>
                  </a:cubicBezTo>
                  <a:cubicBezTo>
                    <a:pt x="10" y="5"/>
                    <a:pt x="21" y="4"/>
                    <a:pt x="29" y="11"/>
                  </a:cubicBezTo>
                  <a:cubicBezTo>
                    <a:pt x="29" y="12"/>
                    <a:pt x="29" y="12"/>
                    <a:pt x="30" y="12"/>
                  </a:cubicBezTo>
                  <a:cubicBezTo>
                    <a:pt x="30" y="12"/>
                    <a:pt x="31" y="12"/>
                    <a:pt x="31" y="11"/>
                  </a:cubicBezTo>
                  <a:cubicBezTo>
                    <a:pt x="32" y="11"/>
                    <a:pt x="32" y="9"/>
                    <a:pt x="31" y="9"/>
                  </a:cubicBezTo>
                  <a:cubicBezTo>
                    <a:pt x="23" y="0"/>
                    <a:pt x="10" y="1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5" name="Freeform 10">
              <a:extLst>
                <a:ext uri="{FF2B5EF4-FFF2-40B4-BE49-F238E27FC236}">
                  <a16:creationId xmlns:a16="http://schemas.microsoft.com/office/drawing/2014/main" id="{7261ECFD-37AB-0A79-5D48-DEA9251F6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4975" y="3556000"/>
              <a:ext cx="430213" cy="161925"/>
            </a:xfrm>
            <a:custGeom>
              <a:avLst/>
              <a:gdLst>
                <a:gd name="T0" fmla="*/ 1 w 32"/>
                <a:gd name="T1" fmla="*/ 4 h 12"/>
                <a:gd name="T2" fmla="*/ 0 w 32"/>
                <a:gd name="T3" fmla="*/ 6 h 12"/>
                <a:gd name="T4" fmla="*/ 3 w 32"/>
                <a:gd name="T5" fmla="*/ 7 h 12"/>
                <a:gd name="T6" fmla="*/ 29 w 32"/>
                <a:gd name="T7" fmla="*/ 11 h 12"/>
                <a:gd name="T8" fmla="*/ 30 w 32"/>
                <a:gd name="T9" fmla="*/ 12 h 12"/>
                <a:gd name="T10" fmla="*/ 31 w 32"/>
                <a:gd name="T11" fmla="*/ 11 h 12"/>
                <a:gd name="T12" fmla="*/ 31 w 32"/>
                <a:gd name="T13" fmla="*/ 8 h 12"/>
                <a:gd name="T14" fmla="*/ 1 w 32"/>
                <a:gd name="T15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12">
                  <a:moveTo>
                    <a:pt x="1" y="4"/>
                  </a:moveTo>
                  <a:cubicBezTo>
                    <a:pt x="0" y="4"/>
                    <a:pt x="0" y="5"/>
                    <a:pt x="0" y="6"/>
                  </a:cubicBezTo>
                  <a:cubicBezTo>
                    <a:pt x="1" y="7"/>
                    <a:pt x="2" y="8"/>
                    <a:pt x="3" y="7"/>
                  </a:cubicBezTo>
                  <a:cubicBezTo>
                    <a:pt x="10" y="4"/>
                    <a:pt x="21" y="4"/>
                    <a:pt x="29" y="11"/>
                  </a:cubicBezTo>
                  <a:cubicBezTo>
                    <a:pt x="29" y="11"/>
                    <a:pt x="29" y="12"/>
                    <a:pt x="30" y="12"/>
                  </a:cubicBezTo>
                  <a:cubicBezTo>
                    <a:pt x="30" y="12"/>
                    <a:pt x="31" y="11"/>
                    <a:pt x="31" y="11"/>
                  </a:cubicBezTo>
                  <a:cubicBezTo>
                    <a:pt x="32" y="10"/>
                    <a:pt x="32" y="9"/>
                    <a:pt x="31" y="8"/>
                  </a:cubicBezTo>
                  <a:cubicBezTo>
                    <a:pt x="23" y="0"/>
                    <a:pt x="10" y="0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85178A7E-E137-AB41-C33E-35E7144C2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3475" y="2921000"/>
              <a:ext cx="430213" cy="161925"/>
            </a:xfrm>
            <a:custGeom>
              <a:avLst/>
              <a:gdLst>
                <a:gd name="T0" fmla="*/ 1 w 32"/>
                <a:gd name="T1" fmla="*/ 12 h 12"/>
                <a:gd name="T2" fmla="*/ 2 w 32"/>
                <a:gd name="T3" fmla="*/ 12 h 12"/>
                <a:gd name="T4" fmla="*/ 3 w 32"/>
                <a:gd name="T5" fmla="*/ 12 h 12"/>
                <a:gd name="T6" fmla="*/ 29 w 32"/>
                <a:gd name="T7" fmla="*/ 8 h 12"/>
                <a:gd name="T8" fmla="*/ 32 w 32"/>
                <a:gd name="T9" fmla="*/ 7 h 12"/>
                <a:gd name="T10" fmla="*/ 31 w 32"/>
                <a:gd name="T11" fmla="*/ 4 h 12"/>
                <a:gd name="T12" fmla="*/ 1 w 32"/>
                <a:gd name="T13" fmla="*/ 9 h 12"/>
                <a:gd name="T14" fmla="*/ 1 w 32"/>
                <a:gd name="T1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12">
                  <a:moveTo>
                    <a:pt x="1" y="12"/>
                  </a:moveTo>
                  <a:cubicBezTo>
                    <a:pt x="1" y="12"/>
                    <a:pt x="1" y="12"/>
                    <a:pt x="2" y="12"/>
                  </a:cubicBezTo>
                  <a:cubicBezTo>
                    <a:pt x="2" y="12"/>
                    <a:pt x="3" y="12"/>
                    <a:pt x="3" y="12"/>
                  </a:cubicBezTo>
                  <a:cubicBezTo>
                    <a:pt x="11" y="4"/>
                    <a:pt x="21" y="5"/>
                    <a:pt x="29" y="8"/>
                  </a:cubicBezTo>
                  <a:cubicBezTo>
                    <a:pt x="30" y="9"/>
                    <a:pt x="31" y="8"/>
                    <a:pt x="32" y="7"/>
                  </a:cubicBezTo>
                  <a:cubicBezTo>
                    <a:pt x="32" y="6"/>
                    <a:pt x="32" y="5"/>
                    <a:pt x="31" y="4"/>
                  </a:cubicBezTo>
                  <a:cubicBezTo>
                    <a:pt x="22" y="1"/>
                    <a:pt x="9" y="0"/>
                    <a:pt x="1" y="9"/>
                  </a:cubicBezTo>
                  <a:cubicBezTo>
                    <a:pt x="0" y="10"/>
                    <a:pt x="0" y="11"/>
                    <a:pt x="1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F97E0BD2-BF31-EF47-0E03-A0CE42E124A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3475" y="3082925"/>
              <a:ext cx="430213" cy="161925"/>
            </a:xfrm>
            <a:custGeom>
              <a:avLst/>
              <a:gdLst>
                <a:gd name="T0" fmla="*/ 31 w 32"/>
                <a:gd name="T1" fmla="*/ 4 h 12"/>
                <a:gd name="T2" fmla="*/ 1 w 32"/>
                <a:gd name="T3" fmla="*/ 8 h 12"/>
                <a:gd name="T4" fmla="*/ 1 w 32"/>
                <a:gd name="T5" fmla="*/ 11 h 12"/>
                <a:gd name="T6" fmla="*/ 2 w 32"/>
                <a:gd name="T7" fmla="*/ 12 h 12"/>
                <a:gd name="T8" fmla="*/ 3 w 32"/>
                <a:gd name="T9" fmla="*/ 11 h 12"/>
                <a:gd name="T10" fmla="*/ 29 w 32"/>
                <a:gd name="T11" fmla="*/ 8 h 12"/>
                <a:gd name="T12" fmla="*/ 32 w 32"/>
                <a:gd name="T13" fmla="*/ 7 h 12"/>
                <a:gd name="T14" fmla="*/ 31 w 32"/>
                <a:gd name="T15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12">
                  <a:moveTo>
                    <a:pt x="31" y="4"/>
                  </a:moveTo>
                  <a:cubicBezTo>
                    <a:pt x="22" y="0"/>
                    <a:pt x="9" y="0"/>
                    <a:pt x="1" y="8"/>
                  </a:cubicBezTo>
                  <a:cubicBezTo>
                    <a:pt x="0" y="9"/>
                    <a:pt x="0" y="10"/>
                    <a:pt x="1" y="11"/>
                  </a:cubicBezTo>
                  <a:cubicBezTo>
                    <a:pt x="1" y="12"/>
                    <a:pt x="1" y="12"/>
                    <a:pt x="2" y="12"/>
                  </a:cubicBezTo>
                  <a:cubicBezTo>
                    <a:pt x="2" y="12"/>
                    <a:pt x="3" y="12"/>
                    <a:pt x="3" y="11"/>
                  </a:cubicBezTo>
                  <a:cubicBezTo>
                    <a:pt x="11" y="4"/>
                    <a:pt x="21" y="5"/>
                    <a:pt x="29" y="8"/>
                  </a:cubicBezTo>
                  <a:cubicBezTo>
                    <a:pt x="30" y="8"/>
                    <a:pt x="31" y="8"/>
                    <a:pt x="32" y="7"/>
                  </a:cubicBezTo>
                  <a:cubicBezTo>
                    <a:pt x="32" y="6"/>
                    <a:pt x="32" y="4"/>
                    <a:pt x="3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8D3906C4-C07E-D9A7-189A-0EDBDFEA6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3475" y="3232150"/>
              <a:ext cx="430213" cy="161925"/>
            </a:xfrm>
            <a:custGeom>
              <a:avLst/>
              <a:gdLst>
                <a:gd name="T0" fmla="*/ 31 w 32"/>
                <a:gd name="T1" fmla="*/ 5 h 12"/>
                <a:gd name="T2" fmla="*/ 1 w 32"/>
                <a:gd name="T3" fmla="*/ 9 h 12"/>
                <a:gd name="T4" fmla="*/ 1 w 32"/>
                <a:gd name="T5" fmla="*/ 12 h 12"/>
                <a:gd name="T6" fmla="*/ 2 w 32"/>
                <a:gd name="T7" fmla="*/ 12 h 12"/>
                <a:gd name="T8" fmla="*/ 3 w 32"/>
                <a:gd name="T9" fmla="*/ 12 h 12"/>
                <a:gd name="T10" fmla="*/ 29 w 32"/>
                <a:gd name="T11" fmla="*/ 8 h 12"/>
                <a:gd name="T12" fmla="*/ 32 w 32"/>
                <a:gd name="T13" fmla="*/ 7 h 12"/>
                <a:gd name="T14" fmla="*/ 31 w 32"/>
                <a:gd name="T15" fmla="*/ 5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12">
                  <a:moveTo>
                    <a:pt x="31" y="5"/>
                  </a:moveTo>
                  <a:cubicBezTo>
                    <a:pt x="22" y="1"/>
                    <a:pt x="9" y="0"/>
                    <a:pt x="1" y="9"/>
                  </a:cubicBezTo>
                  <a:cubicBezTo>
                    <a:pt x="0" y="10"/>
                    <a:pt x="0" y="11"/>
                    <a:pt x="1" y="12"/>
                  </a:cubicBezTo>
                  <a:cubicBezTo>
                    <a:pt x="1" y="12"/>
                    <a:pt x="1" y="12"/>
                    <a:pt x="2" y="12"/>
                  </a:cubicBezTo>
                  <a:cubicBezTo>
                    <a:pt x="2" y="12"/>
                    <a:pt x="3" y="12"/>
                    <a:pt x="3" y="12"/>
                  </a:cubicBezTo>
                  <a:cubicBezTo>
                    <a:pt x="11" y="5"/>
                    <a:pt x="21" y="5"/>
                    <a:pt x="29" y="8"/>
                  </a:cubicBezTo>
                  <a:cubicBezTo>
                    <a:pt x="30" y="9"/>
                    <a:pt x="31" y="8"/>
                    <a:pt x="32" y="7"/>
                  </a:cubicBezTo>
                  <a:cubicBezTo>
                    <a:pt x="32" y="6"/>
                    <a:pt x="32" y="5"/>
                    <a:pt x="3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AF1B6BBB-2068-B621-B31E-793EC4476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3475" y="3394075"/>
              <a:ext cx="430213" cy="161925"/>
            </a:xfrm>
            <a:custGeom>
              <a:avLst/>
              <a:gdLst>
                <a:gd name="T0" fmla="*/ 31 w 32"/>
                <a:gd name="T1" fmla="*/ 4 h 12"/>
                <a:gd name="T2" fmla="*/ 1 w 32"/>
                <a:gd name="T3" fmla="*/ 9 h 12"/>
                <a:gd name="T4" fmla="*/ 1 w 32"/>
                <a:gd name="T5" fmla="*/ 11 h 12"/>
                <a:gd name="T6" fmla="*/ 2 w 32"/>
                <a:gd name="T7" fmla="*/ 12 h 12"/>
                <a:gd name="T8" fmla="*/ 3 w 32"/>
                <a:gd name="T9" fmla="*/ 11 h 12"/>
                <a:gd name="T10" fmla="*/ 29 w 32"/>
                <a:gd name="T11" fmla="*/ 8 h 12"/>
                <a:gd name="T12" fmla="*/ 32 w 32"/>
                <a:gd name="T13" fmla="*/ 7 h 12"/>
                <a:gd name="T14" fmla="*/ 31 w 32"/>
                <a:gd name="T15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12">
                  <a:moveTo>
                    <a:pt x="31" y="4"/>
                  </a:moveTo>
                  <a:cubicBezTo>
                    <a:pt x="22" y="1"/>
                    <a:pt x="9" y="0"/>
                    <a:pt x="1" y="9"/>
                  </a:cubicBezTo>
                  <a:cubicBezTo>
                    <a:pt x="0" y="9"/>
                    <a:pt x="0" y="11"/>
                    <a:pt x="1" y="11"/>
                  </a:cubicBezTo>
                  <a:cubicBezTo>
                    <a:pt x="1" y="12"/>
                    <a:pt x="1" y="12"/>
                    <a:pt x="2" y="12"/>
                  </a:cubicBezTo>
                  <a:cubicBezTo>
                    <a:pt x="2" y="12"/>
                    <a:pt x="3" y="12"/>
                    <a:pt x="3" y="11"/>
                  </a:cubicBezTo>
                  <a:cubicBezTo>
                    <a:pt x="11" y="4"/>
                    <a:pt x="21" y="5"/>
                    <a:pt x="29" y="8"/>
                  </a:cubicBezTo>
                  <a:cubicBezTo>
                    <a:pt x="30" y="8"/>
                    <a:pt x="31" y="8"/>
                    <a:pt x="32" y="7"/>
                  </a:cubicBezTo>
                  <a:cubicBezTo>
                    <a:pt x="32" y="6"/>
                    <a:pt x="32" y="4"/>
                    <a:pt x="3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35CCEC7-B5A4-65D0-32D1-CAD54E8F9C07}"/>
              </a:ext>
            </a:extLst>
          </p:cNvPr>
          <p:cNvSpPr txBox="1"/>
          <p:nvPr/>
        </p:nvSpPr>
        <p:spPr>
          <a:xfrm>
            <a:off x="-9857" y="217872"/>
            <a:ext cx="9151598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800" b="1">
                <a:latin typeface="Calibri"/>
              </a:rPr>
              <a:t>Introduction</a:t>
            </a:r>
            <a:endParaRPr lang="en-US" sz="380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7463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9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3BE3CB28-F86B-2E44-FAD4-9BBA5F929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>
            <a:extLst>
              <a:ext uri="{FF2B5EF4-FFF2-40B4-BE49-F238E27FC236}">
                <a16:creationId xmlns:a16="http://schemas.microsoft.com/office/drawing/2014/main" id="{16EE7C2E-4E9F-3B0E-7898-FC5B8A37D60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2" name="Picture 1" descr="A black rectangular object with a white border&#10;&#10;AI-generated content may be incorrect.">
            <a:extLst>
              <a:ext uri="{FF2B5EF4-FFF2-40B4-BE49-F238E27FC236}">
                <a16:creationId xmlns:a16="http://schemas.microsoft.com/office/drawing/2014/main" id="{0ECD103C-98D1-9E36-4F0F-A4CEA4982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537" y="0"/>
            <a:ext cx="431800" cy="5947126"/>
          </a:xfrm>
          <a:prstGeom prst="rect">
            <a:avLst/>
          </a:prstGeom>
        </p:spPr>
      </p:pic>
      <p:pic>
        <p:nvPicPr>
          <p:cNvPr id="3" name="Picture 2" descr="A blue square with black border&#10;&#10;AI-generated content may be incorrect.">
            <a:extLst>
              <a:ext uri="{FF2B5EF4-FFF2-40B4-BE49-F238E27FC236}">
                <a16:creationId xmlns:a16="http://schemas.microsoft.com/office/drawing/2014/main" id="{78079F3D-B717-EF71-F82A-5127C79708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" y="1374734"/>
            <a:ext cx="1379778" cy="1246624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Picture 3" descr="A green square with black border&#10;&#10;AI-generated content may be incorrect.">
            <a:extLst>
              <a:ext uri="{FF2B5EF4-FFF2-40B4-BE49-F238E27FC236}">
                <a16:creationId xmlns:a16="http://schemas.microsoft.com/office/drawing/2014/main" id="{983CBD7C-E210-6BF3-7201-604DBB3C95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7" y="2806398"/>
            <a:ext cx="1385655" cy="1251081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Picture 4" descr="A yellow square with black border&#10;&#10;AI-generated content may be incorrect.">
            <a:extLst>
              <a:ext uri="{FF2B5EF4-FFF2-40B4-BE49-F238E27FC236}">
                <a16:creationId xmlns:a16="http://schemas.microsoft.com/office/drawing/2014/main" id="{251A33F7-3EB5-0D62-1F84-71D427BAE2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" y="4210906"/>
            <a:ext cx="1403285" cy="1274588"/>
          </a:xfrm>
          <a:prstGeom prst="rect">
            <a:avLst/>
          </a:prstGeom>
        </p:spPr>
      </p:pic>
      <p:pic>
        <p:nvPicPr>
          <p:cNvPr id="6" name="Picture 5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22D117DF-15FD-D11D-D217-551447A61F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4489" y="1373902"/>
            <a:ext cx="430266" cy="1565626"/>
          </a:xfrm>
          <a:prstGeom prst="rect">
            <a:avLst/>
          </a:prstGeom>
        </p:spPr>
      </p:pic>
      <p:pic>
        <p:nvPicPr>
          <p:cNvPr id="7" name="Picture 6" descr="A green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F6FCF2A2-2157-FA60-F488-33856950D6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0365" y="2807794"/>
            <a:ext cx="430266" cy="1559750"/>
          </a:xfrm>
          <a:prstGeom prst="rect">
            <a:avLst/>
          </a:prstGeom>
        </p:spPr>
      </p:pic>
      <p:pic>
        <p:nvPicPr>
          <p:cNvPr id="8" name="Picture 7" descr="A yellow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04507F80-8293-CB92-8D54-29E2BFA4E7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4489" y="4212303"/>
            <a:ext cx="418513" cy="1577380"/>
          </a:xfrm>
          <a:prstGeom prst="rect">
            <a:avLst/>
          </a:prstGeom>
        </p:spPr>
      </p:pic>
      <p:pic>
        <p:nvPicPr>
          <p:cNvPr id="9" name="Picture 8" descr="A blue square with black border&#10;&#10;AI-generated content may be incorrect.">
            <a:extLst>
              <a:ext uri="{FF2B5EF4-FFF2-40B4-BE49-F238E27FC236}">
                <a16:creationId xmlns:a16="http://schemas.microsoft.com/office/drawing/2014/main" id="{7E4A04DA-3A25-4093-D003-6E152315B2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99956" y="1697947"/>
            <a:ext cx="3598933" cy="1264254"/>
          </a:xfrm>
          <a:prstGeom prst="rect">
            <a:avLst/>
          </a:prstGeom>
        </p:spPr>
      </p:pic>
      <p:pic>
        <p:nvPicPr>
          <p:cNvPr id="12" name="Picture 11" descr="A green square with white dots&#10;&#10;AI-generated content may be incorrect.">
            <a:extLst>
              <a:ext uri="{FF2B5EF4-FFF2-40B4-BE49-F238E27FC236}">
                <a16:creationId xmlns:a16="http://schemas.microsoft.com/office/drawing/2014/main" id="{9717803E-065E-A47E-D581-D4AEC96624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89316" y="3115936"/>
            <a:ext cx="3687082" cy="12533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64FB7F-9541-60B2-D03F-5F2AE2EF79A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85667" y="4526824"/>
            <a:ext cx="3622440" cy="126425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9112A79-130F-B5C1-E956-22133190AC02}"/>
              </a:ext>
            </a:extLst>
          </p:cNvPr>
          <p:cNvSpPr txBox="1"/>
          <p:nvPr/>
        </p:nvSpPr>
        <p:spPr>
          <a:xfrm>
            <a:off x="1813521" y="338493"/>
            <a:ext cx="7338705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800" b="1">
                <a:latin typeface="Calibri"/>
                <a:ea typeface="Calibri"/>
                <a:cs typeface="Calibri"/>
              </a:rPr>
              <a:t>Economic Model Integration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8F150A-F6C0-D635-77CA-92A77BD09A12}"/>
              </a:ext>
            </a:extLst>
          </p:cNvPr>
          <p:cNvSpPr txBox="1"/>
          <p:nvPr/>
        </p:nvSpPr>
        <p:spPr>
          <a:xfrm>
            <a:off x="16395" y="1819398"/>
            <a:ext cx="135842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b="1">
                <a:solidFill>
                  <a:schemeClr val="bg1"/>
                </a:solidFill>
                <a:latin typeface="Calibri"/>
                <a:ea typeface="Calibri"/>
              </a:rPr>
              <a:t>Current Stage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A4CB29-BE94-8497-744F-B1037659C715}"/>
              </a:ext>
            </a:extLst>
          </p:cNvPr>
          <p:cNvSpPr txBox="1"/>
          <p:nvPr/>
        </p:nvSpPr>
        <p:spPr>
          <a:xfrm>
            <a:off x="-9342" y="3141328"/>
            <a:ext cx="139541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b="1">
                <a:solidFill>
                  <a:schemeClr val="bg1"/>
                </a:solidFill>
                <a:latin typeface="Calibri"/>
              </a:rPr>
              <a:t>Sector</a:t>
            </a:r>
            <a:endParaRPr lang="en-GB">
              <a:solidFill>
                <a:schemeClr val="bg1"/>
              </a:solidFill>
              <a:latin typeface="Calibri"/>
            </a:endParaRPr>
          </a:p>
          <a:p>
            <a:pPr algn="ctr"/>
            <a:r>
              <a:rPr lang="en-GB" b="1">
                <a:solidFill>
                  <a:schemeClr val="bg1"/>
                </a:solidFill>
                <a:latin typeface="Calibri"/>
              </a:rPr>
              <a:t>Performance</a:t>
            </a:r>
            <a:endParaRPr lang="en-GB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1DA1D0-3BE2-3928-1008-4BAEE547BFF9}"/>
              </a:ext>
            </a:extLst>
          </p:cNvPr>
          <p:cNvSpPr txBox="1"/>
          <p:nvPr/>
        </p:nvSpPr>
        <p:spPr>
          <a:xfrm>
            <a:off x="-14104" y="4628415"/>
            <a:ext cx="1395413" cy="430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275"/>
              </a:lnSpc>
            </a:pPr>
            <a:r>
              <a:rPr lang="en-US" b="1">
                <a:solidFill>
                  <a:schemeClr val="bg1"/>
                </a:solidFill>
                <a:latin typeface="Calibri"/>
                <a:cs typeface="Segoe UI"/>
              </a:rPr>
              <a:t>Style </a:t>
            </a:r>
            <a:endParaRPr lang="en-US">
              <a:solidFill>
                <a:schemeClr val="bg1"/>
              </a:solidFill>
              <a:latin typeface="Calibri"/>
            </a:endParaRPr>
          </a:p>
          <a:p>
            <a:pPr algn="ctr">
              <a:lnSpc>
                <a:spcPts val="1275"/>
              </a:lnSpc>
            </a:pPr>
            <a:r>
              <a:rPr lang="en-US" b="1">
                <a:solidFill>
                  <a:schemeClr val="bg1"/>
                </a:solidFill>
                <a:latin typeface="Calibri"/>
                <a:cs typeface="Segoe UI"/>
              </a:rPr>
              <a:t>Implications</a:t>
            </a:r>
            <a:endParaRPr lang="en-US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1E5901-601E-A965-2BD6-743A1AB9E4DC}"/>
              </a:ext>
            </a:extLst>
          </p:cNvPr>
          <p:cNvSpPr txBox="1"/>
          <p:nvPr/>
        </p:nvSpPr>
        <p:spPr>
          <a:xfrm>
            <a:off x="1814514" y="1697398"/>
            <a:ext cx="3589578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8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Base Case: Stagflation</a:t>
            </a:r>
            <a:endParaRPr lang="en-US" sz="1800">
              <a:solidFill>
                <a:schemeClr val="bg1"/>
              </a:solidFill>
            </a:endParaRPr>
          </a:p>
          <a:p>
            <a:pPr algn="ctr"/>
            <a:endParaRPr lang="en-GB" sz="6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GB" sz="18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-Falling Growth</a:t>
            </a:r>
          </a:p>
          <a:p>
            <a:pPr algn="ctr"/>
            <a:endParaRPr lang="en-GB" sz="8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GB" sz="18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-Inflation Rising/Sticky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451A24-502E-2F41-2770-8BD27EDDC21C}"/>
              </a:ext>
            </a:extLst>
          </p:cNvPr>
          <p:cNvSpPr txBox="1"/>
          <p:nvPr/>
        </p:nvSpPr>
        <p:spPr>
          <a:xfrm>
            <a:off x="1787052" y="3179341"/>
            <a:ext cx="3596569" cy="11887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650"/>
              </a:lnSpc>
            </a:pPr>
            <a:r>
              <a:rPr lang="en-US" sz="1800" b="1">
                <a:solidFill>
                  <a:schemeClr val="bg1"/>
                </a:solidFill>
                <a:latin typeface="Calibri"/>
                <a:cs typeface="Segoe UI"/>
              </a:rPr>
              <a:t>Healthcare</a:t>
            </a:r>
            <a:endParaRPr lang="en-US" sz="1800">
              <a:solidFill>
                <a:schemeClr val="bg1"/>
              </a:solidFill>
            </a:endParaRPr>
          </a:p>
          <a:p>
            <a:pPr algn="ctr">
              <a:lnSpc>
                <a:spcPts val="1650"/>
              </a:lnSpc>
            </a:pPr>
            <a:endParaRPr lang="en-US" sz="1800" b="1">
              <a:solidFill>
                <a:schemeClr val="bg1"/>
              </a:solidFill>
              <a:latin typeface="Calibri"/>
              <a:cs typeface="Segoe UI"/>
            </a:endParaRPr>
          </a:p>
          <a:p>
            <a:pPr algn="ctr">
              <a:lnSpc>
                <a:spcPts val="1650"/>
              </a:lnSpc>
            </a:pPr>
            <a:r>
              <a:rPr lang="en-US" sz="1800" b="1">
                <a:solidFill>
                  <a:schemeClr val="bg1"/>
                </a:solidFill>
                <a:latin typeface="Calibri"/>
              </a:rPr>
              <a:t>Energy</a:t>
            </a:r>
          </a:p>
          <a:p>
            <a:pPr algn="ctr">
              <a:lnSpc>
                <a:spcPts val="1650"/>
              </a:lnSpc>
            </a:pPr>
            <a:endParaRPr lang="en-US" sz="1800" b="1">
              <a:solidFill>
                <a:schemeClr val="bg1"/>
              </a:solidFill>
              <a:latin typeface="Calibri"/>
            </a:endParaRPr>
          </a:p>
          <a:p>
            <a:pPr algn="ctr">
              <a:lnSpc>
                <a:spcPts val="1650"/>
              </a:lnSpc>
            </a:pPr>
            <a:r>
              <a:rPr lang="en-US" sz="1800" b="1">
                <a:solidFill>
                  <a:schemeClr val="bg1"/>
                </a:solidFill>
                <a:latin typeface="Calibri"/>
              </a:rPr>
              <a:t>Financials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5312FC-107E-DC88-69B3-FCC4E4E547CD}"/>
              </a:ext>
            </a:extLst>
          </p:cNvPr>
          <p:cNvSpPr txBox="1"/>
          <p:nvPr/>
        </p:nvSpPr>
        <p:spPr>
          <a:xfrm>
            <a:off x="1774991" y="4730693"/>
            <a:ext cx="3621607" cy="7509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650"/>
              </a:lnSpc>
            </a:pPr>
            <a:r>
              <a:rPr lang="en-US" sz="1800" b="1">
                <a:solidFill>
                  <a:schemeClr val="bg1"/>
                </a:solidFill>
                <a:latin typeface="Calibri"/>
                <a:cs typeface="Segoe UI"/>
              </a:rPr>
              <a:t>Defensive-Value</a:t>
            </a:r>
            <a:endParaRPr lang="en-US" sz="1800">
              <a:solidFill>
                <a:schemeClr val="bg1"/>
              </a:solidFill>
            </a:endParaRPr>
          </a:p>
          <a:p>
            <a:pPr algn="ctr">
              <a:lnSpc>
                <a:spcPts val="1650"/>
              </a:lnSpc>
            </a:pPr>
            <a:endParaRPr lang="en-US" sz="1800" b="1">
              <a:solidFill>
                <a:schemeClr val="bg1"/>
              </a:solidFill>
              <a:latin typeface="Calibri"/>
              <a:cs typeface="Segoe UI"/>
            </a:endParaRPr>
          </a:p>
          <a:p>
            <a:pPr algn="ctr">
              <a:lnSpc>
                <a:spcPts val="1650"/>
              </a:lnSpc>
            </a:pPr>
            <a:r>
              <a:rPr lang="en-US" sz="1800" b="1">
                <a:solidFill>
                  <a:schemeClr val="bg1"/>
                </a:solidFill>
                <a:latin typeface="Calibri"/>
                <a:cs typeface="Segoe UI"/>
              </a:rPr>
              <a:t>Defensive-Growth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6A7480-5129-B13C-2657-11535DEAC304}"/>
              </a:ext>
            </a:extLst>
          </p:cNvPr>
          <p:cNvSpPr txBox="1"/>
          <p:nvPr/>
        </p:nvSpPr>
        <p:spPr>
          <a:xfrm flipH="1">
            <a:off x="5650396" y="3876339"/>
            <a:ext cx="3745486" cy="1259919"/>
          </a:xfrm>
          <a:prstGeom prst="flowChartAlternateProcess">
            <a:avLst/>
          </a:prstGeom>
          <a:solidFill>
            <a:schemeClr val="tx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8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Bear Case: Deflation/Recession</a:t>
            </a:r>
            <a:endParaRPr lang="en-US" sz="1800">
              <a:solidFill>
                <a:schemeClr val="bg1"/>
              </a:solidFill>
            </a:endParaRPr>
          </a:p>
          <a:p>
            <a:pPr algn="ctr"/>
            <a:endParaRPr lang="en-GB" sz="6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GB" sz="18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-Falling Growth</a:t>
            </a:r>
          </a:p>
          <a:p>
            <a:pPr algn="ctr"/>
            <a:endParaRPr lang="en-GB" sz="8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GB" sz="18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-Falling Inflation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AECBC0-D76A-48CE-43BB-E2C0E4D6CDD6}"/>
              </a:ext>
            </a:extLst>
          </p:cNvPr>
          <p:cNvSpPr txBox="1"/>
          <p:nvPr/>
        </p:nvSpPr>
        <p:spPr>
          <a:xfrm flipH="1">
            <a:off x="5650396" y="2237011"/>
            <a:ext cx="3747051" cy="1259919"/>
          </a:xfrm>
          <a:prstGeom prst="flowChartAlternateProcess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8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Bull Case: Reflation</a:t>
            </a:r>
            <a:endParaRPr lang="en-US" sz="1800">
              <a:solidFill>
                <a:schemeClr val="bg1"/>
              </a:solidFill>
            </a:endParaRPr>
          </a:p>
          <a:p>
            <a:pPr algn="ctr"/>
            <a:endParaRPr lang="en-GB" sz="6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GB" sz="18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-Rising Growth</a:t>
            </a:r>
          </a:p>
          <a:p>
            <a:pPr algn="ctr"/>
            <a:endParaRPr lang="en-GB" sz="8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GB" sz="18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-Falling Inflation</a:t>
            </a:r>
          </a:p>
        </p:txBody>
      </p:sp>
    </p:spTree>
    <p:extLst>
      <p:ext uri="{BB962C8B-B14F-4D97-AF65-F5344CB8AC3E}">
        <p14:creationId xmlns:p14="http://schemas.microsoft.com/office/powerpoint/2010/main" val="1262248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8" grpId="0"/>
      <p:bldP spid="19" grpId="0"/>
      <p:bldP spid="21" grpId="0"/>
      <p:bldP spid="22" grpId="0"/>
      <p:bldP spid="23" grpId="0"/>
      <p:bldP spid="31" grpId="0" animBg="1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EB883AB9-9BDC-0A54-DBD5-336A9F96E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>
            <a:extLst>
              <a:ext uri="{FF2B5EF4-FFF2-40B4-BE49-F238E27FC236}">
                <a16:creationId xmlns:a16="http://schemas.microsoft.com/office/drawing/2014/main" id="{9A076D2B-BF98-98F9-72E1-1F84A03107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8F40BB-5502-56AE-ABAD-C01CCDAFC140}"/>
              </a:ext>
            </a:extLst>
          </p:cNvPr>
          <p:cNvSpPr txBox="1"/>
          <p:nvPr/>
        </p:nvSpPr>
        <p:spPr>
          <a:xfrm>
            <a:off x="3359728" y="4578162"/>
            <a:ext cx="2142960" cy="242407"/>
          </a:xfrm>
          <a:prstGeom prst="rect">
            <a:avLst/>
          </a:prstGeom>
          <a:noFill/>
        </p:spPr>
        <p:txBody>
          <a:bodyPr wrap="square" lIns="72000" tIns="0" rIns="72000" bIns="0" rtlCol="0" anchor="ctr">
            <a:noAutofit/>
          </a:bodyPr>
          <a:lstStyle/>
          <a:p>
            <a:pPr lvl="0" algn="ctr"/>
            <a:r>
              <a:rPr lang="en-US" altLang="ko-KR" sz="1200" b="1">
                <a:solidFill>
                  <a:schemeClr val="bg1"/>
                </a:solidFill>
                <a:latin typeface="+mj-lt"/>
              </a:rPr>
              <a:t>Insert Title</a:t>
            </a:r>
            <a:endParaRPr lang="ko-KR" altLang="en-US" sz="1200" b="1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35F0F99-4CA5-4413-8D89-12430CE6FA2C}"/>
              </a:ext>
            </a:extLst>
          </p:cNvPr>
          <p:cNvGrpSpPr/>
          <p:nvPr/>
        </p:nvGrpSpPr>
        <p:grpSpPr>
          <a:xfrm>
            <a:off x="3192294" y="3836883"/>
            <a:ext cx="2568129" cy="880117"/>
            <a:chOff x="4436223" y="4133074"/>
            <a:chExt cx="2568129" cy="880117"/>
          </a:xfrm>
        </p:grpSpPr>
        <p:sp>
          <p:nvSpPr>
            <p:cNvPr id="18" name="Freeform 117">
              <a:extLst>
                <a:ext uri="{FF2B5EF4-FFF2-40B4-BE49-F238E27FC236}">
                  <a16:creationId xmlns:a16="http://schemas.microsoft.com/office/drawing/2014/main" id="{6A8BE4B4-7EF0-E1D9-FCDA-A4900144A5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6223" y="4133074"/>
              <a:ext cx="2568129" cy="770414"/>
            </a:xfrm>
            <a:custGeom>
              <a:avLst/>
              <a:gdLst>
                <a:gd name="T0" fmla="*/ 618 w 2585"/>
                <a:gd name="T1" fmla="*/ 618 h 618"/>
                <a:gd name="T2" fmla="*/ 2585 w 2585"/>
                <a:gd name="T3" fmla="*/ 618 h 618"/>
                <a:gd name="T4" fmla="*/ 1967 w 2585"/>
                <a:gd name="T5" fmla="*/ 0 h 618"/>
                <a:gd name="T6" fmla="*/ 0 w 2585"/>
                <a:gd name="T7" fmla="*/ 0 h 618"/>
                <a:gd name="T8" fmla="*/ 618 w 2585"/>
                <a:gd name="T9" fmla="*/ 618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5" h="618">
                  <a:moveTo>
                    <a:pt x="618" y="618"/>
                  </a:moveTo>
                  <a:lnTo>
                    <a:pt x="2585" y="618"/>
                  </a:lnTo>
                  <a:lnTo>
                    <a:pt x="1967" y="0"/>
                  </a:lnTo>
                  <a:lnTo>
                    <a:pt x="0" y="0"/>
                  </a:lnTo>
                  <a:lnTo>
                    <a:pt x="618" y="618"/>
                  </a:lnTo>
                  <a:close/>
                </a:path>
              </a:pathLst>
            </a:custGeom>
            <a:solidFill>
              <a:schemeClr val="accent5"/>
            </a:solidFill>
            <a:ln w="3175">
              <a:noFill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spcAft>
                  <a:spcPts val="300"/>
                </a:spcAft>
              </a:pPr>
              <a:endParaRPr lang="ko-KR" altLang="en-US" sz="1200" b="1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0"/>
                </a:gradFill>
                <a:latin typeface="Bebas Neue" pitchFamily="34" charset="0"/>
                <a:ea typeface="Roboto Condensed Regular"/>
              </a:endParaRPr>
            </a:p>
          </p:txBody>
        </p:sp>
        <p:sp>
          <p:nvSpPr>
            <p:cNvPr id="19" name="Freeform 118">
              <a:extLst>
                <a:ext uri="{FF2B5EF4-FFF2-40B4-BE49-F238E27FC236}">
                  <a16:creationId xmlns:a16="http://schemas.microsoft.com/office/drawing/2014/main" id="{1700E642-6C96-E069-2056-FCB335B95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6223" y="4133074"/>
              <a:ext cx="613967" cy="880117"/>
            </a:xfrm>
            <a:custGeom>
              <a:avLst/>
              <a:gdLst>
                <a:gd name="T0" fmla="*/ 0 w 618"/>
                <a:gd name="T1" fmla="*/ 0 h 706"/>
                <a:gd name="T2" fmla="*/ 0 w 618"/>
                <a:gd name="T3" fmla="*/ 87 h 706"/>
                <a:gd name="T4" fmla="*/ 618 w 618"/>
                <a:gd name="T5" fmla="*/ 706 h 706"/>
                <a:gd name="T6" fmla="*/ 618 w 618"/>
                <a:gd name="T7" fmla="*/ 618 h 706"/>
                <a:gd name="T8" fmla="*/ 0 w 618"/>
                <a:gd name="T9" fmla="*/ 0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8" h="706">
                  <a:moveTo>
                    <a:pt x="0" y="0"/>
                  </a:moveTo>
                  <a:lnTo>
                    <a:pt x="0" y="87"/>
                  </a:lnTo>
                  <a:lnTo>
                    <a:pt x="618" y="706"/>
                  </a:lnTo>
                  <a:lnTo>
                    <a:pt x="618" y="6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175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Rectangle 119">
              <a:extLst>
                <a:ext uri="{FF2B5EF4-FFF2-40B4-BE49-F238E27FC236}">
                  <a16:creationId xmlns:a16="http://schemas.microsoft.com/office/drawing/2014/main" id="{D30DE84C-0CE1-8560-A371-1A7359B5B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0190" y="4903488"/>
              <a:ext cx="1954162" cy="10970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21" name="Freeform 128">
            <a:extLst>
              <a:ext uri="{FF2B5EF4-FFF2-40B4-BE49-F238E27FC236}">
                <a16:creationId xmlns:a16="http://schemas.microsoft.com/office/drawing/2014/main" id="{D0DF9209-4CA5-6DE4-34D8-04724AF65425}"/>
              </a:ext>
            </a:extLst>
          </p:cNvPr>
          <p:cNvSpPr>
            <a:spLocks/>
          </p:cNvSpPr>
          <p:nvPr/>
        </p:nvSpPr>
        <p:spPr bwMode="auto">
          <a:xfrm>
            <a:off x="4311439" y="2955287"/>
            <a:ext cx="1035199" cy="392686"/>
          </a:xfrm>
          <a:custGeom>
            <a:avLst/>
            <a:gdLst>
              <a:gd name="T0" fmla="*/ 0 w 1042"/>
              <a:gd name="T1" fmla="*/ 0 h 315"/>
              <a:gd name="T2" fmla="*/ 325 w 1042"/>
              <a:gd name="T3" fmla="*/ 315 h 315"/>
              <a:gd name="T4" fmla="*/ 1042 w 1042"/>
              <a:gd name="T5" fmla="*/ 315 h 315"/>
              <a:gd name="T6" fmla="*/ 962 w 1042"/>
              <a:gd name="T7" fmla="*/ 234 h 315"/>
              <a:gd name="T8" fmla="*/ 325 w 1042"/>
              <a:gd name="T9" fmla="*/ 234 h 315"/>
              <a:gd name="T10" fmla="*/ 90 w 1042"/>
              <a:gd name="T11" fmla="*/ 0 h 315"/>
              <a:gd name="T12" fmla="*/ 0 w 1042"/>
              <a:gd name="T13" fmla="*/ 0 h 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42" h="315">
                <a:moveTo>
                  <a:pt x="0" y="0"/>
                </a:moveTo>
                <a:lnTo>
                  <a:pt x="325" y="315"/>
                </a:lnTo>
                <a:lnTo>
                  <a:pt x="1042" y="315"/>
                </a:lnTo>
                <a:lnTo>
                  <a:pt x="962" y="234"/>
                </a:lnTo>
                <a:lnTo>
                  <a:pt x="325" y="234"/>
                </a:lnTo>
                <a:lnTo>
                  <a:pt x="9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196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gradFill>
                <a:gsLst>
                  <a:gs pos="0">
                    <a:schemeClr val="tx1">
                      <a:lumMod val="10000"/>
                      <a:lumOff val="90000"/>
                    </a:schemeClr>
                  </a:gs>
                  <a:gs pos="100000">
                    <a:schemeClr val="tx1">
                      <a:lumMod val="10000"/>
                      <a:lumOff val="90000"/>
                    </a:schemeClr>
                  </a:gs>
                </a:gsLst>
                <a:lin ang="5400000" scaled="0"/>
              </a:gra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7C6BF8-F7FE-C784-5962-83F9D048337C}"/>
              </a:ext>
            </a:extLst>
          </p:cNvPr>
          <p:cNvSpPr txBox="1"/>
          <p:nvPr/>
        </p:nvSpPr>
        <p:spPr>
          <a:xfrm>
            <a:off x="3513495" y="4274468"/>
            <a:ext cx="2119150" cy="242407"/>
          </a:xfrm>
          <a:prstGeom prst="rect">
            <a:avLst/>
          </a:prstGeom>
          <a:noFill/>
        </p:spPr>
        <p:txBody>
          <a:bodyPr wrap="square" lIns="72000" tIns="0" rIns="72000" bIns="0" rtlCol="0" anchor="ctr">
            <a:noAutofit/>
          </a:bodyPr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latin typeface="+mj-lt"/>
              </a:rPr>
              <a:t>Bargaining Power of Suppliers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65DB1C4-D5AE-18F0-387F-23626378ED52}"/>
              </a:ext>
            </a:extLst>
          </p:cNvPr>
          <p:cNvGrpSpPr/>
          <p:nvPr/>
        </p:nvGrpSpPr>
        <p:grpSpPr>
          <a:xfrm>
            <a:off x="3887087" y="3248477"/>
            <a:ext cx="2568130" cy="880117"/>
            <a:chOff x="5377043" y="3544668"/>
            <a:chExt cx="2568130" cy="880117"/>
          </a:xfrm>
        </p:grpSpPr>
        <p:sp>
          <p:nvSpPr>
            <p:cNvPr id="24" name="Freeform 114">
              <a:extLst>
                <a:ext uri="{FF2B5EF4-FFF2-40B4-BE49-F238E27FC236}">
                  <a16:creationId xmlns:a16="http://schemas.microsoft.com/office/drawing/2014/main" id="{246699B0-1278-AA01-096D-02942CB5A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7044" y="3544668"/>
              <a:ext cx="2568129" cy="771661"/>
            </a:xfrm>
            <a:custGeom>
              <a:avLst/>
              <a:gdLst>
                <a:gd name="T0" fmla="*/ 618 w 2585"/>
                <a:gd name="T1" fmla="*/ 619 h 619"/>
                <a:gd name="T2" fmla="*/ 2585 w 2585"/>
                <a:gd name="T3" fmla="*/ 619 h 619"/>
                <a:gd name="T4" fmla="*/ 1967 w 2585"/>
                <a:gd name="T5" fmla="*/ 0 h 619"/>
                <a:gd name="T6" fmla="*/ 0 w 2585"/>
                <a:gd name="T7" fmla="*/ 0 h 619"/>
                <a:gd name="T8" fmla="*/ 618 w 2585"/>
                <a:gd name="T9" fmla="*/ 6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5" h="619">
                  <a:moveTo>
                    <a:pt x="618" y="619"/>
                  </a:moveTo>
                  <a:lnTo>
                    <a:pt x="2585" y="619"/>
                  </a:lnTo>
                  <a:lnTo>
                    <a:pt x="1967" y="0"/>
                  </a:lnTo>
                  <a:lnTo>
                    <a:pt x="0" y="0"/>
                  </a:lnTo>
                  <a:lnTo>
                    <a:pt x="618" y="619"/>
                  </a:lnTo>
                  <a:close/>
                </a:path>
              </a:pathLst>
            </a:custGeom>
            <a:solidFill>
              <a:schemeClr val="accent4"/>
            </a:solidFill>
            <a:ln w="3175">
              <a:noFill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spcAft>
                  <a:spcPts val="300"/>
                </a:spcAft>
              </a:pPr>
              <a:endParaRPr lang="ko-KR" altLang="en-US" sz="1200" b="1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0"/>
                </a:gradFill>
                <a:latin typeface="Bebas Neue" pitchFamily="34" charset="0"/>
                <a:ea typeface="Roboto Condensed Regular"/>
              </a:endParaRPr>
            </a:p>
          </p:txBody>
        </p:sp>
        <p:sp>
          <p:nvSpPr>
            <p:cNvPr id="25" name="Freeform 115">
              <a:extLst>
                <a:ext uri="{FF2B5EF4-FFF2-40B4-BE49-F238E27FC236}">
                  <a16:creationId xmlns:a16="http://schemas.microsoft.com/office/drawing/2014/main" id="{67C241F3-2045-BE1C-A6EC-8700D960A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7043" y="3544668"/>
              <a:ext cx="613967" cy="880117"/>
            </a:xfrm>
            <a:custGeom>
              <a:avLst/>
              <a:gdLst>
                <a:gd name="T0" fmla="*/ 0 w 618"/>
                <a:gd name="T1" fmla="*/ 0 h 706"/>
                <a:gd name="T2" fmla="*/ 0 w 618"/>
                <a:gd name="T3" fmla="*/ 88 h 706"/>
                <a:gd name="T4" fmla="*/ 618 w 618"/>
                <a:gd name="T5" fmla="*/ 706 h 706"/>
                <a:gd name="T6" fmla="*/ 618 w 618"/>
                <a:gd name="T7" fmla="*/ 619 h 706"/>
                <a:gd name="T8" fmla="*/ 0 w 618"/>
                <a:gd name="T9" fmla="*/ 0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8" h="706">
                  <a:moveTo>
                    <a:pt x="0" y="0"/>
                  </a:moveTo>
                  <a:lnTo>
                    <a:pt x="0" y="88"/>
                  </a:lnTo>
                  <a:lnTo>
                    <a:pt x="618" y="706"/>
                  </a:lnTo>
                  <a:lnTo>
                    <a:pt x="618" y="6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3175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Rectangle 116">
              <a:extLst>
                <a:ext uri="{FF2B5EF4-FFF2-40B4-BE49-F238E27FC236}">
                  <a16:creationId xmlns:a16="http://schemas.microsoft.com/office/drawing/2014/main" id="{37875FF4-371F-CD4B-0318-C5211BDCC2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1010" y="4316326"/>
              <a:ext cx="1954161" cy="1084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3175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27" name="Freeform 127">
            <a:extLst>
              <a:ext uri="{FF2B5EF4-FFF2-40B4-BE49-F238E27FC236}">
                <a16:creationId xmlns:a16="http://schemas.microsoft.com/office/drawing/2014/main" id="{19AE98EC-B2D6-4180-0F66-9F0A286A8204}"/>
              </a:ext>
            </a:extLst>
          </p:cNvPr>
          <p:cNvSpPr>
            <a:spLocks/>
          </p:cNvSpPr>
          <p:nvPr/>
        </p:nvSpPr>
        <p:spPr bwMode="auto">
          <a:xfrm>
            <a:off x="4166393" y="2659845"/>
            <a:ext cx="1481270" cy="203200"/>
          </a:xfrm>
          <a:custGeom>
            <a:avLst/>
            <a:gdLst>
              <a:gd name="T0" fmla="*/ 1415 w 1491"/>
              <a:gd name="T1" fmla="*/ 0 h 163"/>
              <a:gd name="T2" fmla="*/ 0 w 1491"/>
              <a:gd name="T3" fmla="*/ 0 h 163"/>
              <a:gd name="T4" fmla="*/ 163 w 1491"/>
              <a:gd name="T5" fmla="*/ 163 h 163"/>
              <a:gd name="T6" fmla="*/ 163 w 1491"/>
              <a:gd name="T7" fmla="*/ 76 h 163"/>
              <a:gd name="T8" fmla="*/ 1491 w 1491"/>
              <a:gd name="T9" fmla="*/ 76 h 163"/>
              <a:gd name="T10" fmla="*/ 1415 w 1491"/>
              <a:gd name="T11" fmla="*/ 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491" h="163">
                <a:moveTo>
                  <a:pt x="1415" y="0"/>
                </a:moveTo>
                <a:lnTo>
                  <a:pt x="0" y="0"/>
                </a:lnTo>
                <a:lnTo>
                  <a:pt x="163" y="163"/>
                </a:lnTo>
                <a:lnTo>
                  <a:pt x="163" y="76"/>
                </a:lnTo>
                <a:lnTo>
                  <a:pt x="1491" y="76"/>
                </a:lnTo>
                <a:lnTo>
                  <a:pt x="1415" y="0"/>
                </a:lnTo>
                <a:close/>
              </a:path>
            </a:pathLst>
          </a:custGeom>
          <a:solidFill>
            <a:srgbClr val="000000">
              <a:alpha val="10196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gradFill>
                <a:gsLst>
                  <a:gs pos="0">
                    <a:schemeClr val="tx1">
                      <a:lumMod val="10000"/>
                      <a:lumOff val="90000"/>
                    </a:schemeClr>
                  </a:gs>
                  <a:gs pos="100000">
                    <a:schemeClr val="tx1">
                      <a:lumMod val="10000"/>
                      <a:lumOff val="90000"/>
                    </a:schemeClr>
                  </a:gs>
                </a:gsLst>
                <a:lin ang="5400000" scaled="0"/>
              </a:gra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08AD2E-AF9C-D95F-045C-3EE4FA7F88A3}"/>
              </a:ext>
            </a:extLst>
          </p:cNvPr>
          <p:cNvSpPr txBox="1"/>
          <p:nvPr/>
        </p:nvSpPr>
        <p:spPr>
          <a:xfrm>
            <a:off x="4370902" y="3654541"/>
            <a:ext cx="1876878" cy="242407"/>
          </a:xfrm>
          <a:prstGeom prst="rect">
            <a:avLst/>
          </a:prstGeom>
          <a:noFill/>
        </p:spPr>
        <p:txBody>
          <a:bodyPr wrap="square" lIns="72000" tIns="0" rIns="72000" bIns="0" rtlCol="0" anchor="ctr">
            <a:noAutofit/>
          </a:bodyPr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latin typeface="+mj-lt"/>
              </a:rPr>
              <a:t>Rivalry Amongst Competitors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54B3BA3-A752-261B-D68F-C0D8E29B4168}"/>
              </a:ext>
            </a:extLst>
          </p:cNvPr>
          <p:cNvGrpSpPr/>
          <p:nvPr/>
        </p:nvGrpSpPr>
        <p:grpSpPr>
          <a:xfrm>
            <a:off x="2771998" y="2661318"/>
            <a:ext cx="2568129" cy="880117"/>
            <a:chOff x="4436223" y="2957509"/>
            <a:chExt cx="2568129" cy="880117"/>
          </a:xfrm>
        </p:grpSpPr>
        <p:sp>
          <p:nvSpPr>
            <p:cNvPr id="30" name="Freeform 117">
              <a:extLst>
                <a:ext uri="{FF2B5EF4-FFF2-40B4-BE49-F238E27FC236}">
                  <a16:creationId xmlns:a16="http://schemas.microsoft.com/office/drawing/2014/main" id="{E4136722-38B3-A3BB-8FE5-FEBAADA6F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6223" y="2957509"/>
              <a:ext cx="2568129" cy="770414"/>
            </a:xfrm>
            <a:custGeom>
              <a:avLst/>
              <a:gdLst>
                <a:gd name="T0" fmla="*/ 618 w 2585"/>
                <a:gd name="T1" fmla="*/ 618 h 618"/>
                <a:gd name="T2" fmla="*/ 2585 w 2585"/>
                <a:gd name="T3" fmla="*/ 618 h 618"/>
                <a:gd name="T4" fmla="*/ 1967 w 2585"/>
                <a:gd name="T5" fmla="*/ 0 h 618"/>
                <a:gd name="T6" fmla="*/ 0 w 2585"/>
                <a:gd name="T7" fmla="*/ 0 h 618"/>
                <a:gd name="T8" fmla="*/ 618 w 2585"/>
                <a:gd name="T9" fmla="*/ 618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5" h="618">
                  <a:moveTo>
                    <a:pt x="618" y="618"/>
                  </a:moveTo>
                  <a:lnTo>
                    <a:pt x="2585" y="618"/>
                  </a:lnTo>
                  <a:lnTo>
                    <a:pt x="1967" y="0"/>
                  </a:lnTo>
                  <a:lnTo>
                    <a:pt x="0" y="0"/>
                  </a:lnTo>
                  <a:lnTo>
                    <a:pt x="618" y="618"/>
                  </a:lnTo>
                  <a:close/>
                </a:path>
              </a:pathLst>
            </a:custGeom>
            <a:solidFill>
              <a:schemeClr val="accent3"/>
            </a:solidFill>
            <a:ln w="3175">
              <a:noFill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spcAft>
                  <a:spcPts val="300"/>
                </a:spcAft>
              </a:pPr>
              <a:endParaRPr lang="ko-KR" altLang="en-US" sz="1200" b="1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0"/>
                </a:gradFill>
                <a:latin typeface="Bebas Neue" pitchFamily="34" charset="0"/>
                <a:ea typeface="Roboto Condensed Regular"/>
              </a:endParaRPr>
            </a:p>
          </p:txBody>
        </p:sp>
        <p:sp>
          <p:nvSpPr>
            <p:cNvPr id="31" name="Freeform 118">
              <a:extLst>
                <a:ext uri="{FF2B5EF4-FFF2-40B4-BE49-F238E27FC236}">
                  <a16:creationId xmlns:a16="http://schemas.microsoft.com/office/drawing/2014/main" id="{9E3F6320-F30C-605A-24B0-2424BAF3B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6223" y="2957509"/>
              <a:ext cx="613967" cy="880117"/>
            </a:xfrm>
            <a:custGeom>
              <a:avLst/>
              <a:gdLst>
                <a:gd name="T0" fmla="*/ 0 w 618"/>
                <a:gd name="T1" fmla="*/ 0 h 706"/>
                <a:gd name="T2" fmla="*/ 0 w 618"/>
                <a:gd name="T3" fmla="*/ 87 h 706"/>
                <a:gd name="T4" fmla="*/ 618 w 618"/>
                <a:gd name="T5" fmla="*/ 706 h 706"/>
                <a:gd name="T6" fmla="*/ 618 w 618"/>
                <a:gd name="T7" fmla="*/ 618 h 706"/>
                <a:gd name="T8" fmla="*/ 0 w 618"/>
                <a:gd name="T9" fmla="*/ 0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8" h="706">
                  <a:moveTo>
                    <a:pt x="0" y="0"/>
                  </a:moveTo>
                  <a:lnTo>
                    <a:pt x="0" y="87"/>
                  </a:lnTo>
                  <a:lnTo>
                    <a:pt x="618" y="706"/>
                  </a:lnTo>
                  <a:lnTo>
                    <a:pt x="618" y="6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3175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Rectangle 119">
              <a:extLst>
                <a:ext uri="{FF2B5EF4-FFF2-40B4-BE49-F238E27FC236}">
                  <a16:creationId xmlns:a16="http://schemas.microsoft.com/office/drawing/2014/main" id="{6E2BBE10-CD4B-3D73-5DF4-D79E5F3FE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0190" y="3727923"/>
              <a:ext cx="1954162" cy="10970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3175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33" name="Freeform 128">
            <a:extLst>
              <a:ext uri="{FF2B5EF4-FFF2-40B4-BE49-F238E27FC236}">
                <a16:creationId xmlns:a16="http://schemas.microsoft.com/office/drawing/2014/main" id="{CF0B1736-8550-138D-2CBB-68A8020FDC7D}"/>
              </a:ext>
            </a:extLst>
          </p:cNvPr>
          <p:cNvSpPr>
            <a:spLocks/>
          </p:cNvSpPr>
          <p:nvPr/>
        </p:nvSpPr>
        <p:spPr bwMode="auto">
          <a:xfrm>
            <a:off x="4311439" y="1779722"/>
            <a:ext cx="1035200" cy="392686"/>
          </a:xfrm>
          <a:custGeom>
            <a:avLst/>
            <a:gdLst>
              <a:gd name="T0" fmla="*/ 0 w 1042"/>
              <a:gd name="T1" fmla="*/ 0 h 315"/>
              <a:gd name="T2" fmla="*/ 325 w 1042"/>
              <a:gd name="T3" fmla="*/ 315 h 315"/>
              <a:gd name="T4" fmla="*/ 1042 w 1042"/>
              <a:gd name="T5" fmla="*/ 315 h 315"/>
              <a:gd name="T6" fmla="*/ 962 w 1042"/>
              <a:gd name="T7" fmla="*/ 234 h 315"/>
              <a:gd name="T8" fmla="*/ 325 w 1042"/>
              <a:gd name="T9" fmla="*/ 234 h 315"/>
              <a:gd name="T10" fmla="*/ 90 w 1042"/>
              <a:gd name="T11" fmla="*/ 0 h 315"/>
              <a:gd name="T12" fmla="*/ 0 w 1042"/>
              <a:gd name="T13" fmla="*/ 0 h 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42" h="315">
                <a:moveTo>
                  <a:pt x="0" y="0"/>
                </a:moveTo>
                <a:lnTo>
                  <a:pt x="325" y="315"/>
                </a:lnTo>
                <a:lnTo>
                  <a:pt x="1042" y="315"/>
                </a:lnTo>
                <a:lnTo>
                  <a:pt x="962" y="234"/>
                </a:lnTo>
                <a:lnTo>
                  <a:pt x="325" y="234"/>
                </a:lnTo>
                <a:lnTo>
                  <a:pt x="9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196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gradFill>
                <a:gsLst>
                  <a:gs pos="0">
                    <a:schemeClr val="tx1">
                      <a:lumMod val="10000"/>
                      <a:lumOff val="90000"/>
                    </a:schemeClr>
                  </a:gs>
                  <a:gs pos="100000">
                    <a:schemeClr val="tx1">
                      <a:lumMod val="10000"/>
                      <a:lumOff val="90000"/>
                    </a:schemeClr>
                  </a:gs>
                </a:gsLst>
                <a:lin ang="5400000" scaled="0"/>
              </a:gra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0D92DF-BF56-FD9E-0000-4B002C287821}"/>
              </a:ext>
            </a:extLst>
          </p:cNvPr>
          <p:cNvSpPr txBox="1"/>
          <p:nvPr/>
        </p:nvSpPr>
        <p:spPr>
          <a:xfrm>
            <a:off x="3093199" y="3027670"/>
            <a:ext cx="2142960" cy="242407"/>
          </a:xfrm>
          <a:prstGeom prst="rect">
            <a:avLst/>
          </a:prstGeom>
          <a:noFill/>
        </p:spPr>
        <p:txBody>
          <a:bodyPr wrap="square" lIns="72000" tIns="0" rIns="72000" bIns="0" rtlCol="0" anchor="ctr">
            <a:noAutofit/>
          </a:bodyPr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latin typeface="+mj-lt"/>
              </a:rPr>
              <a:t>Threat of Substitutes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C4CC677-E50E-5EC9-DA56-36F0AA3D057F}"/>
              </a:ext>
            </a:extLst>
          </p:cNvPr>
          <p:cNvGrpSpPr/>
          <p:nvPr/>
        </p:nvGrpSpPr>
        <p:grpSpPr>
          <a:xfrm>
            <a:off x="3425788" y="2072912"/>
            <a:ext cx="2568129" cy="880117"/>
            <a:chOff x="5377044" y="2369103"/>
            <a:chExt cx="2568129" cy="880117"/>
          </a:xfrm>
        </p:grpSpPr>
        <p:sp>
          <p:nvSpPr>
            <p:cNvPr id="36" name="Freeform 120">
              <a:extLst>
                <a:ext uri="{FF2B5EF4-FFF2-40B4-BE49-F238E27FC236}">
                  <a16:creationId xmlns:a16="http://schemas.microsoft.com/office/drawing/2014/main" id="{F6F24AC2-3875-7109-2475-F49CA0768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7044" y="2369103"/>
              <a:ext cx="2568129" cy="771661"/>
            </a:xfrm>
            <a:custGeom>
              <a:avLst/>
              <a:gdLst>
                <a:gd name="T0" fmla="*/ 618 w 2585"/>
                <a:gd name="T1" fmla="*/ 619 h 619"/>
                <a:gd name="T2" fmla="*/ 2585 w 2585"/>
                <a:gd name="T3" fmla="*/ 619 h 619"/>
                <a:gd name="T4" fmla="*/ 1967 w 2585"/>
                <a:gd name="T5" fmla="*/ 0 h 619"/>
                <a:gd name="T6" fmla="*/ 0 w 2585"/>
                <a:gd name="T7" fmla="*/ 0 h 619"/>
                <a:gd name="T8" fmla="*/ 618 w 2585"/>
                <a:gd name="T9" fmla="*/ 6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5" h="619">
                  <a:moveTo>
                    <a:pt x="618" y="619"/>
                  </a:moveTo>
                  <a:lnTo>
                    <a:pt x="2585" y="619"/>
                  </a:lnTo>
                  <a:lnTo>
                    <a:pt x="1967" y="0"/>
                  </a:lnTo>
                  <a:lnTo>
                    <a:pt x="0" y="0"/>
                  </a:lnTo>
                  <a:lnTo>
                    <a:pt x="618" y="619"/>
                  </a:lnTo>
                  <a:close/>
                </a:path>
              </a:pathLst>
            </a:custGeom>
            <a:solidFill>
              <a:schemeClr val="accent2"/>
            </a:solidFill>
            <a:ln w="3175">
              <a:noFill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spcAft>
                  <a:spcPts val="300"/>
                </a:spcAft>
              </a:pPr>
              <a:endParaRPr lang="ko-KR" altLang="en-US" sz="1200" b="1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0"/>
                </a:gradFill>
                <a:latin typeface="Bebas Neue" pitchFamily="34" charset="0"/>
                <a:ea typeface="Roboto Condensed Regular"/>
              </a:endParaRPr>
            </a:p>
          </p:txBody>
        </p:sp>
        <p:sp>
          <p:nvSpPr>
            <p:cNvPr id="37" name="Freeform 121">
              <a:extLst>
                <a:ext uri="{FF2B5EF4-FFF2-40B4-BE49-F238E27FC236}">
                  <a16:creationId xmlns:a16="http://schemas.microsoft.com/office/drawing/2014/main" id="{062F8BCF-04CB-2282-BEAD-FFA89EF15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7044" y="2369103"/>
              <a:ext cx="613967" cy="880117"/>
            </a:xfrm>
            <a:custGeom>
              <a:avLst/>
              <a:gdLst>
                <a:gd name="T0" fmla="*/ 0 w 618"/>
                <a:gd name="T1" fmla="*/ 0 h 706"/>
                <a:gd name="T2" fmla="*/ 0 w 618"/>
                <a:gd name="T3" fmla="*/ 88 h 706"/>
                <a:gd name="T4" fmla="*/ 618 w 618"/>
                <a:gd name="T5" fmla="*/ 706 h 706"/>
                <a:gd name="T6" fmla="*/ 618 w 618"/>
                <a:gd name="T7" fmla="*/ 619 h 706"/>
                <a:gd name="T8" fmla="*/ 0 w 618"/>
                <a:gd name="T9" fmla="*/ 0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8" h="706">
                  <a:moveTo>
                    <a:pt x="0" y="0"/>
                  </a:moveTo>
                  <a:lnTo>
                    <a:pt x="0" y="88"/>
                  </a:lnTo>
                  <a:lnTo>
                    <a:pt x="618" y="706"/>
                  </a:lnTo>
                  <a:lnTo>
                    <a:pt x="618" y="6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3175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Rectangle 122">
              <a:extLst>
                <a:ext uri="{FF2B5EF4-FFF2-40B4-BE49-F238E27FC236}">
                  <a16:creationId xmlns:a16="http://schemas.microsoft.com/office/drawing/2014/main" id="{22484F52-32EF-8523-6FC1-BA5874053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1011" y="3140763"/>
              <a:ext cx="1954162" cy="10845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6E7732B-F0C5-7AD3-E482-25FB148E36B3}"/>
              </a:ext>
            </a:extLst>
          </p:cNvPr>
          <p:cNvSpPr txBox="1"/>
          <p:nvPr/>
        </p:nvSpPr>
        <p:spPr>
          <a:xfrm>
            <a:off x="3889100" y="2500002"/>
            <a:ext cx="1876878" cy="242407"/>
          </a:xfrm>
          <a:prstGeom prst="rect">
            <a:avLst/>
          </a:prstGeom>
          <a:noFill/>
        </p:spPr>
        <p:txBody>
          <a:bodyPr wrap="square" lIns="72000" tIns="0" rIns="72000" bIns="0" rtlCol="0" anchor="ctr">
            <a:noAutofit/>
          </a:bodyPr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latin typeface="+mj-lt"/>
              </a:rPr>
              <a:t>Bargaining Power of Buyers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F597267-7FA8-83A0-1ED1-9C9A3BC5D62C}"/>
              </a:ext>
            </a:extLst>
          </p:cNvPr>
          <p:cNvGrpSpPr/>
          <p:nvPr/>
        </p:nvGrpSpPr>
        <p:grpSpPr>
          <a:xfrm>
            <a:off x="2525971" y="1401249"/>
            <a:ext cx="2568129" cy="882610"/>
            <a:chOff x="4436223" y="1779449"/>
            <a:chExt cx="2568129" cy="882610"/>
          </a:xfrm>
        </p:grpSpPr>
        <p:sp>
          <p:nvSpPr>
            <p:cNvPr id="42" name="Freeform 123">
              <a:extLst>
                <a:ext uri="{FF2B5EF4-FFF2-40B4-BE49-F238E27FC236}">
                  <a16:creationId xmlns:a16="http://schemas.microsoft.com/office/drawing/2014/main" id="{48004CA4-DCC3-EF47-47B2-33E34C947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6223" y="1779449"/>
              <a:ext cx="2568129" cy="772907"/>
            </a:xfrm>
            <a:custGeom>
              <a:avLst/>
              <a:gdLst>
                <a:gd name="T0" fmla="*/ 618 w 2585"/>
                <a:gd name="T1" fmla="*/ 620 h 620"/>
                <a:gd name="T2" fmla="*/ 2585 w 2585"/>
                <a:gd name="T3" fmla="*/ 620 h 620"/>
                <a:gd name="T4" fmla="*/ 1967 w 2585"/>
                <a:gd name="T5" fmla="*/ 0 h 620"/>
                <a:gd name="T6" fmla="*/ 0 w 2585"/>
                <a:gd name="T7" fmla="*/ 0 h 620"/>
                <a:gd name="T8" fmla="*/ 618 w 2585"/>
                <a:gd name="T9" fmla="*/ 620 h 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5" h="620">
                  <a:moveTo>
                    <a:pt x="618" y="620"/>
                  </a:moveTo>
                  <a:lnTo>
                    <a:pt x="2585" y="620"/>
                  </a:lnTo>
                  <a:lnTo>
                    <a:pt x="1967" y="0"/>
                  </a:lnTo>
                  <a:lnTo>
                    <a:pt x="0" y="0"/>
                  </a:lnTo>
                  <a:lnTo>
                    <a:pt x="618" y="620"/>
                  </a:lnTo>
                  <a:close/>
                </a:path>
              </a:pathLst>
            </a:custGeom>
            <a:solidFill>
              <a:schemeClr val="accent1"/>
            </a:solidFill>
            <a:ln w="6350" cap="rnd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300"/>
                </a:spcAft>
              </a:pPr>
              <a:endParaRPr lang="ko-KR" altLang="en-US" sz="1200" b="1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Bebas Neue" pitchFamily="34" charset="0"/>
                <a:ea typeface="+mj-ea"/>
              </a:endParaRPr>
            </a:p>
          </p:txBody>
        </p:sp>
        <p:sp>
          <p:nvSpPr>
            <p:cNvPr id="43" name="Freeform 124">
              <a:extLst>
                <a:ext uri="{FF2B5EF4-FFF2-40B4-BE49-F238E27FC236}">
                  <a16:creationId xmlns:a16="http://schemas.microsoft.com/office/drawing/2014/main" id="{B35E09FF-6758-85BA-090C-2BDAE8A51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6223" y="1779449"/>
              <a:ext cx="613967" cy="882610"/>
            </a:xfrm>
            <a:custGeom>
              <a:avLst/>
              <a:gdLst>
                <a:gd name="T0" fmla="*/ 0 w 618"/>
                <a:gd name="T1" fmla="*/ 0 h 708"/>
                <a:gd name="T2" fmla="*/ 0 w 618"/>
                <a:gd name="T3" fmla="*/ 87 h 708"/>
                <a:gd name="T4" fmla="*/ 618 w 618"/>
                <a:gd name="T5" fmla="*/ 708 h 708"/>
                <a:gd name="T6" fmla="*/ 618 w 618"/>
                <a:gd name="T7" fmla="*/ 620 h 708"/>
                <a:gd name="T8" fmla="*/ 0 w 618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8" h="708">
                  <a:moveTo>
                    <a:pt x="0" y="0"/>
                  </a:moveTo>
                  <a:lnTo>
                    <a:pt x="0" y="87"/>
                  </a:lnTo>
                  <a:lnTo>
                    <a:pt x="618" y="708"/>
                  </a:lnTo>
                  <a:lnTo>
                    <a:pt x="618" y="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6350" cap="rnd" cmpd="sng" algn="ctr">
              <a:solidFill>
                <a:schemeClr val="accent1">
                  <a:lumMod val="75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300"/>
                </a:spcAft>
              </a:pPr>
              <a:endParaRPr lang="ko-KR" altLang="en-US" sz="1200" b="1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Bebas Neue" pitchFamily="34" charset="0"/>
                <a:ea typeface="+mj-ea"/>
              </a:endParaRPr>
            </a:p>
          </p:txBody>
        </p:sp>
        <p:sp>
          <p:nvSpPr>
            <p:cNvPr id="44" name="Rectangle 125">
              <a:extLst>
                <a:ext uri="{FF2B5EF4-FFF2-40B4-BE49-F238E27FC236}">
                  <a16:creationId xmlns:a16="http://schemas.microsoft.com/office/drawing/2014/main" id="{E0618CD6-FA76-CC20-8BB5-5B3D4D9B2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0190" y="2552356"/>
              <a:ext cx="1954162" cy="10970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6350" cap="rnd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300"/>
                </a:spcAft>
              </a:pPr>
              <a:endParaRPr lang="ko-KR" altLang="en-US" sz="1200" b="1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Bebas Neue" pitchFamily="34" charset="0"/>
                <a:ea typeface="+mj-ea"/>
              </a:endParaRPr>
            </a:p>
          </p:txBody>
        </p:sp>
      </p:grpSp>
      <p:cxnSp>
        <p:nvCxnSpPr>
          <p:cNvPr id="46" name="Line">
            <a:extLst>
              <a:ext uri="{FF2B5EF4-FFF2-40B4-BE49-F238E27FC236}">
                <a16:creationId xmlns:a16="http://schemas.microsoft.com/office/drawing/2014/main" id="{D0777128-BA4D-B699-C863-D690093F6DE2}"/>
              </a:ext>
            </a:extLst>
          </p:cNvPr>
          <p:cNvCxnSpPr/>
          <p:nvPr/>
        </p:nvCxnSpPr>
        <p:spPr>
          <a:xfrm flipH="1">
            <a:off x="2059270" y="1686757"/>
            <a:ext cx="1005840" cy="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  <a:prstDash val="dash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Line">
            <a:extLst>
              <a:ext uri="{FF2B5EF4-FFF2-40B4-BE49-F238E27FC236}">
                <a16:creationId xmlns:a16="http://schemas.microsoft.com/office/drawing/2014/main" id="{237CC4CD-E37E-7C26-D914-B0A1CFF4B42E}"/>
              </a:ext>
            </a:extLst>
          </p:cNvPr>
          <p:cNvCxnSpPr/>
          <p:nvPr/>
        </p:nvCxnSpPr>
        <p:spPr>
          <a:xfrm flipH="1">
            <a:off x="5502688" y="2403724"/>
            <a:ext cx="1004082" cy="0"/>
          </a:xfrm>
          <a:prstGeom prst="line">
            <a:avLst/>
          </a:prstGeom>
          <a:ln w="3175">
            <a:solidFill>
              <a:schemeClr val="accent2">
                <a:lumMod val="75000"/>
              </a:schemeClr>
            </a:solidFill>
            <a:prstDash val="dash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Line">
            <a:extLst>
              <a:ext uri="{FF2B5EF4-FFF2-40B4-BE49-F238E27FC236}">
                <a16:creationId xmlns:a16="http://schemas.microsoft.com/office/drawing/2014/main" id="{B205661B-B3AF-19E3-4FBB-7C42E281220E}"/>
              </a:ext>
            </a:extLst>
          </p:cNvPr>
          <p:cNvCxnSpPr/>
          <p:nvPr/>
        </p:nvCxnSpPr>
        <p:spPr>
          <a:xfrm flipH="1">
            <a:off x="2281587" y="3024404"/>
            <a:ext cx="100584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  <a:prstDash val="dash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Line">
            <a:extLst>
              <a:ext uri="{FF2B5EF4-FFF2-40B4-BE49-F238E27FC236}">
                <a16:creationId xmlns:a16="http://schemas.microsoft.com/office/drawing/2014/main" id="{A3EC9873-825A-17EF-EDA7-9772CF5B8E58}"/>
              </a:ext>
            </a:extLst>
          </p:cNvPr>
          <p:cNvCxnSpPr/>
          <p:nvPr/>
        </p:nvCxnSpPr>
        <p:spPr>
          <a:xfrm flipH="1">
            <a:off x="5862329" y="3565855"/>
            <a:ext cx="1004082" cy="0"/>
          </a:xfrm>
          <a:prstGeom prst="line">
            <a:avLst/>
          </a:prstGeom>
          <a:ln w="3175">
            <a:solidFill>
              <a:schemeClr val="accent4">
                <a:lumMod val="75000"/>
              </a:schemeClr>
            </a:solidFill>
            <a:prstDash val="dash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Line">
            <a:extLst>
              <a:ext uri="{FF2B5EF4-FFF2-40B4-BE49-F238E27FC236}">
                <a16:creationId xmlns:a16="http://schemas.microsoft.com/office/drawing/2014/main" id="{CF8B1F65-8D7F-28DC-ACD7-91EBE76AA9FE}"/>
              </a:ext>
            </a:extLst>
          </p:cNvPr>
          <p:cNvCxnSpPr/>
          <p:nvPr/>
        </p:nvCxnSpPr>
        <p:spPr>
          <a:xfrm flipH="1">
            <a:off x="2689374" y="4174320"/>
            <a:ext cx="1005840" cy="0"/>
          </a:xfrm>
          <a:prstGeom prst="line">
            <a:avLst/>
          </a:prstGeom>
          <a:ln w="3175">
            <a:solidFill>
              <a:schemeClr val="accent5">
                <a:lumMod val="75000"/>
              </a:schemeClr>
            </a:solidFill>
            <a:prstDash val="dash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0A1FB2E8-AA31-F382-6532-BA08ECA7DAE7}"/>
              </a:ext>
            </a:extLst>
          </p:cNvPr>
          <p:cNvSpPr/>
          <p:nvPr/>
        </p:nvSpPr>
        <p:spPr>
          <a:xfrm>
            <a:off x="6583680" y="2015662"/>
            <a:ext cx="2457312" cy="8947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id-ID"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to Medium: </a:t>
            </a:r>
            <a:endParaRPr lang="en-US" sz="12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Pricing during Patent Period</a:t>
            </a:r>
          </a:p>
          <a:p>
            <a:pPr algn="ctr">
              <a:lnSpc>
                <a:spcPct val="150000"/>
              </a:lnSpc>
            </a:pPr>
            <a:r>
              <a:rPr lang="en-US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Erodes Post-Patent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F8C328A-DAEF-A596-4607-DA20F12E8C45}"/>
              </a:ext>
            </a:extLst>
          </p:cNvPr>
          <p:cNvSpPr/>
          <p:nvPr/>
        </p:nvSpPr>
        <p:spPr>
          <a:xfrm>
            <a:off x="6686688" y="3283367"/>
            <a:ext cx="2457312" cy="8947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id-ID" sz="1200" b="1">
                <a:latin typeface="Calibri"/>
                <a:ea typeface="Calibri"/>
                <a:cs typeface="Calibri"/>
              </a:rPr>
              <a:t>High: </a:t>
            </a:r>
            <a:endParaRPr lang="en-US" sz="1200" b="1">
              <a:latin typeface="Calibri"/>
              <a:ea typeface="Calibri"/>
              <a:cs typeface="Calibri"/>
            </a:endParaRPr>
          </a:p>
          <a:p>
            <a:pPr algn="ctr">
              <a:lnSpc>
                <a:spcPct val="150000"/>
              </a:lnSpc>
            </a:pPr>
            <a:r>
              <a:rPr lang="en-US" sz="1200">
                <a:latin typeface="Calibri"/>
                <a:ea typeface="Calibri"/>
                <a:cs typeface="Calibri"/>
              </a:rPr>
              <a:t>Intense R&amp;D Competition</a:t>
            </a:r>
          </a:p>
          <a:p>
            <a:pPr algn="ctr">
              <a:lnSpc>
                <a:spcPct val="150000"/>
              </a:lnSpc>
            </a:pPr>
            <a:r>
              <a:rPr lang="en-US" sz="1200">
                <a:latin typeface="Calibri"/>
                <a:ea typeface="Calibri"/>
                <a:cs typeface="Calibri"/>
              </a:rPr>
              <a:t>First-Mover Advantage is Key</a:t>
            </a:r>
            <a:endParaRPr lang="id-ID" sz="1200">
              <a:latin typeface="Calibri"/>
              <a:ea typeface="Calibri"/>
              <a:cs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5CE0EC3-D777-2350-3153-46B7FE48EFE3}"/>
              </a:ext>
            </a:extLst>
          </p:cNvPr>
          <p:cNvSpPr/>
          <p:nvPr/>
        </p:nvSpPr>
        <p:spPr>
          <a:xfrm>
            <a:off x="-104791" y="1401249"/>
            <a:ext cx="2457312" cy="8947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Low: </a:t>
            </a:r>
          </a:p>
          <a:p>
            <a:pPr algn="ctr">
              <a:lnSpc>
                <a:spcPct val="150000"/>
              </a:lnSpc>
            </a:pPr>
            <a:r>
              <a:rPr lang="en-US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Capital and R&amp;D Costs</a:t>
            </a:r>
          </a:p>
          <a:p>
            <a:pPr algn="ctr">
              <a:lnSpc>
                <a:spcPct val="150000"/>
              </a:lnSpc>
            </a:pPr>
            <a:r>
              <a:rPr lang="en-US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Strict Regulatory Barriers</a:t>
            </a:r>
            <a:endParaRPr lang="id-ID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B1996DF-E01F-C6DD-B67F-B2E310DBB968}"/>
              </a:ext>
            </a:extLst>
          </p:cNvPr>
          <p:cNvSpPr/>
          <p:nvPr/>
        </p:nvSpPr>
        <p:spPr>
          <a:xfrm>
            <a:off x="-24884" y="2621205"/>
            <a:ext cx="2457312" cy="8947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1200" b="1">
                <a:latin typeface="Calibri"/>
                <a:ea typeface="Calibri"/>
                <a:cs typeface="Calibri"/>
              </a:rPr>
              <a:t>Low to Medium</a:t>
            </a:r>
            <a:r>
              <a:rPr lang="id-ID" sz="1200" b="1">
                <a:latin typeface="Calibri"/>
                <a:ea typeface="Calibri"/>
                <a:cs typeface="Calibri"/>
              </a:rPr>
              <a:t>: </a:t>
            </a:r>
            <a:endParaRPr lang="en-US" sz="12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200">
                <a:latin typeface="Calibri"/>
                <a:ea typeface="Calibri"/>
                <a:cs typeface="Calibri"/>
              </a:rPr>
              <a:t>Newer Drugs Displace Older Ones</a:t>
            </a:r>
          </a:p>
          <a:p>
            <a:pPr algn="ctr">
              <a:lnSpc>
                <a:spcPct val="150000"/>
              </a:lnSpc>
            </a:pPr>
            <a:r>
              <a:rPr lang="en-US" sz="1200">
                <a:latin typeface="Calibri"/>
                <a:ea typeface="Calibri"/>
                <a:cs typeface="Calibri"/>
              </a:rPr>
              <a:t>Innovation Drives Change</a:t>
            </a:r>
            <a:endParaRPr lang="id-ID" sz="1200">
              <a:latin typeface="Calibri"/>
              <a:ea typeface="Calibri"/>
              <a:cs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2557A9C-CC33-795B-8FB6-00DD107A9147}"/>
              </a:ext>
            </a:extLst>
          </p:cNvPr>
          <p:cNvSpPr/>
          <p:nvPr/>
        </p:nvSpPr>
        <p:spPr>
          <a:xfrm>
            <a:off x="247625" y="3865526"/>
            <a:ext cx="2457312" cy="8947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id-ID"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</a:t>
            </a:r>
            <a:r>
              <a:rPr lang="id-ID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id-ID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Few Specialized Suppliers</a:t>
            </a:r>
          </a:p>
          <a:p>
            <a:pPr algn="ctr">
              <a:lnSpc>
                <a:spcPct val="150000"/>
              </a:lnSpc>
            </a:pPr>
            <a:r>
              <a:rPr lang="en-US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Heavy Regulatory Dependence</a:t>
            </a:r>
            <a:r>
              <a:rPr lang="id-ID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216C7D3-0A3E-6121-2859-F419E92F029A}"/>
              </a:ext>
            </a:extLst>
          </p:cNvPr>
          <p:cNvSpPr txBox="1"/>
          <p:nvPr/>
        </p:nvSpPr>
        <p:spPr>
          <a:xfrm>
            <a:off x="2872871" y="1658044"/>
            <a:ext cx="1876878" cy="242407"/>
          </a:xfrm>
          <a:prstGeom prst="rect">
            <a:avLst/>
          </a:prstGeom>
          <a:noFill/>
        </p:spPr>
        <p:txBody>
          <a:bodyPr wrap="square" lIns="72000" tIns="0" rIns="72000" bIns="0" rtlCol="0" anchor="ctr">
            <a:noAutofit/>
          </a:bodyPr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latin typeface="+mj-lt"/>
              </a:rPr>
              <a:t>Threat of New Entrants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3141AD-874D-346D-EAEF-CFF8ADCA791F}"/>
              </a:ext>
            </a:extLst>
          </p:cNvPr>
          <p:cNvSpPr txBox="1"/>
          <p:nvPr/>
        </p:nvSpPr>
        <p:spPr>
          <a:xfrm>
            <a:off x="0" y="300122"/>
            <a:ext cx="9144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8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Industry Analysis</a:t>
            </a:r>
            <a:endParaRPr lang="en-US" sz="38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462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1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2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5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6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9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0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3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4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16" presetClass="entr" presetSubtype="2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27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5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5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56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58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61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64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7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0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7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4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0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6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/>
          <p:bldP spid="21" grpId="0" animBg="1"/>
          <p:bldP spid="22" grpId="0"/>
          <p:bldP spid="27" grpId="0" animBg="1"/>
          <p:bldP spid="28" grpId="0"/>
          <p:bldP spid="33" grpId="0" animBg="1"/>
          <p:bldP spid="34" grpId="0"/>
          <p:bldP spid="40" grpId="0"/>
          <p:bldP spid="53" grpId="0"/>
          <p:bldP spid="54" grpId="0"/>
          <p:bldP spid="56" grpId="0"/>
          <p:bldP spid="57" grpId="0"/>
          <p:bldP spid="58" grpId="0"/>
          <p:bldP spid="83" grpId="0"/>
          <p:bldP spid="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16" presetClass="entr" presetSubtype="2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27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5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5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56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58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61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64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7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0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7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4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0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6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/>
          <p:bldP spid="21" grpId="0" animBg="1"/>
          <p:bldP spid="22" grpId="0"/>
          <p:bldP spid="27" grpId="0" animBg="1"/>
          <p:bldP spid="28" grpId="0"/>
          <p:bldP spid="33" grpId="0" animBg="1"/>
          <p:bldP spid="34" grpId="0"/>
          <p:bldP spid="40" grpId="0"/>
          <p:bldP spid="53" grpId="0"/>
          <p:bldP spid="54" grpId="0"/>
          <p:bldP spid="56" grpId="0"/>
          <p:bldP spid="57" grpId="0"/>
          <p:bldP spid="58" grpId="0"/>
          <p:bldP spid="83" grpId="0"/>
          <p:bldP spid="3" grpId="0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820F0A9-328C-190A-172A-2BDC891DB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EC9A7497-703C-804D-3C46-61C1DB80C9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38E9143D-0874-5E56-09A5-E26BE1D1FC3A}"/>
              </a:ext>
            </a:extLst>
          </p:cNvPr>
          <p:cNvSpPr/>
          <p:nvPr/>
        </p:nvSpPr>
        <p:spPr>
          <a:xfrm>
            <a:off x="358244" y="2122367"/>
            <a:ext cx="1594587" cy="1586440"/>
          </a:xfrm>
          <a:custGeom>
            <a:avLst/>
            <a:gdLst>
              <a:gd name="connsiteX0" fmla="*/ 0 w 1346941"/>
              <a:gd name="connsiteY0" fmla="*/ 670031 h 1340062"/>
              <a:gd name="connsiteX1" fmla="*/ 673471 w 1346941"/>
              <a:gd name="connsiteY1" fmla="*/ 0 h 1340062"/>
              <a:gd name="connsiteX2" fmla="*/ 1346942 w 1346941"/>
              <a:gd name="connsiteY2" fmla="*/ 670031 h 1340062"/>
              <a:gd name="connsiteX3" fmla="*/ 673471 w 1346941"/>
              <a:gd name="connsiteY3" fmla="*/ 1340062 h 1340062"/>
              <a:gd name="connsiteX4" fmla="*/ 0 w 1346941"/>
              <a:gd name="connsiteY4" fmla="*/ 670031 h 1340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6941" h="1340062">
                <a:moveTo>
                  <a:pt x="0" y="670031"/>
                </a:moveTo>
                <a:cubicBezTo>
                  <a:pt x="0" y="299983"/>
                  <a:pt x="301523" y="0"/>
                  <a:pt x="673471" y="0"/>
                </a:cubicBezTo>
                <a:cubicBezTo>
                  <a:pt x="1045419" y="0"/>
                  <a:pt x="1346942" y="299983"/>
                  <a:pt x="1346942" y="670031"/>
                </a:cubicBezTo>
                <a:cubicBezTo>
                  <a:pt x="1346942" y="1040079"/>
                  <a:pt x="1045419" y="1340062"/>
                  <a:pt x="673471" y="1340062"/>
                </a:cubicBezTo>
                <a:cubicBezTo>
                  <a:pt x="301523" y="1340062"/>
                  <a:pt x="0" y="1040079"/>
                  <a:pt x="0" y="670031"/>
                </a:cubicBez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276553" tIns="275211" rIns="276553" bIns="275211" numCol="1" spcCol="1270" anchor="ctr" anchorCtr="0">
            <a:noAutofit/>
          </a:bodyPr>
          <a:lstStyle/>
          <a:p>
            <a:pPr algn="ctr" defTabSz="948243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867">
              <a:solidFill>
                <a:srgbClr val="FFFFFF"/>
              </a:solidFill>
            </a:endParaRP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2D4EBDC0-AB31-2654-FDEA-CB19B40663BB}"/>
              </a:ext>
            </a:extLst>
          </p:cNvPr>
          <p:cNvSpPr/>
          <p:nvPr/>
        </p:nvSpPr>
        <p:spPr>
          <a:xfrm>
            <a:off x="2649085" y="744734"/>
            <a:ext cx="521497" cy="515784"/>
          </a:xfrm>
          <a:prstGeom prst="roundRect">
            <a:avLst>
              <a:gd name="adj" fmla="val 50000"/>
            </a:avLst>
          </a:prstGeom>
          <a:solidFill>
            <a:srgbClr val="131F33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48201" tIns="48201" rIns="48201" bIns="48201" numCol="1" spcCol="1270" anchor="ctr" anchorCtr="0">
            <a:noAutofit/>
          </a:bodyPr>
          <a:lstStyle/>
          <a:p>
            <a:pPr algn="ctr" defTabSz="948243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67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A59FFBAA-9428-AB6D-3EC2-99754DD3E1C4}"/>
              </a:ext>
            </a:extLst>
          </p:cNvPr>
          <p:cNvSpPr/>
          <p:nvPr/>
        </p:nvSpPr>
        <p:spPr>
          <a:xfrm>
            <a:off x="2651535" y="2014372"/>
            <a:ext cx="519048" cy="515784"/>
          </a:xfrm>
          <a:prstGeom prst="roundRect">
            <a:avLst>
              <a:gd name="adj" fmla="val 50000"/>
            </a:avLst>
          </a:prstGeom>
          <a:solidFill>
            <a:srgbClr val="FB6300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48201" tIns="48201" rIns="48201" bIns="48201" numCol="1" spcCol="1270" anchor="ctr" anchorCtr="0">
            <a:noAutofit/>
          </a:bodyPr>
          <a:lstStyle/>
          <a:p>
            <a:pPr algn="ctr" defTabSz="948243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67">
                <a:solidFill>
                  <a:srgbClr val="FFFFFF"/>
                </a:solidFill>
              </a:rPr>
              <a:t>W</a:t>
            </a: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48F7FED0-03EF-8194-9D6E-DBA72008C061}"/>
              </a:ext>
            </a:extLst>
          </p:cNvPr>
          <p:cNvSpPr/>
          <p:nvPr/>
        </p:nvSpPr>
        <p:spPr>
          <a:xfrm>
            <a:off x="2651534" y="3347059"/>
            <a:ext cx="519048" cy="515784"/>
          </a:xfrm>
          <a:prstGeom prst="roundRect">
            <a:avLst>
              <a:gd name="adj" fmla="val 50000"/>
            </a:avLst>
          </a:prstGeom>
          <a:solidFill>
            <a:srgbClr val="131F33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48201" tIns="48201" rIns="48201" bIns="48201" numCol="1" spcCol="1270" anchor="ctr" anchorCtr="0">
            <a:noAutofit/>
          </a:bodyPr>
          <a:lstStyle/>
          <a:p>
            <a:pPr algn="ctr" defTabSz="948243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67">
                <a:solidFill>
                  <a:srgbClr val="FFFFFF"/>
                </a:solidFill>
              </a:rPr>
              <a:t>O</a:t>
            </a: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AE60AB4A-BEB0-4CD6-ACC8-A3D7F1F08FFA}"/>
              </a:ext>
            </a:extLst>
          </p:cNvPr>
          <p:cNvSpPr/>
          <p:nvPr/>
        </p:nvSpPr>
        <p:spPr>
          <a:xfrm>
            <a:off x="2649085" y="4649195"/>
            <a:ext cx="519048" cy="515784"/>
          </a:xfrm>
          <a:prstGeom prst="roundRect">
            <a:avLst>
              <a:gd name="adj" fmla="val 50000"/>
            </a:avLst>
          </a:prstGeom>
          <a:solidFill>
            <a:srgbClr val="FB6300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48201" tIns="48201" rIns="48201" bIns="48201" numCol="1" spcCol="1270" anchor="ctr" anchorCtr="0">
            <a:noAutofit/>
          </a:bodyPr>
          <a:lstStyle/>
          <a:p>
            <a:pPr algn="ctr" defTabSz="948243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67">
                <a:solidFill>
                  <a:srgbClr val="FFFFFF"/>
                </a:solidFill>
              </a:rPr>
              <a:t>T</a:t>
            </a:r>
          </a:p>
        </p:txBody>
      </p:sp>
      <p:cxnSp>
        <p:nvCxnSpPr>
          <p:cNvPr id="7" name="Elbow Connector 7">
            <a:extLst>
              <a:ext uri="{FF2B5EF4-FFF2-40B4-BE49-F238E27FC236}">
                <a16:creationId xmlns:a16="http://schemas.microsoft.com/office/drawing/2014/main" id="{F014A024-5A11-B5E7-6F36-410EE79141BF}"/>
              </a:ext>
            </a:extLst>
          </p:cNvPr>
          <p:cNvCxnSpPr>
            <a:cxnSpLocks/>
            <a:stCxn id="2" idx="2"/>
            <a:endCxn id="3" idx="1"/>
          </p:cNvCxnSpPr>
          <p:nvPr/>
        </p:nvCxnSpPr>
        <p:spPr>
          <a:xfrm flipV="1">
            <a:off x="1952832" y="1002626"/>
            <a:ext cx="696253" cy="1912961"/>
          </a:xfrm>
          <a:prstGeom prst="bentConnector3">
            <a:avLst>
              <a:gd name="adj1" fmla="val 50000"/>
            </a:avLst>
          </a:prstGeom>
          <a:ln>
            <a:headEnd type="none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Elbow Connector 8">
            <a:extLst>
              <a:ext uri="{FF2B5EF4-FFF2-40B4-BE49-F238E27FC236}">
                <a16:creationId xmlns:a16="http://schemas.microsoft.com/office/drawing/2014/main" id="{6B6AA951-DFE9-973D-4702-BA42CB2911FF}"/>
              </a:ext>
            </a:extLst>
          </p:cNvPr>
          <p:cNvCxnSpPr>
            <a:cxnSpLocks/>
            <a:stCxn id="2" idx="2"/>
            <a:endCxn id="4" idx="1"/>
          </p:cNvCxnSpPr>
          <p:nvPr/>
        </p:nvCxnSpPr>
        <p:spPr>
          <a:xfrm flipV="1">
            <a:off x="1952832" y="2272264"/>
            <a:ext cx="698703" cy="643323"/>
          </a:xfrm>
          <a:prstGeom prst="bentConnector3">
            <a:avLst/>
          </a:prstGeom>
          <a:ln>
            <a:headEnd type="none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Elbow Connector 9">
            <a:extLst>
              <a:ext uri="{FF2B5EF4-FFF2-40B4-BE49-F238E27FC236}">
                <a16:creationId xmlns:a16="http://schemas.microsoft.com/office/drawing/2014/main" id="{C9C2529E-B29F-2EB8-1007-240FBB9ACB9C}"/>
              </a:ext>
            </a:extLst>
          </p:cNvPr>
          <p:cNvCxnSpPr>
            <a:cxnSpLocks/>
            <a:stCxn id="2" idx="2"/>
            <a:endCxn id="5" idx="1"/>
          </p:cNvCxnSpPr>
          <p:nvPr/>
        </p:nvCxnSpPr>
        <p:spPr>
          <a:xfrm>
            <a:off x="1952832" y="2915587"/>
            <a:ext cx="698702" cy="689364"/>
          </a:xfrm>
          <a:prstGeom prst="bentConnector3">
            <a:avLst/>
          </a:prstGeom>
          <a:ln>
            <a:headEnd type="none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Elbow Connector 10">
            <a:extLst>
              <a:ext uri="{FF2B5EF4-FFF2-40B4-BE49-F238E27FC236}">
                <a16:creationId xmlns:a16="http://schemas.microsoft.com/office/drawing/2014/main" id="{AC1F0AA5-1B26-79F8-C016-410D274A84F2}"/>
              </a:ext>
            </a:extLst>
          </p:cNvPr>
          <p:cNvCxnSpPr>
            <a:cxnSpLocks/>
            <a:stCxn id="2" idx="2"/>
            <a:endCxn id="6" idx="1"/>
          </p:cNvCxnSpPr>
          <p:nvPr/>
        </p:nvCxnSpPr>
        <p:spPr>
          <a:xfrm>
            <a:off x="1952832" y="2915587"/>
            <a:ext cx="696253" cy="1991500"/>
          </a:xfrm>
          <a:prstGeom prst="bentConnector3">
            <a:avLst/>
          </a:prstGeom>
          <a:ln>
            <a:headEnd type="none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8F47671-7C51-DC3C-6A5C-CBC5D9AA5FC3}"/>
              </a:ext>
            </a:extLst>
          </p:cNvPr>
          <p:cNvSpPr/>
          <p:nvPr/>
        </p:nvSpPr>
        <p:spPr>
          <a:xfrm>
            <a:off x="3423471" y="4226821"/>
            <a:ext cx="5120639" cy="272062"/>
          </a:xfrm>
          <a:prstGeom prst="rect">
            <a:avLst/>
          </a:prstGeom>
        </p:spPr>
        <p:txBody>
          <a:bodyPr wrap="square" lIns="121920" rIns="121920" bIns="60960">
            <a:spAutoFit/>
          </a:bodyPr>
          <a:lstStyle/>
          <a:p>
            <a:pPr>
              <a:lnSpc>
                <a:spcPct val="89000"/>
              </a:lnSpc>
            </a:pPr>
            <a:r>
              <a:rPr lang="en-US" sz="1200"/>
              <a:t>Medicare Price Negotiation: Jardiance impacted; others likely</a:t>
            </a:r>
            <a:endParaRPr lang="en-US" sz="1200" spc="-27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5C52FC-40E7-8BBA-C234-87050DE0524F}"/>
              </a:ext>
            </a:extLst>
          </p:cNvPr>
          <p:cNvSpPr/>
          <p:nvPr/>
        </p:nvSpPr>
        <p:spPr>
          <a:xfrm>
            <a:off x="3423471" y="4626360"/>
            <a:ext cx="5120639" cy="272062"/>
          </a:xfrm>
          <a:prstGeom prst="rect">
            <a:avLst/>
          </a:prstGeom>
        </p:spPr>
        <p:txBody>
          <a:bodyPr wrap="square" lIns="121920" tIns="45720" rIns="121920" bIns="60960" anchor="t">
            <a:spAutoFit/>
          </a:bodyPr>
          <a:lstStyle/>
          <a:p>
            <a:pPr>
              <a:lnSpc>
                <a:spcPct val="89000"/>
              </a:lnSpc>
            </a:pPr>
            <a:r>
              <a:rPr lang="en-US" sz="1200" spc="-27"/>
              <a:t>Regulatory challenges and pricing pressure in the U.S. and abroad.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D87FA2-1446-8C59-1B74-1694F7886B90}"/>
              </a:ext>
            </a:extLst>
          </p:cNvPr>
          <p:cNvSpPr/>
          <p:nvPr/>
        </p:nvSpPr>
        <p:spPr>
          <a:xfrm>
            <a:off x="3423471" y="5025898"/>
            <a:ext cx="5120639" cy="272062"/>
          </a:xfrm>
          <a:prstGeom prst="rect">
            <a:avLst/>
          </a:prstGeom>
        </p:spPr>
        <p:txBody>
          <a:bodyPr wrap="square" lIns="121920" tIns="45720" rIns="121920" bIns="60960" anchor="t">
            <a:spAutoFit/>
          </a:bodyPr>
          <a:lstStyle/>
          <a:p>
            <a:pPr>
              <a:lnSpc>
                <a:spcPct val="89000"/>
              </a:lnSpc>
            </a:pPr>
            <a:r>
              <a:rPr lang="en-US" sz="1200" spc="-27"/>
              <a:t>Patent expirations and rising biosimilar competition.</a:t>
            </a:r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AA0ADFF-AB4F-8E0F-4C12-88B030E32FB9}"/>
              </a:ext>
            </a:extLst>
          </p:cNvPr>
          <p:cNvCxnSpPr>
            <a:cxnSpLocks/>
          </p:cNvCxnSpPr>
          <p:nvPr/>
        </p:nvCxnSpPr>
        <p:spPr>
          <a:xfrm flipH="1">
            <a:off x="3150972" y="4906251"/>
            <a:ext cx="281485" cy="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5A8B227D-629F-5C50-B7E6-A99C616853EF}"/>
              </a:ext>
            </a:extLst>
          </p:cNvPr>
          <p:cNvSpPr/>
          <p:nvPr/>
        </p:nvSpPr>
        <p:spPr>
          <a:xfrm>
            <a:off x="3347200" y="4504937"/>
            <a:ext cx="85256" cy="802627"/>
          </a:xfrm>
          <a:prstGeom prst="leftBracket">
            <a:avLst>
              <a:gd name="adj" fmla="val 65305"/>
            </a:avLst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133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7F9EAAD-E0F8-FFCB-C76A-843F756DBC82}"/>
              </a:ext>
            </a:extLst>
          </p:cNvPr>
          <p:cNvCxnSpPr>
            <a:cxnSpLocks/>
          </p:cNvCxnSpPr>
          <p:nvPr/>
        </p:nvCxnSpPr>
        <p:spPr>
          <a:xfrm>
            <a:off x="3423471" y="4906251"/>
            <a:ext cx="4655101" cy="0"/>
          </a:xfrm>
          <a:prstGeom prst="line">
            <a:avLst/>
          </a:prstGeom>
          <a:ln>
            <a:tailEnd type="oval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238733-D42E-46E1-1068-4B9A0A698FA6}"/>
              </a:ext>
            </a:extLst>
          </p:cNvPr>
          <p:cNvCxnSpPr>
            <a:cxnSpLocks/>
          </p:cNvCxnSpPr>
          <p:nvPr/>
        </p:nvCxnSpPr>
        <p:spPr>
          <a:xfrm>
            <a:off x="3423471" y="4504937"/>
            <a:ext cx="4401101" cy="0"/>
          </a:xfrm>
          <a:prstGeom prst="line">
            <a:avLst/>
          </a:prstGeom>
          <a:ln>
            <a:tailEnd type="oval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72EF1BC-233A-8B43-6082-47CCBA61102C}"/>
              </a:ext>
            </a:extLst>
          </p:cNvPr>
          <p:cNvCxnSpPr>
            <a:cxnSpLocks/>
          </p:cNvCxnSpPr>
          <p:nvPr/>
        </p:nvCxnSpPr>
        <p:spPr>
          <a:xfrm>
            <a:off x="3423471" y="5307564"/>
            <a:ext cx="4655101" cy="0"/>
          </a:xfrm>
          <a:prstGeom prst="line">
            <a:avLst/>
          </a:prstGeom>
          <a:ln>
            <a:tailEnd type="oval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F7FB9302-A8A9-4EA3-8EC7-A61A58A16F12}"/>
              </a:ext>
            </a:extLst>
          </p:cNvPr>
          <p:cNvSpPr/>
          <p:nvPr/>
        </p:nvSpPr>
        <p:spPr>
          <a:xfrm>
            <a:off x="3435382" y="2920486"/>
            <a:ext cx="5120639" cy="272062"/>
          </a:xfrm>
          <a:prstGeom prst="rect">
            <a:avLst/>
          </a:prstGeom>
        </p:spPr>
        <p:txBody>
          <a:bodyPr wrap="square" lIns="121920" tIns="45720" rIns="121920" bIns="60960" anchor="t">
            <a:spAutoFit/>
          </a:bodyPr>
          <a:lstStyle/>
          <a:p>
            <a:pPr>
              <a:lnSpc>
                <a:spcPct val="89000"/>
              </a:lnSpc>
            </a:pPr>
            <a:r>
              <a:rPr lang="en-US" sz="1200" spc="-27" err="1"/>
              <a:t>Jaypirca</a:t>
            </a:r>
            <a:r>
              <a:rPr lang="en-US" sz="1200" spc="-27"/>
              <a:t>, </a:t>
            </a:r>
            <a:r>
              <a:rPr lang="en-US" sz="1200" spc="-27" err="1"/>
              <a:t>Omvoh</a:t>
            </a:r>
            <a:r>
              <a:rPr lang="en-US" sz="1200" spc="-27"/>
              <a:t>, </a:t>
            </a:r>
            <a:r>
              <a:rPr lang="en-US" sz="1200" spc="-27" err="1"/>
              <a:t>Kisunla</a:t>
            </a:r>
            <a:r>
              <a:rPr lang="en-US" sz="1200" spc="-27"/>
              <a:t>, </a:t>
            </a:r>
            <a:r>
              <a:rPr lang="en-US" sz="1200" spc="-27" err="1"/>
              <a:t>Ebglyss</a:t>
            </a:r>
            <a:r>
              <a:rPr lang="en-US" sz="1200" spc="-27"/>
              <a:t> – oncology, neurology, immunology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C9A896-DF70-6C81-98AB-B798E71C326D}"/>
              </a:ext>
            </a:extLst>
          </p:cNvPr>
          <p:cNvSpPr/>
          <p:nvPr/>
        </p:nvSpPr>
        <p:spPr>
          <a:xfrm>
            <a:off x="3435382" y="3320025"/>
            <a:ext cx="5120639" cy="292388"/>
          </a:xfrm>
          <a:prstGeom prst="rect">
            <a:avLst/>
          </a:prstGeom>
        </p:spPr>
        <p:txBody>
          <a:bodyPr wrap="square" lIns="121920" tIns="45720" rIns="121920" bIns="60960" anchor="t">
            <a:spAutoFit/>
          </a:bodyPr>
          <a:lstStyle/>
          <a:p>
            <a:r>
              <a:rPr lang="en-US" sz="1200"/>
              <a:t>$50 billion worth of plants will begin manufacturing in H12025 in US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D74DED-B6CE-3918-5DAF-22E63EA681B8}"/>
              </a:ext>
            </a:extLst>
          </p:cNvPr>
          <p:cNvSpPr/>
          <p:nvPr/>
        </p:nvSpPr>
        <p:spPr>
          <a:xfrm>
            <a:off x="3435382" y="3719564"/>
            <a:ext cx="5120639" cy="272062"/>
          </a:xfrm>
          <a:prstGeom prst="rect">
            <a:avLst/>
          </a:prstGeom>
        </p:spPr>
        <p:txBody>
          <a:bodyPr wrap="square" lIns="121920" tIns="45720" rIns="121920" bIns="60960" anchor="t">
            <a:spAutoFit/>
          </a:bodyPr>
          <a:lstStyle/>
          <a:p>
            <a:pPr>
              <a:lnSpc>
                <a:spcPct val="89000"/>
              </a:lnSpc>
            </a:pPr>
            <a:r>
              <a:rPr lang="en-US" sz="1200" spc="-27"/>
              <a:t>Obesity on the rise, nearly 50% of US adults will be obese by 2030.</a:t>
            </a:r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5308730-A3CC-6AA9-2C3F-D9B735B11C05}"/>
              </a:ext>
            </a:extLst>
          </p:cNvPr>
          <p:cNvCxnSpPr>
            <a:cxnSpLocks/>
          </p:cNvCxnSpPr>
          <p:nvPr/>
        </p:nvCxnSpPr>
        <p:spPr>
          <a:xfrm flipH="1">
            <a:off x="3162883" y="3599916"/>
            <a:ext cx="281485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Left Bracket 22">
            <a:extLst>
              <a:ext uri="{FF2B5EF4-FFF2-40B4-BE49-F238E27FC236}">
                <a16:creationId xmlns:a16="http://schemas.microsoft.com/office/drawing/2014/main" id="{CBDD8105-7453-D4A2-01E7-D759A565E6AE}"/>
              </a:ext>
            </a:extLst>
          </p:cNvPr>
          <p:cNvSpPr/>
          <p:nvPr/>
        </p:nvSpPr>
        <p:spPr>
          <a:xfrm>
            <a:off x="3359110" y="3198603"/>
            <a:ext cx="85256" cy="802627"/>
          </a:xfrm>
          <a:prstGeom prst="leftBracket">
            <a:avLst>
              <a:gd name="adj" fmla="val 65305"/>
            </a:avLst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133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083CC83-9619-147D-2DE2-D3404A63136A}"/>
              </a:ext>
            </a:extLst>
          </p:cNvPr>
          <p:cNvCxnSpPr>
            <a:cxnSpLocks/>
          </p:cNvCxnSpPr>
          <p:nvPr/>
        </p:nvCxnSpPr>
        <p:spPr>
          <a:xfrm>
            <a:off x="3435381" y="3599916"/>
            <a:ext cx="4655101" cy="0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940A3D1-4FC5-D3EA-1F3D-13E6D852FF2F}"/>
              </a:ext>
            </a:extLst>
          </p:cNvPr>
          <p:cNvCxnSpPr>
            <a:cxnSpLocks/>
          </p:cNvCxnSpPr>
          <p:nvPr/>
        </p:nvCxnSpPr>
        <p:spPr>
          <a:xfrm>
            <a:off x="3435381" y="3198603"/>
            <a:ext cx="4401101" cy="0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0A09096-5FC0-4D55-B16B-A75C3603B7AF}"/>
              </a:ext>
            </a:extLst>
          </p:cNvPr>
          <p:cNvCxnSpPr>
            <a:cxnSpLocks/>
          </p:cNvCxnSpPr>
          <p:nvPr/>
        </p:nvCxnSpPr>
        <p:spPr>
          <a:xfrm>
            <a:off x="3435381" y="4001229"/>
            <a:ext cx="4655101" cy="0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ED59BC5-3FCB-0B03-4C10-AFAB53D1E2D7}"/>
              </a:ext>
            </a:extLst>
          </p:cNvPr>
          <p:cNvSpPr/>
          <p:nvPr/>
        </p:nvSpPr>
        <p:spPr>
          <a:xfrm>
            <a:off x="3432456" y="1586797"/>
            <a:ext cx="5120639" cy="272062"/>
          </a:xfrm>
          <a:prstGeom prst="rect">
            <a:avLst/>
          </a:prstGeom>
        </p:spPr>
        <p:txBody>
          <a:bodyPr wrap="square" lIns="121920" rIns="121920" bIns="60960">
            <a:spAutoFit/>
          </a:bodyPr>
          <a:lstStyle/>
          <a:p>
            <a:pPr>
              <a:lnSpc>
                <a:spcPct val="89000"/>
              </a:lnSpc>
            </a:pPr>
            <a:r>
              <a:rPr lang="en-US" sz="1200" spc="-27"/>
              <a:t>Vulnerable to pricing pressure &amp; IRA policies.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9E1AB8-12AC-BB98-A5A6-D92740DC11E2}"/>
              </a:ext>
            </a:extLst>
          </p:cNvPr>
          <p:cNvSpPr/>
          <p:nvPr/>
        </p:nvSpPr>
        <p:spPr>
          <a:xfrm>
            <a:off x="3432456" y="1986336"/>
            <a:ext cx="5120639" cy="272062"/>
          </a:xfrm>
          <a:prstGeom prst="rect">
            <a:avLst/>
          </a:prstGeom>
        </p:spPr>
        <p:txBody>
          <a:bodyPr wrap="square" lIns="121920" tIns="45720" rIns="121920" bIns="60960" anchor="t">
            <a:spAutoFit/>
          </a:bodyPr>
          <a:lstStyle/>
          <a:p>
            <a:pPr>
              <a:lnSpc>
                <a:spcPct val="89000"/>
              </a:lnSpc>
            </a:pPr>
            <a:r>
              <a:rPr lang="en-US" sz="1200" spc="-27"/>
              <a:t>40% of revenue comes from to incretin markets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98ED96-919F-CE3C-9846-0EBEB443FD9F}"/>
              </a:ext>
            </a:extLst>
          </p:cNvPr>
          <p:cNvSpPr/>
          <p:nvPr/>
        </p:nvSpPr>
        <p:spPr>
          <a:xfrm>
            <a:off x="3432456" y="2385874"/>
            <a:ext cx="5120639" cy="272062"/>
          </a:xfrm>
          <a:prstGeom prst="rect">
            <a:avLst/>
          </a:prstGeom>
        </p:spPr>
        <p:txBody>
          <a:bodyPr wrap="square" lIns="121920" tIns="45720" rIns="121920" bIns="60960" anchor="t">
            <a:spAutoFit/>
          </a:bodyPr>
          <a:lstStyle/>
          <a:p>
            <a:pPr>
              <a:lnSpc>
                <a:spcPct val="89000"/>
              </a:lnSpc>
            </a:pPr>
            <a:r>
              <a:rPr lang="en-US" sz="1200" spc="-27"/>
              <a:t>Trulicity is being cannibalized by </a:t>
            </a:r>
            <a:r>
              <a:rPr lang="en-US" sz="1200" spc="-27" err="1"/>
              <a:t>Mounjaro</a:t>
            </a:r>
            <a:r>
              <a:rPr lang="en-US" sz="1200" spc="-27"/>
              <a:t>, -25% YoY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C5319D4-F4C8-D4CD-A956-933B0EF6DBE5}"/>
              </a:ext>
            </a:extLst>
          </p:cNvPr>
          <p:cNvCxnSpPr>
            <a:cxnSpLocks/>
          </p:cNvCxnSpPr>
          <p:nvPr/>
        </p:nvCxnSpPr>
        <p:spPr>
          <a:xfrm flipH="1">
            <a:off x="3159957" y="2266227"/>
            <a:ext cx="281485" cy="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1" name="Left Bracket 30">
            <a:extLst>
              <a:ext uri="{FF2B5EF4-FFF2-40B4-BE49-F238E27FC236}">
                <a16:creationId xmlns:a16="http://schemas.microsoft.com/office/drawing/2014/main" id="{FBD03745-24A9-1E71-295E-7CE0CF4B86DC}"/>
              </a:ext>
            </a:extLst>
          </p:cNvPr>
          <p:cNvSpPr/>
          <p:nvPr/>
        </p:nvSpPr>
        <p:spPr>
          <a:xfrm>
            <a:off x="3356185" y="1864913"/>
            <a:ext cx="85256" cy="802627"/>
          </a:xfrm>
          <a:prstGeom prst="leftBracket">
            <a:avLst>
              <a:gd name="adj" fmla="val 65305"/>
            </a:avLst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133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2588778-1F3D-A2B3-73F4-B05394CF377F}"/>
              </a:ext>
            </a:extLst>
          </p:cNvPr>
          <p:cNvCxnSpPr>
            <a:cxnSpLocks/>
          </p:cNvCxnSpPr>
          <p:nvPr/>
        </p:nvCxnSpPr>
        <p:spPr>
          <a:xfrm>
            <a:off x="3432456" y="2266227"/>
            <a:ext cx="4655101" cy="0"/>
          </a:xfrm>
          <a:prstGeom prst="line">
            <a:avLst/>
          </a:prstGeom>
          <a:ln>
            <a:tailEnd type="oval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D58B3A2-77F6-634E-3B55-36928BC2CE0D}"/>
              </a:ext>
            </a:extLst>
          </p:cNvPr>
          <p:cNvCxnSpPr>
            <a:cxnSpLocks/>
          </p:cNvCxnSpPr>
          <p:nvPr/>
        </p:nvCxnSpPr>
        <p:spPr>
          <a:xfrm>
            <a:off x="3432456" y="1864913"/>
            <a:ext cx="4401101" cy="0"/>
          </a:xfrm>
          <a:prstGeom prst="line">
            <a:avLst/>
          </a:prstGeom>
          <a:ln>
            <a:tailEnd type="oval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7BE3824-D3B5-FC0B-CECB-3560A0E750CC}"/>
              </a:ext>
            </a:extLst>
          </p:cNvPr>
          <p:cNvCxnSpPr>
            <a:cxnSpLocks/>
          </p:cNvCxnSpPr>
          <p:nvPr/>
        </p:nvCxnSpPr>
        <p:spPr>
          <a:xfrm>
            <a:off x="3432456" y="2667540"/>
            <a:ext cx="4655101" cy="0"/>
          </a:xfrm>
          <a:prstGeom prst="line">
            <a:avLst/>
          </a:prstGeom>
          <a:ln>
            <a:tailEnd type="oval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FFC75BC1-FFBE-7FE4-E603-165EB5F63053}"/>
              </a:ext>
            </a:extLst>
          </p:cNvPr>
          <p:cNvSpPr/>
          <p:nvPr/>
        </p:nvSpPr>
        <p:spPr>
          <a:xfrm>
            <a:off x="3432456" y="313361"/>
            <a:ext cx="5120639" cy="272062"/>
          </a:xfrm>
          <a:prstGeom prst="rect">
            <a:avLst/>
          </a:prstGeom>
        </p:spPr>
        <p:txBody>
          <a:bodyPr wrap="square" lIns="121920" tIns="45720" rIns="121920" bIns="60960" anchor="t">
            <a:spAutoFit/>
          </a:bodyPr>
          <a:lstStyle/>
          <a:p>
            <a:pPr>
              <a:lnSpc>
                <a:spcPct val="89000"/>
              </a:lnSpc>
            </a:pPr>
            <a:r>
              <a:rPr lang="en-US" sz="1200" spc="-27"/>
              <a:t>Leads anti-obesity $53 billion market (</a:t>
            </a:r>
            <a:r>
              <a:rPr lang="en-US" sz="1200" spc="-27" err="1"/>
              <a:t>Zepbound</a:t>
            </a:r>
            <a:r>
              <a:rPr lang="en-US" sz="1200" spc="-27"/>
              <a:t>, </a:t>
            </a:r>
            <a:r>
              <a:rPr lang="en-US" sz="1200" spc="-27" err="1"/>
              <a:t>Mounjaro</a:t>
            </a:r>
            <a:r>
              <a:rPr lang="en-US" sz="1200" spc="-27"/>
              <a:t>, </a:t>
            </a:r>
            <a:r>
              <a:rPr lang="en-US" sz="1200" spc="-27" err="1"/>
              <a:t>Orforglipron</a:t>
            </a:r>
            <a:r>
              <a:rPr lang="en-US" sz="1200" spc="-27"/>
              <a:t>).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FCA3720-063D-D28F-6CBA-4759DCC59DB9}"/>
              </a:ext>
            </a:extLst>
          </p:cNvPr>
          <p:cNvSpPr/>
          <p:nvPr/>
        </p:nvSpPr>
        <p:spPr>
          <a:xfrm>
            <a:off x="3432456" y="712900"/>
            <a:ext cx="5120639" cy="272062"/>
          </a:xfrm>
          <a:prstGeom prst="rect">
            <a:avLst/>
          </a:prstGeom>
        </p:spPr>
        <p:txBody>
          <a:bodyPr wrap="square" lIns="121920" rIns="121920" bIns="60960">
            <a:spAutoFit/>
          </a:bodyPr>
          <a:lstStyle/>
          <a:p>
            <a:pPr>
              <a:lnSpc>
                <a:spcPct val="89000"/>
              </a:lnSpc>
            </a:pPr>
            <a:r>
              <a:rPr lang="en-US" sz="1200" spc="-27"/>
              <a:t>FY 2024 revenue +32% YoY, Q4 +45%.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623D7DA-4B3A-3131-B39E-E1789199C101}"/>
              </a:ext>
            </a:extLst>
          </p:cNvPr>
          <p:cNvSpPr/>
          <p:nvPr/>
        </p:nvSpPr>
        <p:spPr>
          <a:xfrm>
            <a:off x="3432456" y="1112438"/>
            <a:ext cx="5120639" cy="272062"/>
          </a:xfrm>
          <a:prstGeom prst="rect">
            <a:avLst/>
          </a:prstGeom>
        </p:spPr>
        <p:txBody>
          <a:bodyPr wrap="square" lIns="121920" rIns="121920" bIns="60960">
            <a:spAutoFit/>
          </a:bodyPr>
          <a:lstStyle/>
          <a:p>
            <a:pPr>
              <a:lnSpc>
                <a:spcPct val="89000"/>
              </a:lnSpc>
            </a:pPr>
            <a:r>
              <a:rPr lang="en-US" sz="1200" spc="-27"/>
              <a:t>$3B returned in Q4, $2B buyback, 15% dividend hike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767A0C6-930D-78DC-93AF-E49AA1688196}"/>
              </a:ext>
            </a:extLst>
          </p:cNvPr>
          <p:cNvCxnSpPr>
            <a:cxnSpLocks/>
          </p:cNvCxnSpPr>
          <p:nvPr/>
        </p:nvCxnSpPr>
        <p:spPr>
          <a:xfrm flipH="1">
            <a:off x="3159957" y="992791"/>
            <a:ext cx="281485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Left Bracket 38">
            <a:extLst>
              <a:ext uri="{FF2B5EF4-FFF2-40B4-BE49-F238E27FC236}">
                <a16:creationId xmlns:a16="http://schemas.microsoft.com/office/drawing/2014/main" id="{18FB1DD2-56A3-9478-FA6C-7D5924FAC535}"/>
              </a:ext>
            </a:extLst>
          </p:cNvPr>
          <p:cNvSpPr/>
          <p:nvPr/>
        </p:nvSpPr>
        <p:spPr>
          <a:xfrm>
            <a:off x="3356185" y="591477"/>
            <a:ext cx="85256" cy="802627"/>
          </a:xfrm>
          <a:prstGeom prst="leftBracket">
            <a:avLst>
              <a:gd name="adj" fmla="val 65305"/>
            </a:avLst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133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B26DA0F-B8A7-6939-0474-DCD0D39727F0}"/>
              </a:ext>
            </a:extLst>
          </p:cNvPr>
          <p:cNvCxnSpPr>
            <a:cxnSpLocks/>
          </p:cNvCxnSpPr>
          <p:nvPr/>
        </p:nvCxnSpPr>
        <p:spPr>
          <a:xfrm>
            <a:off x="3432456" y="992791"/>
            <a:ext cx="4655101" cy="0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BB1F796-26AE-C2FA-2A9F-1151F4BF9BF2}"/>
              </a:ext>
            </a:extLst>
          </p:cNvPr>
          <p:cNvCxnSpPr>
            <a:cxnSpLocks/>
          </p:cNvCxnSpPr>
          <p:nvPr/>
        </p:nvCxnSpPr>
        <p:spPr>
          <a:xfrm>
            <a:off x="3432456" y="591477"/>
            <a:ext cx="4401101" cy="0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7D49AFC-3162-95CF-70AA-0AF7D565FC2A}"/>
              </a:ext>
            </a:extLst>
          </p:cNvPr>
          <p:cNvCxnSpPr>
            <a:cxnSpLocks/>
          </p:cNvCxnSpPr>
          <p:nvPr/>
        </p:nvCxnSpPr>
        <p:spPr>
          <a:xfrm>
            <a:off x="3432456" y="1394104"/>
            <a:ext cx="4655101" cy="0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Eli Lilly and Company - Wikipedia">
            <a:extLst>
              <a:ext uri="{FF2B5EF4-FFF2-40B4-BE49-F238E27FC236}">
                <a16:creationId xmlns:a16="http://schemas.microsoft.com/office/drawing/2014/main" id="{BED69A6D-7EA1-2B2A-7C96-0BC83BD51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60" y="2552004"/>
            <a:ext cx="1277754" cy="727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4881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1" grpId="0"/>
      <p:bldP spid="12" grpId="0"/>
      <p:bldP spid="13" grpId="0"/>
      <p:bldP spid="15" grpId="0" animBg="1"/>
      <p:bldP spid="19" grpId="0"/>
      <p:bldP spid="20" grpId="0"/>
      <p:bldP spid="21" grpId="0"/>
      <p:bldP spid="23" grpId="0" animBg="1"/>
      <p:bldP spid="27" grpId="0"/>
      <p:bldP spid="28" grpId="0"/>
      <p:bldP spid="29" grpId="0"/>
      <p:bldP spid="31" grpId="0" animBg="1"/>
      <p:bldP spid="35" grpId="0"/>
      <p:bldP spid="36" grpId="0"/>
      <p:bldP spid="37" grpId="0"/>
      <p:bldP spid="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7CDE4E6A-AACC-0CC2-F12F-95E2DA7E0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>
            <a:extLst>
              <a:ext uri="{FF2B5EF4-FFF2-40B4-BE49-F238E27FC236}">
                <a16:creationId xmlns:a16="http://schemas.microsoft.com/office/drawing/2014/main" id="{10E19314-EF7F-E83E-F4C4-1CEC355AEF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5F45CA-CFB3-E31C-5270-7FCAFAB45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309" y="1165713"/>
            <a:ext cx="4219575" cy="208308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1F5C5AA-903D-1E8F-C067-873E086F211A}"/>
              </a:ext>
            </a:extLst>
          </p:cNvPr>
          <p:cNvGrpSpPr/>
          <p:nvPr/>
        </p:nvGrpSpPr>
        <p:grpSpPr>
          <a:xfrm>
            <a:off x="4594756" y="3506578"/>
            <a:ext cx="4280777" cy="830297"/>
            <a:chOff x="4594756" y="3506578"/>
            <a:chExt cx="4280777" cy="830297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D82557F-3EFD-6272-EABF-08C5CCF4321B}"/>
                </a:ext>
              </a:extLst>
            </p:cNvPr>
            <p:cNvSpPr/>
            <p:nvPr/>
          </p:nvSpPr>
          <p:spPr>
            <a:xfrm>
              <a:off x="4594756" y="3506578"/>
              <a:ext cx="1672806" cy="350305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b="1">
                  <a:cs typeface="Arial"/>
                </a:rPr>
                <a:t>Terminal Value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A5E7AA6-2BAA-9F3A-997C-6CEBACE9E0E9}"/>
                </a:ext>
              </a:extLst>
            </p:cNvPr>
            <p:cNvSpPr/>
            <p:nvPr/>
          </p:nvSpPr>
          <p:spPr>
            <a:xfrm>
              <a:off x="6580249" y="3506578"/>
              <a:ext cx="2295284" cy="339573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b="1">
                  <a:cs typeface="Arial"/>
                </a:rPr>
                <a:t>90% Confidence Interval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BC74B64-6D6F-ED1A-09EA-F91BEEF7335C}"/>
                </a:ext>
              </a:extLst>
            </p:cNvPr>
            <p:cNvSpPr/>
            <p:nvPr/>
          </p:nvSpPr>
          <p:spPr>
            <a:xfrm>
              <a:off x="4892339" y="3948056"/>
              <a:ext cx="1048389" cy="388819"/>
            </a:xfrm>
            <a:prstGeom prst="roundRect">
              <a:avLst/>
            </a:prstGeom>
            <a:ln>
              <a:solidFill>
                <a:srgbClr val="25406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b="1"/>
                <a:t>$954.79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CECCC12-0D11-8157-1880-5BF6EFF333AB}"/>
                </a:ext>
              </a:extLst>
            </p:cNvPr>
            <p:cNvSpPr/>
            <p:nvPr/>
          </p:nvSpPr>
          <p:spPr>
            <a:xfrm>
              <a:off x="6749043" y="3948056"/>
              <a:ext cx="1917712" cy="378087"/>
            </a:xfrm>
            <a:prstGeom prst="roundRect">
              <a:avLst/>
            </a:prstGeom>
            <a:ln>
              <a:solidFill>
                <a:srgbClr val="25406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b="1">
                  <a:cs typeface="Arial"/>
                </a:rPr>
                <a:t>$632.66 - $1366.79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73B9149-56E6-1D85-FC93-78BB6D0656F2}"/>
              </a:ext>
            </a:extLst>
          </p:cNvPr>
          <p:cNvGrpSpPr/>
          <p:nvPr/>
        </p:nvGrpSpPr>
        <p:grpSpPr>
          <a:xfrm>
            <a:off x="104361" y="938800"/>
            <a:ext cx="4179404" cy="3543300"/>
            <a:chOff x="104361" y="938800"/>
            <a:chExt cx="4179404" cy="3543300"/>
          </a:xfrm>
        </p:grpSpPr>
        <p:sp>
          <p:nvSpPr>
            <p:cNvPr id="11" name="Rectangle: Diagonal Corners Snipped 10">
              <a:extLst>
                <a:ext uri="{FF2B5EF4-FFF2-40B4-BE49-F238E27FC236}">
                  <a16:creationId xmlns:a16="http://schemas.microsoft.com/office/drawing/2014/main" id="{5F727EAF-83AB-84BC-87E8-2DA900A7345C}"/>
                </a:ext>
              </a:extLst>
            </p:cNvPr>
            <p:cNvSpPr/>
            <p:nvPr/>
          </p:nvSpPr>
          <p:spPr>
            <a:xfrm>
              <a:off x="104361" y="938800"/>
              <a:ext cx="4179404" cy="3543300"/>
            </a:xfrm>
            <a:prstGeom prst="snip2DiagRect">
              <a:avLst>
                <a:gd name="adj1" fmla="val 0"/>
                <a:gd name="adj2" fmla="val 9935"/>
              </a:avLst>
            </a:prstGeom>
            <a:ln>
              <a:solidFill>
                <a:srgbClr val="25406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507629C-E77F-094C-BD8C-3C77E589C171}"/>
                </a:ext>
              </a:extLst>
            </p:cNvPr>
            <p:cNvSpPr/>
            <p:nvPr/>
          </p:nvSpPr>
          <p:spPr>
            <a:xfrm>
              <a:off x="919370" y="2355054"/>
              <a:ext cx="1073425" cy="710792"/>
            </a:xfrm>
            <a:prstGeom prst="roundRect">
              <a:avLst/>
            </a:prstGeom>
            <a:ln>
              <a:solidFill>
                <a:srgbClr val="25406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b="1"/>
                <a:t>$1046.5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FB18A25-808A-4550-930E-32EF81F240AD}"/>
                </a:ext>
              </a:extLst>
            </p:cNvPr>
            <p:cNvSpPr/>
            <p:nvPr/>
          </p:nvSpPr>
          <p:spPr>
            <a:xfrm>
              <a:off x="932086" y="3540225"/>
              <a:ext cx="1080587" cy="710792"/>
            </a:xfrm>
            <a:prstGeom prst="roundRect">
              <a:avLst/>
            </a:prstGeom>
            <a:ln>
              <a:solidFill>
                <a:srgbClr val="25406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b="1"/>
                <a:t>$687.4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A83F4838-CFAB-6BD8-A7A7-6BA40D7ED26A}"/>
                </a:ext>
              </a:extLst>
            </p:cNvPr>
            <p:cNvSpPr/>
            <p:nvPr/>
          </p:nvSpPr>
          <p:spPr>
            <a:xfrm rot="16200000">
              <a:off x="-914341" y="2496758"/>
              <a:ext cx="3081133" cy="427384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Scenario Analysis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3663666-A6E6-4F81-FFB7-D8FA9F3A4CAC}"/>
                </a:ext>
              </a:extLst>
            </p:cNvPr>
            <p:cNvSpPr/>
            <p:nvPr/>
          </p:nvSpPr>
          <p:spPr>
            <a:xfrm>
              <a:off x="2104841" y="3736566"/>
              <a:ext cx="824947" cy="318109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Bear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52D77C84-F3B0-E33D-21B0-8A952B4A8A23}"/>
                </a:ext>
              </a:extLst>
            </p:cNvPr>
            <p:cNvSpPr/>
            <p:nvPr/>
          </p:nvSpPr>
          <p:spPr>
            <a:xfrm>
              <a:off x="2104840" y="2551395"/>
              <a:ext cx="824947" cy="318109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Base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0B7E6AF-54AE-012D-4840-C88E25D014BD}"/>
                </a:ext>
              </a:extLst>
            </p:cNvPr>
            <p:cNvSpPr/>
            <p:nvPr/>
          </p:nvSpPr>
          <p:spPr>
            <a:xfrm>
              <a:off x="2104839" y="1373737"/>
              <a:ext cx="824947" cy="318109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Bull</a:t>
              </a:r>
            </a:p>
          </p:txBody>
        </p:sp>
        <p:sp>
          <p:nvSpPr>
            <p:cNvPr id="18" name="Arrow: Up 17">
              <a:extLst>
                <a:ext uri="{FF2B5EF4-FFF2-40B4-BE49-F238E27FC236}">
                  <a16:creationId xmlns:a16="http://schemas.microsoft.com/office/drawing/2014/main" id="{00ED4478-CDB5-2218-BC0F-330B20B8E041}"/>
                </a:ext>
              </a:extLst>
            </p:cNvPr>
            <p:cNvSpPr/>
            <p:nvPr/>
          </p:nvSpPr>
          <p:spPr>
            <a:xfrm>
              <a:off x="3150734" y="1267792"/>
              <a:ext cx="327992" cy="521749"/>
            </a:xfrm>
            <a:prstGeom prst="upArrow">
              <a:avLst/>
            </a:prstGeom>
            <a:solidFill>
              <a:schemeClr val="accent3"/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3B677BCC-FFA8-383C-E7C6-E63C2282C5FA}"/>
                </a:ext>
              </a:extLst>
            </p:cNvPr>
            <p:cNvSpPr/>
            <p:nvPr/>
          </p:nvSpPr>
          <p:spPr>
            <a:xfrm>
              <a:off x="927176" y="1177396"/>
              <a:ext cx="1073425" cy="710792"/>
            </a:xfrm>
            <a:prstGeom prst="roundRect">
              <a:avLst/>
            </a:prstGeom>
            <a:ln>
              <a:solidFill>
                <a:srgbClr val="25406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b="1" dirty="0"/>
                <a:t>$1191.1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EECE2FF-0DC5-687E-D828-686F0341C3D0}"/>
                </a:ext>
              </a:extLst>
            </p:cNvPr>
            <p:cNvSpPr txBox="1"/>
            <p:nvPr/>
          </p:nvSpPr>
          <p:spPr>
            <a:xfrm>
              <a:off x="3518452" y="1351483"/>
              <a:ext cx="715617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b="1" dirty="0"/>
                <a:t>45.3%</a:t>
              </a:r>
            </a:p>
          </p:txBody>
        </p:sp>
        <p:sp>
          <p:nvSpPr>
            <p:cNvPr id="21" name="Arrow: Up 20">
              <a:extLst>
                <a:ext uri="{FF2B5EF4-FFF2-40B4-BE49-F238E27FC236}">
                  <a16:creationId xmlns:a16="http://schemas.microsoft.com/office/drawing/2014/main" id="{D68D96EA-E474-0E12-2313-DDA5667E61F0}"/>
                </a:ext>
              </a:extLst>
            </p:cNvPr>
            <p:cNvSpPr/>
            <p:nvPr/>
          </p:nvSpPr>
          <p:spPr>
            <a:xfrm>
              <a:off x="3149562" y="2431082"/>
              <a:ext cx="327992" cy="521749"/>
            </a:xfrm>
            <a:prstGeom prst="upArrow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12BF70-5FEE-C318-1EF5-314B305187E4}"/>
                </a:ext>
              </a:extLst>
            </p:cNvPr>
            <p:cNvSpPr txBox="1"/>
            <p:nvPr/>
          </p:nvSpPr>
          <p:spPr>
            <a:xfrm>
              <a:off x="3518452" y="2551395"/>
              <a:ext cx="715617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b="1"/>
                <a:t>27.9%</a:t>
              </a:r>
            </a:p>
          </p:txBody>
        </p:sp>
        <p:sp>
          <p:nvSpPr>
            <p:cNvPr id="23" name="Arrow: Up 22">
              <a:extLst>
                <a:ext uri="{FF2B5EF4-FFF2-40B4-BE49-F238E27FC236}">
                  <a16:creationId xmlns:a16="http://schemas.microsoft.com/office/drawing/2014/main" id="{880FE30B-4ECA-5F91-8D7B-A01440CB1BEB}"/>
                </a:ext>
              </a:extLst>
            </p:cNvPr>
            <p:cNvSpPr/>
            <p:nvPr/>
          </p:nvSpPr>
          <p:spPr>
            <a:xfrm rot="10800000">
              <a:off x="3143908" y="3591495"/>
              <a:ext cx="327992" cy="521749"/>
            </a:xfrm>
            <a:prstGeom prst="upArrow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8AA2F03-7AD9-C956-2368-D8A0F6D642B8}"/>
                </a:ext>
              </a:extLst>
            </p:cNvPr>
            <p:cNvSpPr txBox="1"/>
            <p:nvPr/>
          </p:nvSpPr>
          <p:spPr>
            <a:xfrm>
              <a:off x="3518452" y="3675186"/>
              <a:ext cx="715617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b="1"/>
                <a:t>15.9%</a:t>
              </a:r>
            </a:p>
          </p:txBody>
        </p:sp>
      </p:grpSp>
      <p:sp>
        <p:nvSpPr>
          <p:cNvPr id="134" name="Google Shape;130;p17">
            <a:extLst>
              <a:ext uri="{FF2B5EF4-FFF2-40B4-BE49-F238E27FC236}">
                <a16:creationId xmlns:a16="http://schemas.microsoft.com/office/drawing/2014/main" id="{E486FFCC-ABD9-54CA-F936-C013234330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1987" y="180784"/>
            <a:ext cx="6999900" cy="59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800" b="1">
                <a:solidFill>
                  <a:srgbClr val="1D1D1D"/>
                </a:solidFill>
              </a:rPr>
              <a:t>Valuation of LLY</a:t>
            </a:r>
            <a:endParaRPr lang="en-GB" sz="3800"/>
          </a:p>
        </p:txBody>
      </p:sp>
      <p:pic>
        <p:nvPicPr>
          <p:cNvPr id="2" name="Picture 1" descr="A close-up of a graph&#10;&#10;AI-generated content may be incorrect.">
            <a:extLst>
              <a:ext uri="{FF2B5EF4-FFF2-40B4-BE49-F238E27FC236}">
                <a16:creationId xmlns:a16="http://schemas.microsoft.com/office/drawing/2014/main" id="{4F79C978-9CC3-86B8-3F98-7E9B31B1D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87816"/>
            <a:ext cx="9144000" cy="147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06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title"/>
          </p:nvPr>
        </p:nvSpPr>
        <p:spPr>
          <a:xfrm>
            <a:off x="2786056" y="198094"/>
            <a:ext cx="3780182" cy="59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800" b="1">
                <a:solidFill>
                  <a:srgbClr val="1D1D1D"/>
                </a:solidFill>
              </a:rPr>
              <a:t>Valuation of ABBV </a:t>
            </a:r>
            <a:endParaRPr lang="en-US" sz="3800"/>
          </a:p>
        </p:txBody>
      </p:sp>
      <p:sp>
        <p:nvSpPr>
          <p:cNvPr id="138" name="Google Shape;138;p1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39" name="Google Shape;139;p18" title="ABBV_M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1558" y="1141324"/>
            <a:ext cx="4176725" cy="207952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4AD9910-25F2-2AEE-F2B2-1DAB54E1F0B6}"/>
              </a:ext>
            </a:extLst>
          </p:cNvPr>
          <p:cNvGrpSpPr/>
          <p:nvPr/>
        </p:nvGrpSpPr>
        <p:grpSpPr>
          <a:xfrm>
            <a:off x="4641120" y="3501804"/>
            <a:ext cx="4280777" cy="830297"/>
            <a:chOff x="4594756" y="3506578"/>
            <a:chExt cx="4280777" cy="83029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A7DEA85-8A14-62A3-6923-8D81C176A7A6}"/>
                </a:ext>
              </a:extLst>
            </p:cNvPr>
            <p:cNvSpPr/>
            <p:nvPr/>
          </p:nvSpPr>
          <p:spPr>
            <a:xfrm>
              <a:off x="4594756" y="3506578"/>
              <a:ext cx="1672806" cy="350305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b="1">
                  <a:cs typeface="Arial"/>
                </a:rPr>
                <a:t>Terminal Value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096D928-DB7A-795D-539B-887EA122A72E}"/>
                </a:ext>
              </a:extLst>
            </p:cNvPr>
            <p:cNvSpPr/>
            <p:nvPr/>
          </p:nvSpPr>
          <p:spPr>
            <a:xfrm>
              <a:off x="6580249" y="3506578"/>
              <a:ext cx="2295284" cy="339573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b="1">
                  <a:cs typeface="Arial"/>
                </a:rPr>
                <a:t>90% Confidence Interval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16F93F8-90EB-36F6-7B70-B16C9EA19F04}"/>
                </a:ext>
              </a:extLst>
            </p:cNvPr>
            <p:cNvSpPr/>
            <p:nvPr/>
          </p:nvSpPr>
          <p:spPr>
            <a:xfrm>
              <a:off x="4892339" y="3948056"/>
              <a:ext cx="1048389" cy="388819"/>
            </a:xfrm>
            <a:prstGeom prst="roundRect">
              <a:avLst/>
            </a:prstGeom>
            <a:ln>
              <a:solidFill>
                <a:srgbClr val="25406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b="1"/>
                <a:t>$206.68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60D91C7-E43A-D101-8CB0-BF24C0A5664C}"/>
                </a:ext>
              </a:extLst>
            </p:cNvPr>
            <p:cNvSpPr/>
            <p:nvPr/>
          </p:nvSpPr>
          <p:spPr>
            <a:xfrm>
              <a:off x="6749043" y="3948056"/>
              <a:ext cx="1917712" cy="378087"/>
            </a:xfrm>
            <a:prstGeom prst="roundRect">
              <a:avLst/>
            </a:prstGeom>
            <a:ln>
              <a:solidFill>
                <a:srgbClr val="25406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b="1">
                  <a:cs typeface="Arial"/>
                </a:rPr>
                <a:t>$148.95 - $277.64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23386AE-4D8D-A3C3-A237-1D0A40659B89}"/>
              </a:ext>
            </a:extLst>
          </p:cNvPr>
          <p:cNvGrpSpPr/>
          <p:nvPr/>
        </p:nvGrpSpPr>
        <p:grpSpPr>
          <a:xfrm>
            <a:off x="104361" y="938800"/>
            <a:ext cx="4179404" cy="3543300"/>
            <a:chOff x="104361" y="938800"/>
            <a:chExt cx="4179404" cy="3543300"/>
          </a:xfrm>
        </p:grpSpPr>
        <p:sp>
          <p:nvSpPr>
            <p:cNvPr id="13" name="Rectangle: Diagonal Corners Snipped 12">
              <a:extLst>
                <a:ext uri="{FF2B5EF4-FFF2-40B4-BE49-F238E27FC236}">
                  <a16:creationId xmlns:a16="http://schemas.microsoft.com/office/drawing/2014/main" id="{9C3F70DB-D512-8C9A-319D-4E3CF4394FD2}"/>
                </a:ext>
              </a:extLst>
            </p:cNvPr>
            <p:cNvSpPr/>
            <p:nvPr/>
          </p:nvSpPr>
          <p:spPr>
            <a:xfrm>
              <a:off x="104361" y="938800"/>
              <a:ext cx="4179404" cy="3543300"/>
            </a:xfrm>
            <a:prstGeom prst="snip2DiagRect">
              <a:avLst>
                <a:gd name="adj1" fmla="val 0"/>
                <a:gd name="adj2" fmla="val 9935"/>
              </a:avLst>
            </a:prstGeom>
            <a:ln>
              <a:solidFill>
                <a:srgbClr val="25406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8E5BDB10-C496-E4C8-CA5D-C111733C0394}"/>
                </a:ext>
              </a:extLst>
            </p:cNvPr>
            <p:cNvSpPr/>
            <p:nvPr/>
          </p:nvSpPr>
          <p:spPr>
            <a:xfrm>
              <a:off x="919370" y="2355054"/>
              <a:ext cx="1073425" cy="710792"/>
            </a:xfrm>
            <a:prstGeom prst="roundRect">
              <a:avLst/>
            </a:prstGeom>
            <a:ln>
              <a:solidFill>
                <a:srgbClr val="25406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b="1"/>
                <a:t>$194.84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4A7219A-E61D-5133-721E-10CDBC337261}"/>
                </a:ext>
              </a:extLst>
            </p:cNvPr>
            <p:cNvSpPr/>
            <p:nvPr/>
          </p:nvSpPr>
          <p:spPr>
            <a:xfrm>
              <a:off x="932086" y="3540225"/>
              <a:ext cx="1080587" cy="710792"/>
            </a:xfrm>
            <a:prstGeom prst="roundRect">
              <a:avLst/>
            </a:prstGeom>
            <a:ln>
              <a:solidFill>
                <a:srgbClr val="25406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b="1"/>
                <a:t>$150.93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7EC73CF-DE12-1543-E76B-9DAEAF0566F6}"/>
                </a:ext>
              </a:extLst>
            </p:cNvPr>
            <p:cNvSpPr/>
            <p:nvPr/>
          </p:nvSpPr>
          <p:spPr>
            <a:xfrm rot="16200000">
              <a:off x="-914341" y="2496758"/>
              <a:ext cx="3081133" cy="427384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Scenario Analysis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54CA2E70-E0FB-F911-5BF9-ED5942B4F76B}"/>
                </a:ext>
              </a:extLst>
            </p:cNvPr>
            <p:cNvSpPr/>
            <p:nvPr/>
          </p:nvSpPr>
          <p:spPr>
            <a:xfrm>
              <a:off x="2104841" y="3736566"/>
              <a:ext cx="824947" cy="318109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Bear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75BEC42-0391-ABE5-4D32-D466105ED3E2}"/>
                </a:ext>
              </a:extLst>
            </p:cNvPr>
            <p:cNvSpPr/>
            <p:nvPr/>
          </p:nvSpPr>
          <p:spPr>
            <a:xfrm>
              <a:off x="2104840" y="2551395"/>
              <a:ext cx="824947" cy="318109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Base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9F365FC2-759B-517D-2228-1F48575B0B50}"/>
                </a:ext>
              </a:extLst>
            </p:cNvPr>
            <p:cNvSpPr/>
            <p:nvPr/>
          </p:nvSpPr>
          <p:spPr>
            <a:xfrm>
              <a:off x="2104839" y="1373737"/>
              <a:ext cx="824947" cy="318109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Bull</a:t>
              </a:r>
            </a:p>
          </p:txBody>
        </p:sp>
        <p:sp>
          <p:nvSpPr>
            <p:cNvPr id="20" name="Arrow: Up 19">
              <a:extLst>
                <a:ext uri="{FF2B5EF4-FFF2-40B4-BE49-F238E27FC236}">
                  <a16:creationId xmlns:a16="http://schemas.microsoft.com/office/drawing/2014/main" id="{B33E31BB-C98F-158F-96FF-9E6E30C68BA1}"/>
                </a:ext>
              </a:extLst>
            </p:cNvPr>
            <p:cNvSpPr/>
            <p:nvPr/>
          </p:nvSpPr>
          <p:spPr>
            <a:xfrm>
              <a:off x="3150734" y="1267792"/>
              <a:ext cx="327992" cy="521749"/>
            </a:xfrm>
            <a:prstGeom prst="upArrow">
              <a:avLst/>
            </a:prstGeom>
            <a:solidFill>
              <a:schemeClr val="accent3"/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90D2393F-19FF-2F2E-6957-94ED81DFCCBD}"/>
                </a:ext>
              </a:extLst>
            </p:cNvPr>
            <p:cNvSpPr/>
            <p:nvPr/>
          </p:nvSpPr>
          <p:spPr>
            <a:xfrm>
              <a:off x="927176" y="1177396"/>
              <a:ext cx="1073425" cy="710792"/>
            </a:xfrm>
            <a:prstGeom prst="roundRect">
              <a:avLst/>
            </a:prstGeom>
            <a:ln>
              <a:solidFill>
                <a:srgbClr val="25406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b="1"/>
                <a:t>$220.94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B849EB7-D65E-8FB0-55C4-3A62B6E8C9B3}"/>
                </a:ext>
              </a:extLst>
            </p:cNvPr>
            <p:cNvSpPr txBox="1"/>
            <p:nvPr/>
          </p:nvSpPr>
          <p:spPr>
            <a:xfrm>
              <a:off x="3518452" y="1351483"/>
              <a:ext cx="715617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b="1"/>
                <a:t>18.8%</a:t>
              </a:r>
            </a:p>
          </p:txBody>
        </p:sp>
        <p:sp>
          <p:nvSpPr>
            <p:cNvPr id="23" name="Arrow: Up 22">
              <a:extLst>
                <a:ext uri="{FF2B5EF4-FFF2-40B4-BE49-F238E27FC236}">
                  <a16:creationId xmlns:a16="http://schemas.microsoft.com/office/drawing/2014/main" id="{C5AA8FFB-145A-9986-DBDB-A7A21F6EDC82}"/>
                </a:ext>
              </a:extLst>
            </p:cNvPr>
            <p:cNvSpPr/>
            <p:nvPr/>
          </p:nvSpPr>
          <p:spPr>
            <a:xfrm>
              <a:off x="3149562" y="2431082"/>
              <a:ext cx="327992" cy="521749"/>
            </a:xfrm>
            <a:prstGeom prst="upArrow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47D547C-ACAF-543C-D1CB-6AC63281FDE3}"/>
                </a:ext>
              </a:extLst>
            </p:cNvPr>
            <p:cNvSpPr txBox="1"/>
            <p:nvPr/>
          </p:nvSpPr>
          <p:spPr>
            <a:xfrm>
              <a:off x="3518452" y="2551395"/>
              <a:ext cx="715617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b="1"/>
                <a:t>4.7%</a:t>
              </a:r>
            </a:p>
          </p:txBody>
        </p:sp>
        <p:sp>
          <p:nvSpPr>
            <p:cNvPr id="25" name="Arrow: Up 24">
              <a:extLst>
                <a:ext uri="{FF2B5EF4-FFF2-40B4-BE49-F238E27FC236}">
                  <a16:creationId xmlns:a16="http://schemas.microsoft.com/office/drawing/2014/main" id="{CDBA01C6-C8A8-7468-946B-3852D6E0E903}"/>
                </a:ext>
              </a:extLst>
            </p:cNvPr>
            <p:cNvSpPr/>
            <p:nvPr/>
          </p:nvSpPr>
          <p:spPr>
            <a:xfrm rot="10800000">
              <a:off x="3143908" y="3591495"/>
              <a:ext cx="327992" cy="521749"/>
            </a:xfrm>
            <a:prstGeom prst="upArrow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2F20F4E-630F-DC2F-3627-BA97FD4E5A4C}"/>
                </a:ext>
              </a:extLst>
            </p:cNvPr>
            <p:cNvSpPr txBox="1"/>
            <p:nvPr/>
          </p:nvSpPr>
          <p:spPr>
            <a:xfrm>
              <a:off x="3518452" y="3675186"/>
              <a:ext cx="715617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b="1"/>
                <a:t>18.9%</a:t>
              </a:r>
            </a:p>
          </p:txBody>
        </p:sp>
      </p:grpSp>
      <p:pic>
        <p:nvPicPr>
          <p:cNvPr id="2" name="Picture 1" descr="A close-up of a graph&#10;&#10;AI-generated content may be incorrect.">
            <a:extLst>
              <a:ext uri="{FF2B5EF4-FFF2-40B4-BE49-F238E27FC236}">
                <a16:creationId xmlns:a16="http://schemas.microsoft.com/office/drawing/2014/main" id="{37450382-4585-463D-BB7B-FB3B13AD3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87369"/>
            <a:ext cx="9144000" cy="15433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>
            <a:spLocks noGrp="1"/>
          </p:cNvSpPr>
          <p:nvPr>
            <p:ph type="title"/>
          </p:nvPr>
        </p:nvSpPr>
        <p:spPr>
          <a:xfrm>
            <a:off x="1091987" y="180784"/>
            <a:ext cx="6999900" cy="59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800" b="1">
                <a:solidFill>
                  <a:srgbClr val="1D1D1D"/>
                </a:solidFill>
              </a:rPr>
              <a:t>Valuation of JNJ</a:t>
            </a:r>
            <a:endParaRPr lang="en-GB" sz="3800"/>
          </a:p>
        </p:txBody>
      </p:sp>
      <p:sp>
        <p:nvSpPr>
          <p:cNvPr id="131" name="Google Shape;131;p1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32" name="Google Shape;132;p17" title="JNJ_M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1937" y="1166206"/>
            <a:ext cx="4311376" cy="21284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351DF618-43DC-C377-B838-2D86CC943960}"/>
              </a:ext>
            </a:extLst>
          </p:cNvPr>
          <p:cNvGrpSpPr/>
          <p:nvPr/>
        </p:nvGrpSpPr>
        <p:grpSpPr>
          <a:xfrm>
            <a:off x="104361" y="938800"/>
            <a:ext cx="4179404" cy="3543300"/>
            <a:chOff x="104361" y="938800"/>
            <a:chExt cx="4179404" cy="3543300"/>
          </a:xfrm>
        </p:grpSpPr>
        <p:sp>
          <p:nvSpPr>
            <p:cNvPr id="19" name="Rectangle: Diagonal Corners Snipped 18">
              <a:extLst>
                <a:ext uri="{FF2B5EF4-FFF2-40B4-BE49-F238E27FC236}">
                  <a16:creationId xmlns:a16="http://schemas.microsoft.com/office/drawing/2014/main" id="{984DEC53-F7AE-F30B-5242-4C004E7E723C}"/>
                </a:ext>
              </a:extLst>
            </p:cNvPr>
            <p:cNvSpPr/>
            <p:nvPr/>
          </p:nvSpPr>
          <p:spPr>
            <a:xfrm>
              <a:off x="104361" y="938800"/>
              <a:ext cx="4179404" cy="3543300"/>
            </a:xfrm>
            <a:prstGeom prst="snip2DiagRect">
              <a:avLst>
                <a:gd name="adj1" fmla="val 0"/>
                <a:gd name="adj2" fmla="val 9935"/>
              </a:avLst>
            </a:prstGeom>
            <a:ln>
              <a:solidFill>
                <a:srgbClr val="25406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DFA9634-4377-8C44-CA32-010813C0BC5E}"/>
                </a:ext>
              </a:extLst>
            </p:cNvPr>
            <p:cNvSpPr/>
            <p:nvPr/>
          </p:nvSpPr>
          <p:spPr>
            <a:xfrm>
              <a:off x="919370" y="2355054"/>
              <a:ext cx="1073425" cy="710792"/>
            </a:xfrm>
            <a:prstGeom prst="roundRect">
              <a:avLst/>
            </a:prstGeom>
            <a:ln>
              <a:solidFill>
                <a:srgbClr val="25406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$181.3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102E47B-AB73-5677-16FD-75F78D553B7C}"/>
                </a:ext>
              </a:extLst>
            </p:cNvPr>
            <p:cNvSpPr/>
            <p:nvPr/>
          </p:nvSpPr>
          <p:spPr>
            <a:xfrm>
              <a:off x="932086" y="3540225"/>
              <a:ext cx="1080587" cy="710792"/>
            </a:xfrm>
            <a:prstGeom prst="roundRect">
              <a:avLst/>
            </a:prstGeom>
            <a:ln>
              <a:solidFill>
                <a:srgbClr val="25406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$134.4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B69794C-B288-2A93-1433-187C0AE830F1}"/>
                </a:ext>
              </a:extLst>
            </p:cNvPr>
            <p:cNvSpPr/>
            <p:nvPr/>
          </p:nvSpPr>
          <p:spPr>
            <a:xfrm rot="16200000">
              <a:off x="-914341" y="2496758"/>
              <a:ext cx="3081133" cy="427384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Scenario Analysis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7C1B47C-A6BC-0977-0F0F-E9D5A5F946D4}"/>
                </a:ext>
              </a:extLst>
            </p:cNvPr>
            <p:cNvSpPr/>
            <p:nvPr/>
          </p:nvSpPr>
          <p:spPr>
            <a:xfrm>
              <a:off x="2104841" y="3736566"/>
              <a:ext cx="824947" cy="318109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Bear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4DE30CC-D0F2-EF52-2982-093C3F532652}"/>
                </a:ext>
              </a:extLst>
            </p:cNvPr>
            <p:cNvSpPr/>
            <p:nvPr/>
          </p:nvSpPr>
          <p:spPr>
            <a:xfrm>
              <a:off x="2104840" y="2551395"/>
              <a:ext cx="824947" cy="318109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Base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E507546-F115-CA7D-4708-03CAB72BA24C}"/>
                </a:ext>
              </a:extLst>
            </p:cNvPr>
            <p:cNvSpPr/>
            <p:nvPr/>
          </p:nvSpPr>
          <p:spPr>
            <a:xfrm>
              <a:off x="2104839" y="1373737"/>
              <a:ext cx="824947" cy="318109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Bull</a:t>
              </a:r>
            </a:p>
          </p:txBody>
        </p:sp>
        <p:sp>
          <p:nvSpPr>
            <p:cNvPr id="10" name="Arrow: Up 9">
              <a:extLst>
                <a:ext uri="{FF2B5EF4-FFF2-40B4-BE49-F238E27FC236}">
                  <a16:creationId xmlns:a16="http://schemas.microsoft.com/office/drawing/2014/main" id="{7C64DC74-BCDB-808E-3286-7837B9023AFD}"/>
                </a:ext>
              </a:extLst>
            </p:cNvPr>
            <p:cNvSpPr/>
            <p:nvPr/>
          </p:nvSpPr>
          <p:spPr>
            <a:xfrm>
              <a:off x="3150734" y="1267792"/>
              <a:ext cx="327992" cy="521749"/>
            </a:xfrm>
            <a:prstGeom prst="upArrow">
              <a:avLst/>
            </a:prstGeom>
            <a:solidFill>
              <a:schemeClr val="accent3"/>
            </a:solidFill>
            <a:ln w="3175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5DF18584-2C99-8561-2657-7DBF388DF4EE}"/>
                </a:ext>
              </a:extLst>
            </p:cNvPr>
            <p:cNvSpPr/>
            <p:nvPr/>
          </p:nvSpPr>
          <p:spPr>
            <a:xfrm>
              <a:off x="927176" y="1177396"/>
              <a:ext cx="1073425" cy="710792"/>
            </a:xfrm>
            <a:prstGeom prst="roundRect">
              <a:avLst/>
            </a:prstGeom>
            <a:ln>
              <a:solidFill>
                <a:srgbClr val="25406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$203.7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D323AB-D3E6-36FB-503C-7B07F6462CAF}"/>
                </a:ext>
              </a:extLst>
            </p:cNvPr>
            <p:cNvSpPr txBox="1"/>
            <p:nvPr/>
          </p:nvSpPr>
          <p:spPr>
            <a:xfrm>
              <a:off x="3518452" y="1351483"/>
              <a:ext cx="7156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/>
                <a:t>31.4%</a:t>
              </a:r>
            </a:p>
          </p:txBody>
        </p:sp>
        <p:sp>
          <p:nvSpPr>
            <p:cNvPr id="14" name="Arrow: Up 13">
              <a:extLst>
                <a:ext uri="{FF2B5EF4-FFF2-40B4-BE49-F238E27FC236}">
                  <a16:creationId xmlns:a16="http://schemas.microsoft.com/office/drawing/2014/main" id="{6987498C-6A84-AAF6-48AA-613D8F502384}"/>
                </a:ext>
              </a:extLst>
            </p:cNvPr>
            <p:cNvSpPr/>
            <p:nvPr/>
          </p:nvSpPr>
          <p:spPr>
            <a:xfrm>
              <a:off x="3149562" y="2431082"/>
              <a:ext cx="327992" cy="521749"/>
            </a:xfrm>
            <a:prstGeom prst="upArrow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E4D4A43-2A26-A47D-64FA-0FF551886C6A}"/>
                </a:ext>
              </a:extLst>
            </p:cNvPr>
            <p:cNvSpPr txBox="1"/>
            <p:nvPr/>
          </p:nvSpPr>
          <p:spPr>
            <a:xfrm>
              <a:off x="3518452" y="2551395"/>
              <a:ext cx="7156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/>
                <a:t>16.9%</a:t>
              </a:r>
            </a:p>
          </p:txBody>
        </p:sp>
        <p:sp>
          <p:nvSpPr>
            <p:cNvPr id="16" name="Arrow: Up 15">
              <a:extLst>
                <a:ext uri="{FF2B5EF4-FFF2-40B4-BE49-F238E27FC236}">
                  <a16:creationId xmlns:a16="http://schemas.microsoft.com/office/drawing/2014/main" id="{447B4D70-2EC4-B511-3124-136BC9176DE5}"/>
                </a:ext>
              </a:extLst>
            </p:cNvPr>
            <p:cNvSpPr/>
            <p:nvPr/>
          </p:nvSpPr>
          <p:spPr>
            <a:xfrm rot="10800000">
              <a:off x="3143908" y="3591495"/>
              <a:ext cx="327992" cy="521749"/>
            </a:xfrm>
            <a:prstGeom prst="upArrow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7FECEA3-D0A4-FEE3-1B75-C053EF7D0707}"/>
                </a:ext>
              </a:extLst>
            </p:cNvPr>
            <p:cNvSpPr txBox="1"/>
            <p:nvPr/>
          </p:nvSpPr>
          <p:spPr>
            <a:xfrm>
              <a:off x="3518452" y="3675186"/>
              <a:ext cx="7156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/>
                <a:t>13.3%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26C7557-99EE-357C-40BA-E6C383A639ED}"/>
              </a:ext>
            </a:extLst>
          </p:cNvPr>
          <p:cNvGrpSpPr/>
          <p:nvPr/>
        </p:nvGrpSpPr>
        <p:grpSpPr>
          <a:xfrm>
            <a:off x="4594756" y="3506578"/>
            <a:ext cx="4280777" cy="830297"/>
            <a:chOff x="4594756" y="3506578"/>
            <a:chExt cx="4280777" cy="83029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93560F43-72A7-5A71-2AA4-8D5786B13AEE}"/>
                </a:ext>
              </a:extLst>
            </p:cNvPr>
            <p:cNvSpPr/>
            <p:nvPr/>
          </p:nvSpPr>
          <p:spPr>
            <a:xfrm>
              <a:off x="4594756" y="3506578"/>
              <a:ext cx="1672806" cy="350305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b="1">
                  <a:cs typeface="Arial"/>
                </a:rPr>
                <a:t>Terminal Value</a:t>
              </a: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4D8D784E-CD6D-B965-57F3-4D201464BA3E}"/>
                </a:ext>
              </a:extLst>
            </p:cNvPr>
            <p:cNvSpPr/>
            <p:nvPr/>
          </p:nvSpPr>
          <p:spPr>
            <a:xfrm>
              <a:off x="6580249" y="3506578"/>
              <a:ext cx="2295284" cy="339573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b="1">
                  <a:cs typeface="Arial"/>
                </a:rPr>
                <a:t>90% Confidence Interval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813541C4-F14F-FA79-8A66-F2B7F3206D51}"/>
                </a:ext>
              </a:extLst>
            </p:cNvPr>
            <p:cNvSpPr/>
            <p:nvPr/>
          </p:nvSpPr>
          <p:spPr>
            <a:xfrm>
              <a:off x="4892339" y="3948056"/>
              <a:ext cx="1048389" cy="388819"/>
            </a:xfrm>
            <a:prstGeom prst="roundRect">
              <a:avLst/>
            </a:prstGeom>
            <a:ln>
              <a:solidFill>
                <a:srgbClr val="25406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b="1"/>
                <a:t>$171.48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DBA36F0-C3E9-9F91-9D9F-ABC0C49CA318}"/>
                </a:ext>
              </a:extLst>
            </p:cNvPr>
            <p:cNvSpPr/>
            <p:nvPr/>
          </p:nvSpPr>
          <p:spPr>
            <a:xfrm>
              <a:off x="6749043" y="3948056"/>
              <a:ext cx="1917712" cy="378087"/>
            </a:xfrm>
            <a:prstGeom prst="roundRect">
              <a:avLst/>
            </a:prstGeom>
            <a:ln>
              <a:solidFill>
                <a:srgbClr val="25406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b="1">
                  <a:cs typeface="Arial"/>
                </a:rPr>
                <a:t>$133.25 - $216.42</a:t>
              </a:r>
            </a:p>
          </p:txBody>
        </p:sp>
      </p:grpSp>
      <p:pic>
        <p:nvPicPr>
          <p:cNvPr id="12" name="Picture 11" descr="A close-up of a graph&#10;&#10;AI-generated content may be incorrect.">
            <a:extLst>
              <a:ext uri="{FF2B5EF4-FFF2-40B4-BE49-F238E27FC236}">
                <a16:creationId xmlns:a16="http://schemas.microsoft.com/office/drawing/2014/main" id="{8C12EBFD-A7E1-446A-B0EF-AEAF2EC20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81832"/>
            <a:ext cx="9144000" cy="15291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>
            <a:spLocks noGrp="1"/>
          </p:cNvSpPr>
          <p:nvPr>
            <p:ph type="title"/>
          </p:nvPr>
        </p:nvSpPr>
        <p:spPr>
          <a:xfrm>
            <a:off x="1037865" y="423475"/>
            <a:ext cx="8764500" cy="59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800" b="1">
                <a:solidFill>
                  <a:srgbClr val="1D1D1D"/>
                </a:solidFill>
              </a:rPr>
              <a:t>Final Recommendation</a:t>
            </a:r>
            <a:endParaRPr lang="en-US" sz="3800"/>
          </a:p>
        </p:txBody>
      </p:sp>
      <p:sp>
        <p:nvSpPr>
          <p:cNvPr id="145" name="Google Shape;145;p1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7" name="Picture 6" descr="A blue square with black border&#10;&#10;AI-generated content may be incorrect.">
            <a:extLst>
              <a:ext uri="{FF2B5EF4-FFF2-40B4-BE49-F238E27FC236}">
                <a16:creationId xmlns:a16="http://schemas.microsoft.com/office/drawing/2014/main" id="{836BC4F1-695E-D9DA-6A56-BF3E7D63A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949" y="1064018"/>
            <a:ext cx="2875032" cy="4833803"/>
          </a:xfrm>
          <a:prstGeom prst="rect">
            <a:avLst/>
          </a:prstGeom>
        </p:spPr>
      </p:pic>
      <p:pic>
        <p:nvPicPr>
          <p:cNvPr id="6" name="Picture 5" descr="A yellow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EF9C1FC3-5F65-E0B9-2A5C-5B8B3238F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669" y="1054383"/>
            <a:ext cx="2896585" cy="4862340"/>
          </a:xfrm>
          <a:prstGeom prst="rect">
            <a:avLst/>
          </a:prstGeom>
        </p:spPr>
      </p:pic>
      <p:pic>
        <p:nvPicPr>
          <p:cNvPr id="5" name="Picture 4" descr="A blue square with black border&#10;&#10;AI-generated content may be incorrect.">
            <a:extLst>
              <a:ext uri="{FF2B5EF4-FFF2-40B4-BE49-F238E27FC236}">
                <a16:creationId xmlns:a16="http://schemas.microsoft.com/office/drawing/2014/main" id="{3176D06B-C275-CD5A-14F6-E4880EFF9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140" y="1042826"/>
            <a:ext cx="2895217" cy="4869127"/>
          </a:xfrm>
          <a:prstGeom prst="rect">
            <a:avLst/>
          </a:prstGeom>
        </p:spPr>
      </p:pic>
      <p:pic>
        <p:nvPicPr>
          <p:cNvPr id="8" name="Picture 7" descr="A blue and black circle&#10;&#10;AI-generated content may be incorrect.">
            <a:extLst>
              <a:ext uri="{FF2B5EF4-FFF2-40B4-BE49-F238E27FC236}">
                <a16:creationId xmlns:a16="http://schemas.microsoft.com/office/drawing/2014/main" id="{261361FA-3DD6-22ED-32D9-58B2110EB1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5047" y="4350813"/>
            <a:ext cx="1452110" cy="1526695"/>
          </a:xfrm>
          <a:prstGeom prst="rect">
            <a:avLst/>
          </a:prstGeom>
        </p:spPr>
      </p:pic>
      <p:pic>
        <p:nvPicPr>
          <p:cNvPr id="9" name="Picture 8" descr="A blue and black circle&#10;&#10;AI-generated content may be incorrect.">
            <a:extLst>
              <a:ext uri="{FF2B5EF4-FFF2-40B4-BE49-F238E27FC236}">
                <a16:creationId xmlns:a16="http://schemas.microsoft.com/office/drawing/2014/main" id="{5F440D0E-7F1D-808A-936C-AE0C459819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7150" y="4369809"/>
            <a:ext cx="1452110" cy="1526695"/>
          </a:xfrm>
          <a:prstGeom prst="rect">
            <a:avLst/>
          </a:prstGeom>
        </p:spPr>
      </p:pic>
      <p:pic>
        <p:nvPicPr>
          <p:cNvPr id="10" name="Picture 9" descr="A yellow and black circle&#10;&#10;AI-generated content may be incorrect.">
            <a:extLst>
              <a:ext uri="{FF2B5EF4-FFF2-40B4-BE49-F238E27FC236}">
                <a16:creationId xmlns:a16="http://schemas.microsoft.com/office/drawing/2014/main" id="{EE8C79BE-BB43-5803-4F75-E438B16622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5261" y="4351725"/>
            <a:ext cx="1446234" cy="15443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E6C7CC-A409-CFFE-1AFD-04583A3EFBB1}"/>
              </a:ext>
            </a:extLst>
          </p:cNvPr>
          <p:cNvSpPr txBox="1"/>
          <p:nvPr/>
        </p:nvSpPr>
        <p:spPr>
          <a:xfrm>
            <a:off x="2878294" y="4865905"/>
            <a:ext cx="87444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kern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2E3343-11C3-2A45-3023-3F078A8A891E}"/>
              </a:ext>
            </a:extLst>
          </p:cNvPr>
          <p:cNvSpPr txBox="1"/>
          <p:nvPr/>
        </p:nvSpPr>
        <p:spPr>
          <a:xfrm>
            <a:off x="5180051" y="4865905"/>
            <a:ext cx="95083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kern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2213BC-7E50-D0AE-BEC4-209BA2613355}"/>
              </a:ext>
            </a:extLst>
          </p:cNvPr>
          <p:cNvSpPr txBox="1"/>
          <p:nvPr/>
        </p:nvSpPr>
        <p:spPr>
          <a:xfrm>
            <a:off x="7185749" y="4865905"/>
            <a:ext cx="89794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rgbClr val="FFFFFF"/>
                </a:solidFill>
                <a:latin typeface="Calibri"/>
              </a:rPr>
              <a:t>03</a:t>
            </a:r>
            <a:endParaRPr lang="en-US" sz="4800" b="1">
              <a:solidFill>
                <a:srgbClr val="FFFFFF"/>
              </a:solidFill>
              <a:ea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EE7828-5D8C-42E9-259C-A62F885060B7}"/>
              </a:ext>
            </a:extLst>
          </p:cNvPr>
          <p:cNvSpPr txBox="1"/>
          <p:nvPr/>
        </p:nvSpPr>
        <p:spPr>
          <a:xfrm>
            <a:off x="1082689" y="2421237"/>
            <a:ext cx="2831853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Eli Lilly and Company</a:t>
            </a:r>
          </a:p>
          <a:p>
            <a:pPr algn="ctr"/>
            <a:r>
              <a:rPr lang="en-GB" sz="2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(LLY)</a:t>
            </a:r>
          </a:p>
          <a:p>
            <a:pPr algn="ctr"/>
            <a:endParaRPr lang="en-GB" sz="24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GB" sz="3600" b="1" i="1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BUY</a:t>
            </a:r>
            <a:endParaRPr lang="en-GB" sz="3600" b="1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6D06CC-3BF6-949A-6381-5C69A1300BA7}"/>
              </a:ext>
            </a:extLst>
          </p:cNvPr>
          <p:cNvSpPr txBox="1"/>
          <p:nvPr/>
        </p:nvSpPr>
        <p:spPr>
          <a:xfrm>
            <a:off x="3890844" y="2421237"/>
            <a:ext cx="2195259" cy="18197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2175"/>
              </a:lnSpc>
            </a:pPr>
            <a:r>
              <a:rPr lang="en-GB" sz="2400" b="1" err="1">
                <a:solidFill>
                  <a:srgbClr val="FFFFFF"/>
                </a:solidFill>
                <a:latin typeface="Calibri"/>
                <a:cs typeface="Segoe UI"/>
              </a:rPr>
              <a:t>Abbvie</a:t>
            </a:r>
            <a:r>
              <a:rPr lang="en-GB" sz="2400" b="1">
                <a:solidFill>
                  <a:srgbClr val="FFFFFF"/>
                </a:solidFill>
                <a:latin typeface="Calibri"/>
                <a:cs typeface="Segoe UI"/>
              </a:rPr>
              <a:t> Inc.</a:t>
            </a:r>
            <a:endParaRPr lang="en-US" b="1"/>
          </a:p>
          <a:p>
            <a:pPr algn="ctr">
              <a:lnSpc>
                <a:spcPts val="2175"/>
              </a:lnSpc>
            </a:pPr>
            <a:r>
              <a:rPr lang="en-GB" sz="2400" b="1">
                <a:solidFill>
                  <a:srgbClr val="FFFFFF"/>
                </a:solidFill>
                <a:latin typeface="Calibri"/>
                <a:cs typeface="Segoe UI"/>
              </a:rPr>
              <a:t>(ABBV)</a:t>
            </a:r>
            <a:r>
              <a:rPr lang="en-GB" sz="2400" b="1">
                <a:latin typeface="Calibri"/>
                <a:cs typeface="Segoe UI"/>
              </a:rPr>
              <a:t>​</a:t>
            </a:r>
          </a:p>
          <a:p>
            <a:pPr algn="ctr">
              <a:lnSpc>
                <a:spcPts val="2175"/>
              </a:lnSpc>
            </a:pPr>
            <a:endParaRPr lang="en-GB" sz="2400" b="1">
              <a:solidFill>
                <a:srgbClr val="FFFFFF"/>
              </a:solidFill>
              <a:latin typeface="Calibri"/>
              <a:cs typeface="Segoe UI"/>
            </a:endParaRPr>
          </a:p>
          <a:p>
            <a:pPr algn="ctr">
              <a:lnSpc>
                <a:spcPts val="2175"/>
              </a:lnSpc>
            </a:pPr>
            <a:endParaRPr lang="en-GB" sz="2400" b="1">
              <a:solidFill>
                <a:srgbClr val="FFFFFF"/>
              </a:solidFill>
              <a:latin typeface="Calibri"/>
              <a:cs typeface="Segoe UI"/>
            </a:endParaRPr>
          </a:p>
          <a:p>
            <a:pPr algn="ctr">
              <a:lnSpc>
                <a:spcPts val="2175"/>
              </a:lnSpc>
            </a:pPr>
            <a:endParaRPr lang="en-GB" sz="2400" b="1" i="1">
              <a:solidFill>
                <a:schemeClr val="bg1"/>
              </a:solidFill>
              <a:latin typeface="Calibri"/>
              <a:cs typeface="Segoe UI"/>
            </a:endParaRPr>
          </a:p>
          <a:p>
            <a:pPr algn="ctr">
              <a:lnSpc>
                <a:spcPts val="2175"/>
              </a:lnSpc>
            </a:pPr>
            <a:r>
              <a:rPr lang="en-GB" sz="3600" b="1" i="1">
                <a:solidFill>
                  <a:srgbClr val="FF0000"/>
                </a:solidFill>
                <a:latin typeface="Calibri"/>
                <a:cs typeface="Segoe UI"/>
              </a:rPr>
              <a:t>SELL</a:t>
            </a:r>
            <a:endParaRPr lang="en-GB" b="1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0699D8-8CFB-7D4F-CF94-E3DB2A981197}"/>
              </a:ext>
            </a:extLst>
          </p:cNvPr>
          <p:cNvSpPr txBox="1"/>
          <p:nvPr/>
        </p:nvSpPr>
        <p:spPr>
          <a:xfrm>
            <a:off x="6069192" y="2421237"/>
            <a:ext cx="2214354" cy="18364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2175"/>
              </a:lnSpc>
            </a:pPr>
            <a:r>
              <a:rPr lang="en-GB" sz="2400" b="1">
                <a:solidFill>
                  <a:schemeClr val="bg1"/>
                </a:solidFill>
                <a:latin typeface="Calibri"/>
                <a:cs typeface="Segoe UI"/>
              </a:rPr>
              <a:t>Johnson &amp; Johnson</a:t>
            </a:r>
          </a:p>
          <a:p>
            <a:pPr algn="ctr">
              <a:lnSpc>
                <a:spcPts val="2175"/>
              </a:lnSpc>
            </a:pPr>
            <a:r>
              <a:rPr lang="en-GB" sz="2400" b="1">
                <a:solidFill>
                  <a:schemeClr val="bg1"/>
                </a:solidFill>
                <a:latin typeface="Calibri"/>
                <a:cs typeface="Segoe UI"/>
              </a:rPr>
              <a:t>(JNJ)</a:t>
            </a:r>
          </a:p>
          <a:p>
            <a:pPr algn="ctr">
              <a:lnSpc>
                <a:spcPts val="2175"/>
              </a:lnSpc>
            </a:pPr>
            <a:endParaRPr lang="en-GB" sz="2400" b="1">
              <a:solidFill>
                <a:schemeClr val="bg1"/>
              </a:solidFill>
              <a:latin typeface="Calibri"/>
              <a:cs typeface="Segoe UI"/>
            </a:endParaRPr>
          </a:p>
          <a:p>
            <a:pPr algn="ctr">
              <a:lnSpc>
                <a:spcPts val="2175"/>
              </a:lnSpc>
            </a:pPr>
            <a:endParaRPr lang="en-GB" sz="2400" b="1">
              <a:solidFill>
                <a:schemeClr val="bg1"/>
              </a:solidFill>
              <a:latin typeface="Calibri"/>
              <a:cs typeface="Segoe UI"/>
            </a:endParaRPr>
          </a:p>
          <a:p>
            <a:pPr algn="ctr">
              <a:lnSpc>
                <a:spcPts val="2175"/>
              </a:lnSpc>
            </a:pPr>
            <a:r>
              <a:rPr lang="en-GB" sz="3600" b="1" i="1">
                <a:solidFill>
                  <a:srgbClr val="FFC000"/>
                </a:solidFill>
                <a:latin typeface="Calibri"/>
                <a:cs typeface="Segoe UI"/>
              </a:rPr>
              <a:t>HOLD</a:t>
            </a:r>
            <a:endParaRPr lang="en-GB" sz="2400" b="1" i="1">
              <a:solidFill>
                <a:srgbClr val="FFC000"/>
              </a:solidFill>
              <a:latin typeface="Calibri"/>
              <a:cs typeface="Sego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51" name="Google Shape;151;p20"/>
          <p:cNvSpPr txBox="1"/>
          <p:nvPr/>
        </p:nvSpPr>
        <p:spPr>
          <a:xfrm>
            <a:off x="2822700" y="2060625"/>
            <a:ext cx="3498600" cy="22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7000" b="1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66666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9BD5F4B214B24087EB8478293137F1" ma:contentTypeVersion="15" ma:contentTypeDescription="Create a new document." ma:contentTypeScope="" ma:versionID="1e0221c841386d464f7ce26a721a3b39">
  <xsd:schema xmlns:xsd="http://www.w3.org/2001/XMLSchema" xmlns:xs="http://www.w3.org/2001/XMLSchema" xmlns:p="http://schemas.microsoft.com/office/2006/metadata/properties" xmlns:ns3="d3559042-4f3b-4525-82fa-dfd0f5826bc4" xmlns:ns4="967f91c9-7b2e-4c57-ac85-dcd3b99563aa" targetNamespace="http://schemas.microsoft.com/office/2006/metadata/properties" ma:root="true" ma:fieldsID="845721d4a68cce1efaac825406e4d154" ns3:_="" ns4:_="">
    <xsd:import namespace="d3559042-4f3b-4525-82fa-dfd0f5826bc4"/>
    <xsd:import namespace="967f91c9-7b2e-4c57-ac85-dcd3b99563a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559042-4f3b-4525-82fa-dfd0f5826b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8" nillable="true" ma:displayName="Tags" ma:internalName="MediaServiceAutoTags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7f91c9-7b2e-4c57-ac85-dcd3b99563a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3559042-4f3b-4525-82fa-dfd0f5826bc4" xsi:nil="true"/>
  </documentManagement>
</p:properties>
</file>

<file path=customXml/itemProps1.xml><?xml version="1.0" encoding="utf-8"?>
<ds:datastoreItem xmlns:ds="http://schemas.openxmlformats.org/officeDocument/2006/customXml" ds:itemID="{4B54BACB-7095-4D81-BDD1-D039485E9A3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5E26580-2EC6-4DAF-B349-63179DDA8707}">
  <ds:schemaRefs>
    <ds:schemaRef ds:uri="967f91c9-7b2e-4c57-ac85-dcd3b99563aa"/>
    <ds:schemaRef ds:uri="d3559042-4f3b-4525-82fa-dfd0f5826bc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9626108-2DB2-4BAD-9324-EEE4C372261E}">
  <ds:schemaRefs>
    <ds:schemaRef ds:uri="967f91c9-7b2e-4c57-ac85-dcd3b99563aa"/>
    <ds:schemaRef ds:uri="d3559042-4f3b-4525-82fa-dfd0f5826bc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619</Words>
  <Application>Microsoft Office PowerPoint</Application>
  <PresentationFormat>On-screen Show (4:3)</PresentationFormat>
  <Paragraphs>175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Bebas Neue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Valuation of LLY</vt:lpstr>
      <vt:lpstr>Valuation of ABBV </vt:lpstr>
      <vt:lpstr>Valuation of JNJ</vt:lpstr>
      <vt:lpstr>Final Recommendation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Sharang Mantri</cp:lastModifiedBy>
  <cp:revision>51</cp:revision>
  <dcterms:modified xsi:type="dcterms:W3CDTF">2025-12-21T23:00:30Z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0x010100F79BD5F4B214B24087EB8478293137F1</vt:lpwstr>
  </property>
</Properties>
</file>